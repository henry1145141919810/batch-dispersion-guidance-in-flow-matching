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3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535055d47c46d5" /><Relationship Type="http://schemas.openxmlformats.org/officeDocument/2006/relationships/extended-properties" Target="/docProps/app.xml" Id="R2b758c507f094604" /><Relationship Type="http://schemas.openxmlformats.org/officeDocument/2006/relationships/officeDocument" Target="/ppt/presentation.xml" Id="R9264642f84bc4bf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b25e77e6e994706"/>
  </p:sldMasterIdLst>
  <p:notesMasterIdLst>
    <p:notesMasterId xmlns:r="http://schemas.openxmlformats.org/officeDocument/2006/relationships" r:id="R3fe1c53c85924cb1"/>
  </p:notesMasterIdLst>
  <p:sldIdLst>
    <p:sldId xmlns:r="http://schemas.openxmlformats.org/officeDocument/2006/relationships" id="256" r:id="R9e32e746f49a4a01"/>
    <p:sldId xmlns:r="http://schemas.openxmlformats.org/officeDocument/2006/relationships" id="257" r:id="Rbdf24f379c6d407a"/>
    <p:sldId xmlns:r="http://schemas.openxmlformats.org/officeDocument/2006/relationships" id="258" r:id="Rd5abe1bf855f4a3c"/>
    <p:sldId xmlns:r="http://schemas.openxmlformats.org/officeDocument/2006/relationships" id="259" r:id="Racaa5e4061924d77"/>
    <p:sldId xmlns:r="http://schemas.openxmlformats.org/officeDocument/2006/relationships" id="260" r:id="R1e85b11f9c3f4eb1"/>
    <p:sldId xmlns:r="http://schemas.openxmlformats.org/officeDocument/2006/relationships" id="261" r:id="Rfab1a009cb074c2e"/>
    <p:sldId xmlns:r="http://schemas.openxmlformats.org/officeDocument/2006/relationships" id="262" r:id="Ra93959c201ab4066"/>
    <p:sldId xmlns:r="http://schemas.openxmlformats.org/officeDocument/2006/relationships" id="263" r:id="R0a915ec00c6b4487"/>
    <p:sldId xmlns:r="http://schemas.openxmlformats.org/officeDocument/2006/relationships" id="264" r:id="R49ad3cd59a8e4e2e"/>
    <p:sldId xmlns:r="http://schemas.openxmlformats.org/officeDocument/2006/relationships" id="265" r:id="R84af3b12ae6b424c"/>
    <p:sldId xmlns:r="http://schemas.openxmlformats.org/officeDocument/2006/relationships" id="266" r:id="Re73007f828ae474d"/>
    <p:sldId xmlns:r="http://schemas.openxmlformats.org/officeDocument/2006/relationships" id="267" r:id="R238ed451e60f4aae"/>
    <p:sldId xmlns:r="http://schemas.openxmlformats.org/officeDocument/2006/relationships" id="268" r:id="R9f83e91eb1b84cc0"/>
    <p:sldId xmlns:r="http://schemas.openxmlformats.org/officeDocument/2006/relationships" id="269" r:id="R3e039824af1746d2"/>
    <p:sldId xmlns:r="http://schemas.openxmlformats.org/officeDocument/2006/relationships" id="270" r:id="R4bad8d1f0ce74e52"/>
    <p:sldId xmlns:r="http://schemas.openxmlformats.org/officeDocument/2006/relationships" id="271" r:id="R1e0f978168234fcf"/>
    <p:sldId xmlns:r="http://schemas.openxmlformats.org/officeDocument/2006/relationships" id="272" r:id="R30af99c7cf9a4c67"/>
    <p:sldId xmlns:r="http://schemas.openxmlformats.org/officeDocument/2006/relationships" id="273" r:id="R06a88773ccc04df3"/>
    <p:sldId xmlns:r="http://schemas.openxmlformats.org/officeDocument/2006/relationships" id="274" r:id="Ra3d9795af39145ee"/>
    <p:sldId xmlns:r="http://schemas.openxmlformats.org/officeDocument/2006/relationships" id="275" r:id="Rc45895c5eadb464d"/>
    <p:sldId xmlns:r="http://schemas.openxmlformats.org/officeDocument/2006/relationships" id="276" r:id="R743b495692744f8e"/>
    <p:sldId xmlns:r="http://schemas.openxmlformats.org/officeDocument/2006/relationships" id="277" r:id="Rb8e395561e0b40b0"/>
    <p:sldId xmlns:r="http://schemas.openxmlformats.org/officeDocument/2006/relationships" id="278" r:id="R14b2cfc391f24c49"/>
    <p:sldId xmlns:r="http://schemas.openxmlformats.org/officeDocument/2006/relationships" id="279" r:id="R05ab96ae9ba04416"/>
    <p:sldId xmlns:r="http://schemas.openxmlformats.org/officeDocument/2006/relationships" id="280" r:id="Rbe4264991b634e30"/>
    <p:sldId xmlns:r="http://schemas.openxmlformats.org/officeDocument/2006/relationships" id="281" r:id="Rc991834a2bd84b5f"/>
    <p:sldId xmlns:r="http://schemas.openxmlformats.org/officeDocument/2006/relationships" id="282" r:id="Radb738e5491d4516"/>
    <p:sldId xmlns:r="http://schemas.openxmlformats.org/officeDocument/2006/relationships" id="283" r:id="R868fa6bbf9d14acf"/>
    <p:sldId xmlns:r="http://schemas.openxmlformats.org/officeDocument/2006/relationships" id="284" r:id="Rb63da7f7c4a64688"/>
    <p:sldId xmlns:r="http://schemas.openxmlformats.org/officeDocument/2006/relationships" id="285" r:id="R9427bebeeb0a4dea"/>
    <p:sldId xmlns:r="http://schemas.openxmlformats.org/officeDocument/2006/relationships" id="286" r:id="Rba7c85d8ff6e41db"/>
    <p:sldId xmlns:r="http://schemas.openxmlformats.org/officeDocument/2006/relationships" id="287" r:id="R6851bce541f6458b"/>
    <p:sldId xmlns:r="http://schemas.openxmlformats.org/officeDocument/2006/relationships" id="288" r:id="R32b9eb1b6ca54eec"/>
    <p:sldId xmlns:r="http://schemas.openxmlformats.org/officeDocument/2006/relationships" id="289" r:id="Rc9edd8f30f37477f"/>
    <p:sldId xmlns:r="http://schemas.openxmlformats.org/officeDocument/2006/relationships" id="290" r:id="Rf0bbc0d8840d41ef"/>
    <p:sldId xmlns:r="http://schemas.openxmlformats.org/officeDocument/2006/relationships" id="291" r:id="R5d8bbcc38fef47bb"/>
    <p:sldId xmlns:r="http://schemas.openxmlformats.org/officeDocument/2006/relationships" id="292" r:id="R89ec1f7f23c04f32"/>
    <p:sldId xmlns:r="http://schemas.openxmlformats.org/officeDocument/2006/relationships" id="293" r:id="R24ff443b2ba84674"/>
    <p:sldId xmlns:r="http://schemas.openxmlformats.org/officeDocument/2006/relationships" id="294" r:id="Rb59f68735b21490a"/>
    <p:sldId xmlns:r="http://schemas.openxmlformats.org/officeDocument/2006/relationships" id="295" r:id="R156ef4d1e1ca4724"/>
    <p:sldId xmlns:r="http://schemas.openxmlformats.org/officeDocument/2006/relationships" id="296" r:id="Re533f700c96c46a7"/>
    <p:sldId xmlns:r="http://schemas.openxmlformats.org/officeDocument/2006/relationships" id="297" r:id="R63fdfd5f0182461e"/>
    <p:sldId xmlns:r="http://schemas.openxmlformats.org/officeDocument/2006/relationships" id="298" r:id="Rb18e8bcf25444128"/>
    <p:sldId xmlns:r="http://schemas.openxmlformats.org/officeDocument/2006/relationships" id="299" r:id="R111d2f5a607446d1"/>
    <p:sldId xmlns:r="http://schemas.openxmlformats.org/officeDocument/2006/relationships" id="300" r:id="R3525ea4546d64d8a"/>
    <p:sldId xmlns:r="http://schemas.openxmlformats.org/officeDocument/2006/relationships" id="301" r:id="Rdbfeea10ce7a4594"/>
    <p:sldId xmlns:r="http://schemas.openxmlformats.org/officeDocument/2006/relationships" id="302" r:id="R74e00128831f4b5c"/>
  </p:sldIdLst>
  <p:sldSz cx="12192000" cy="6858000"/>
  <p:notesSz cx="6858000" cy="9144000"/>
  <p:embeddedFontLst>
    <p:embeddedFont>
      <p:font typeface="IBM Plex Sans"/>
      <p:regular xmlns:r="http://schemas.openxmlformats.org/officeDocument/2006/relationships" r:id="Rc9c9369c18594e00"/>
      <p:bold xmlns:r="http://schemas.openxmlformats.org/officeDocument/2006/relationships" r:id="Rc9a5db6955654441"/>
      <p:italic xmlns:r="http://schemas.openxmlformats.org/officeDocument/2006/relationships" r:id="R48e61e2ccf38496f"/>
      <p:boldItalic xmlns:r="http://schemas.openxmlformats.org/officeDocument/2006/relationships" r:id="R2d2abd8c4fdd4f5c"/>
    </p:embeddedFont>
    <p:embeddedFont>
      <p:font typeface="Source Serif 4"/>
      <p:regular xmlns:r="http://schemas.openxmlformats.org/officeDocument/2006/relationships" r:id="Ra927de7f09f04b9e"/>
      <p:bold xmlns:r="http://schemas.openxmlformats.org/officeDocument/2006/relationships" r:id="R157234d9eeb74062"/>
      <p:italic xmlns:r="http://schemas.openxmlformats.org/officeDocument/2006/relationships" r:id="R1ece2c836c7c4c37"/>
      <p:boldItalic xmlns:r="http://schemas.openxmlformats.org/officeDocument/2006/relationships" r:id="R0f53329e7ab247f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AB13D057-85ED-43D6-BB4A-7C92B5BC83E1}">
  <a:tblStyle styleId="{AB13D057-85ED-43D6-BB4A-7C92B5BC83E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cc737cafbc4d49" /><Relationship Type="http://schemas.openxmlformats.org/officeDocument/2006/relationships/slideMaster" Target="/ppt/slideMasters/slideMaster1.xml" Id="Rfb25e77e6e994706" /><Relationship Type="http://schemas.openxmlformats.org/officeDocument/2006/relationships/notesMaster" Target="/ppt/notesMasters/notesMaster1.xml" Id="R3fe1c53c85924cb1" /><Relationship Type="http://schemas.openxmlformats.org/officeDocument/2006/relationships/presProps" Target="/ppt/presProps.xml" Id="R30bfe2b219354363" /><Relationship Type="http://schemas.openxmlformats.org/officeDocument/2006/relationships/tableStyles" Target="/ppt/tableStyles.xml" Id="R1bacd0aa291d40b8" /><Relationship Type="http://schemas.openxmlformats.org/officeDocument/2006/relationships/font" Target="/ppt/fonts/font.dat" Id="Rc9c9369c18594e00" /><Relationship Type="http://schemas.openxmlformats.org/officeDocument/2006/relationships/font" Target="/ppt/fonts/font2.dat" Id="Rc9a5db6955654441" /><Relationship Type="http://schemas.openxmlformats.org/officeDocument/2006/relationships/font" Target="/ppt/fonts/font3.dat" Id="R48e61e2ccf38496f" /><Relationship Type="http://schemas.openxmlformats.org/officeDocument/2006/relationships/font" Target="/ppt/fonts/font4.dat" Id="R2d2abd8c4fdd4f5c" /><Relationship Type="http://schemas.openxmlformats.org/officeDocument/2006/relationships/font" Target="/ppt/fonts/font5.dat" Id="Ra927de7f09f04b9e" /><Relationship Type="http://schemas.openxmlformats.org/officeDocument/2006/relationships/font" Target="/ppt/fonts/font6.dat" Id="R157234d9eeb74062" /><Relationship Type="http://schemas.openxmlformats.org/officeDocument/2006/relationships/font" Target="/ppt/fonts/font7.dat" Id="R1ece2c836c7c4c37" /><Relationship Type="http://schemas.openxmlformats.org/officeDocument/2006/relationships/font" Target="/ppt/fonts/font8.dat" Id="R0f53329e7ab247f6" /><Relationship Type="http://schemas.openxmlformats.org/officeDocument/2006/relationships/slide" Target="/ppt/slides/slide1.xml" Id="R9e32e746f49a4a01" /><Relationship Type="http://schemas.openxmlformats.org/officeDocument/2006/relationships/slide" Target="/ppt/slides/slide2.xml" Id="Rbdf24f379c6d407a" /><Relationship Type="http://schemas.openxmlformats.org/officeDocument/2006/relationships/slide" Target="/ppt/slides/slide3.xml" Id="Rd5abe1bf855f4a3c" /><Relationship Type="http://schemas.openxmlformats.org/officeDocument/2006/relationships/slide" Target="/ppt/slides/slide4.xml" Id="Racaa5e4061924d77" /><Relationship Type="http://schemas.openxmlformats.org/officeDocument/2006/relationships/slide" Target="/ppt/slides/slide5.xml" Id="R1e85b11f9c3f4eb1" /><Relationship Type="http://schemas.openxmlformats.org/officeDocument/2006/relationships/slide" Target="/ppt/slides/slide6.xml" Id="Rfab1a009cb074c2e" /><Relationship Type="http://schemas.openxmlformats.org/officeDocument/2006/relationships/slide" Target="/ppt/slides/slide7.xml" Id="Ra93959c201ab4066" /><Relationship Type="http://schemas.openxmlformats.org/officeDocument/2006/relationships/slide" Target="/ppt/slides/slide8.xml" Id="R0a915ec00c6b4487" /><Relationship Type="http://schemas.openxmlformats.org/officeDocument/2006/relationships/slide" Target="/ppt/slides/slide9.xml" Id="R49ad3cd59a8e4e2e" /><Relationship Type="http://schemas.openxmlformats.org/officeDocument/2006/relationships/slide" Target="/ppt/slides/slide10.xml" Id="R84af3b12ae6b424c" /><Relationship Type="http://schemas.openxmlformats.org/officeDocument/2006/relationships/slide" Target="/ppt/slides/slide11.xml" Id="Re73007f828ae474d" /><Relationship Type="http://schemas.openxmlformats.org/officeDocument/2006/relationships/slide" Target="/ppt/slides/slide12.xml" Id="R238ed451e60f4aae" /><Relationship Type="http://schemas.openxmlformats.org/officeDocument/2006/relationships/slide" Target="/ppt/slides/slide13.xml" Id="R9f83e91eb1b84cc0" /><Relationship Type="http://schemas.openxmlformats.org/officeDocument/2006/relationships/slide" Target="/ppt/slides/slide14.xml" Id="R3e039824af1746d2" /><Relationship Type="http://schemas.openxmlformats.org/officeDocument/2006/relationships/slide" Target="/ppt/slides/slide15.xml" Id="R4bad8d1f0ce74e52" /><Relationship Type="http://schemas.openxmlformats.org/officeDocument/2006/relationships/slide" Target="/ppt/slides/slide16.xml" Id="R1e0f978168234fcf" /><Relationship Type="http://schemas.openxmlformats.org/officeDocument/2006/relationships/slide" Target="/ppt/slides/slide17.xml" Id="R30af99c7cf9a4c67" /><Relationship Type="http://schemas.openxmlformats.org/officeDocument/2006/relationships/slide" Target="/ppt/slides/slide18.xml" Id="R06a88773ccc04df3" /><Relationship Type="http://schemas.openxmlformats.org/officeDocument/2006/relationships/slide" Target="/ppt/slides/slide19.xml" Id="Ra3d9795af39145ee" /><Relationship Type="http://schemas.openxmlformats.org/officeDocument/2006/relationships/slide" Target="/ppt/slides/slide20.xml" Id="Rc45895c5eadb464d" /><Relationship Type="http://schemas.openxmlformats.org/officeDocument/2006/relationships/slide" Target="/ppt/slides/slide21.xml" Id="R743b495692744f8e" /><Relationship Type="http://schemas.openxmlformats.org/officeDocument/2006/relationships/slide" Target="/ppt/slides/slide22.xml" Id="Rb8e395561e0b40b0" /><Relationship Type="http://schemas.openxmlformats.org/officeDocument/2006/relationships/slide" Target="/ppt/slides/slide23.xml" Id="R14b2cfc391f24c49" /><Relationship Type="http://schemas.openxmlformats.org/officeDocument/2006/relationships/slide" Target="/ppt/slides/slide24.xml" Id="R05ab96ae9ba04416" /><Relationship Type="http://schemas.openxmlformats.org/officeDocument/2006/relationships/slide" Target="/ppt/slides/slide25.xml" Id="Rbe4264991b634e30" /><Relationship Type="http://schemas.openxmlformats.org/officeDocument/2006/relationships/slide" Target="/ppt/slides/slide26.xml" Id="Rc991834a2bd84b5f" /><Relationship Type="http://schemas.openxmlformats.org/officeDocument/2006/relationships/slide" Target="/ppt/slides/slide27.xml" Id="Radb738e5491d4516" /><Relationship Type="http://schemas.openxmlformats.org/officeDocument/2006/relationships/slide" Target="/ppt/slides/slide28.xml" Id="R868fa6bbf9d14acf" /><Relationship Type="http://schemas.openxmlformats.org/officeDocument/2006/relationships/slide" Target="/ppt/slides/slide29.xml" Id="Rb63da7f7c4a64688" /><Relationship Type="http://schemas.openxmlformats.org/officeDocument/2006/relationships/slide" Target="/ppt/slides/slide30.xml" Id="R9427bebeeb0a4dea" /><Relationship Type="http://schemas.openxmlformats.org/officeDocument/2006/relationships/slide" Target="/ppt/slides/slide31.xml" Id="Rba7c85d8ff6e41db" /><Relationship Type="http://schemas.openxmlformats.org/officeDocument/2006/relationships/slide" Target="/ppt/slides/slide32.xml" Id="R6851bce541f6458b" /><Relationship Type="http://schemas.openxmlformats.org/officeDocument/2006/relationships/slide" Target="/ppt/slides/slide33.xml" Id="R32b9eb1b6ca54eec" /><Relationship Type="http://schemas.openxmlformats.org/officeDocument/2006/relationships/slide" Target="/ppt/slides/slide34.xml" Id="Rc9edd8f30f37477f" /><Relationship Type="http://schemas.openxmlformats.org/officeDocument/2006/relationships/slide" Target="/ppt/slides/slide35.xml" Id="Rf0bbc0d8840d41ef" /><Relationship Type="http://schemas.openxmlformats.org/officeDocument/2006/relationships/slide" Target="/ppt/slides/slide36.xml" Id="R5d8bbcc38fef47bb" /><Relationship Type="http://schemas.openxmlformats.org/officeDocument/2006/relationships/slide" Target="/ppt/slides/slide37.xml" Id="R89ec1f7f23c04f32" /><Relationship Type="http://schemas.openxmlformats.org/officeDocument/2006/relationships/slide" Target="/ppt/slides/slide38.xml" Id="R24ff443b2ba84674" /><Relationship Type="http://schemas.openxmlformats.org/officeDocument/2006/relationships/slide" Target="/ppt/slides/slide39.xml" Id="Rb59f68735b21490a" /><Relationship Type="http://schemas.openxmlformats.org/officeDocument/2006/relationships/slide" Target="/ppt/slides/slide40.xml" Id="R156ef4d1e1ca4724" /><Relationship Type="http://schemas.openxmlformats.org/officeDocument/2006/relationships/slide" Target="/ppt/slides/slide41.xml" Id="Re533f700c96c46a7" /><Relationship Type="http://schemas.openxmlformats.org/officeDocument/2006/relationships/slide" Target="/ppt/slides/slide42.xml" Id="R63fdfd5f0182461e" /><Relationship Type="http://schemas.openxmlformats.org/officeDocument/2006/relationships/slide" Target="/ppt/slides/slide43.xml" Id="Rb18e8bcf25444128" /><Relationship Type="http://schemas.openxmlformats.org/officeDocument/2006/relationships/slide" Target="/ppt/slides/slide44.xml" Id="R111d2f5a607446d1" /><Relationship Type="http://schemas.openxmlformats.org/officeDocument/2006/relationships/slide" Target="/ppt/slides/slide45.xml" Id="R3525ea4546d64d8a" /><Relationship Type="http://schemas.openxmlformats.org/officeDocument/2006/relationships/slide" Target="/ppt/slides/slide46.xml" Id="Rdbfeea10ce7a4594" /><Relationship Type="http://schemas.openxmlformats.org/officeDocument/2006/relationships/slide" Target="/ppt/slides/slide47.xml" Id="R74e00128831f4b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df75f24a1148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40729cc2c344ea" /><Relationship Type="http://schemas.openxmlformats.org/officeDocument/2006/relationships/notesMaster" Target="/ppt/notesMasters/notesMaster1.xml" Id="R8839bd50fe0d4d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cad05d10b84453" /><Relationship Type="http://schemas.openxmlformats.org/officeDocument/2006/relationships/notesMaster" Target="/ppt/notesMasters/notesMaster1.xml" Id="Rb46230e4133f49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a0d5f7ec344c26" /><Relationship Type="http://schemas.openxmlformats.org/officeDocument/2006/relationships/notesMaster" Target="/ppt/notesMasters/notesMaster1.xml" Id="Rd9a96d376b2649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d46268a4914f14" /><Relationship Type="http://schemas.openxmlformats.org/officeDocument/2006/relationships/notesMaster" Target="/ppt/notesMasters/notesMaster1.xml" Id="Rc853783534664c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1a0e2f51b84b1e" /><Relationship Type="http://schemas.openxmlformats.org/officeDocument/2006/relationships/notesMaster" Target="/ppt/notesMasters/notesMaster1.xml" Id="Rd3b571a49e1644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2a71f4a98e45ca" /><Relationship Type="http://schemas.openxmlformats.org/officeDocument/2006/relationships/notesMaster" Target="/ppt/notesMasters/notesMaster1.xml" Id="Rb60e76fb6a1946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ace8fffc9d4da4" /><Relationship Type="http://schemas.openxmlformats.org/officeDocument/2006/relationships/notesMaster" Target="/ppt/notesMasters/notesMaster1.xml" Id="R4d0fb97454b147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abefc39f1a4ea6" /><Relationship Type="http://schemas.openxmlformats.org/officeDocument/2006/relationships/notesMaster" Target="/ppt/notesMasters/notesMaster1.xml" Id="R77377c111ebd40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d4dfbfccdc4b95" /><Relationship Type="http://schemas.openxmlformats.org/officeDocument/2006/relationships/notesMaster" Target="/ppt/notesMasters/notesMaster1.xml" Id="R6aea42e6bb9846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62f6b784af451b" /><Relationship Type="http://schemas.openxmlformats.org/officeDocument/2006/relationships/notesMaster" Target="/ppt/notesMasters/notesMaster1.xml" Id="R4b8a279956d744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a01093b1904c2c" /><Relationship Type="http://schemas.openxmlformats.org/officeDocument/2006/relationships/notesMaster" Target="/ppt/notesMasters/notesMaster1.xml" Id="R3e9a7315217841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68311511c748cd" /><Relationship Type="http://schemas.openxmlformats.org/officeDocument/2006/relationships/notesMaster" Target="/ppt/notesMasters/notesMaster1.xml" Id="R51d568ab624f4f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c0899c895a475e" /><Relationship Type="http://schemas.openxmlformats.org/officeDocument/2006/relationships/notesMaster" Target="/ppt/notesMasters/notesMaster1.xml" Id="Re89bbce068db4f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414299d9304eb8" /><Relationship Type="http://schemas.openxmlformats.org/officeDocument/2006/relationships/notesMaster" Target="/ppt/notesMasters/notesMaster1.xml" Id="Rd8f1c22221c848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41d3fd35612444b" /><Relationship Type="http://schemas.openxmlformats.org/officeDocument/2006/relationships/notesMaster" Target="/ppt/notesMasters/notesMaster1.xml" Id="R971ce5ec8b3f467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1f2f7cf16544f92" /><Relationship Type="http://schemas.openxmlformats.org/officeDocument/2006/relationships/notesMaster" Target="/ppt/notesMasters/notesMaster1.xml" Id="R8f3bca54071c4a9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f590515b2c14e72" /><Relationship Type="http://schemas.openxmlformats.org/officeDocument/2006/relationships/notesMaster" Target="/ppt/notesMasters/notesMaster1.xml" Id="R50e93d3739d145e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5c8720d072440c6" /><Relationship Type="http://schemas.openxmlformats.org/officeDocument/2006/relationships/notesMaster" Target="/ppt/notesMasters/notesMaster1.xml" Id="R3aeb9ad03abd414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6b099e48ff04b2a" /><Relationship Type="http://schemas.openxmlformats.org/officeDocument/2006/relationships/notesMaster" Target="/ppt/notesMasters/notesMaster1.xml" Id="R334de9fa237c4b7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0ec13a988b4416f" /><Relationship Type="http://schemas.openxmlformats.org/officeDocument/2006/relationships/notesMaster" Target="/ppt/notesMasters/notesMaster1.xml" Id="R26ece062425e4d3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9601c972d7b40bc" /><Relationship Type="http://schemas.openxmlformats.org/officeDocument/2006/relationships/notesMaster" Target="/ppt/notesMasters/notesMaster1.xml" Id="R5634853f353f411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91bf8758ffa474e" /><Relationship Type="http://schemas.openxmlformats.org/officeDocument/2006/relationships/notesMaster" Target="/ppt/notesMasters/notesMaster1.xml" Id="R9a8461fc34764b5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d32f21adae64250" /><Relationship Type="http://schemas.openxmlformats.org/officeDocument/2006/relationships/notesMaster" Target="/ppt/notesMasters/notesMaster1.xml" Id="R0285b1b512984d3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cb2e286d6cf4b04" /><Relationship Type="http://schemas.openxmlformats.org/officeDocument/2006/relationships/notesMaster" Target="/ppt/notesMasters/notesMaster1.xml" Id="R86cb434920d04d1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5403c60bb2749a6" /><Relationship Type="http://schemas.openxmlformats.org/officeDocument/2006/relationships/notesMaster" Target="/ppt/notesMasters/notesMaster1.xml" Id="R1172985f82a44df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4e53034fcec4c4d" /><Relationship Type="http://schemas.openxmlformats.org/officeDocument/2006/relationships/notesMaster" Target="/ppt/notesMasters/notesMaster1.xml" Id="R25534cb668b04e3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c464c98808a4a5a" /><Relationship Type="http://schemas.openxmlformats.org/officeDocument/2006/relationships/notesMaster" Target="/ppt/notesMasters/notesMaster1.xml" Id="R8316ce78bdc24eb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e0d0ac08cb047d9" /><Relationship Type="http://schemas.openxmlformats.org/officeDocument/2006/relationships/notesMaster" Target="/ppt/notesMasters/notesMaster1.xml" Id="R9bc89534ff254c8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36e751b1ef54d2b" /><Relationship Type="http://schemas.openxmlformats.org/officeDocument/2006/relationships/notesMaster" Target="/ppt/notesMasters/notesMaster1.xml" Id="R9fc7c37ade7b46a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b2ba13a3bb54fdc" /><Relationship Type="http://schemas.openxmlformats.org/officeDocument/2006/relationships/notesMaster" Target="/ppt/notesMasters/notesMaster1.xml" Id="Rcf466e4d473f48a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d8303b5058f46e1" /><Relationship Type="http://schemas.openxmlformats.org/officeDocument/2006/relationships/notesMaster" Target="/ppt/notesMasters/notesMaster1.xml" Id="Raf62efc0f9fb4dd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40eeb8a7c8e46f4" /><Relationship Type="http://schemas.openxmlformats.org/officeDocument/2006/relationships/notesMaster" Target="/ppt/notesMasters/notesMaster1.xml" Id="R076e6f1d1dfe4b0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4ebfd90520d4181" /><Relationship Type="http://schemas.openxmlformats.org/officeDocument/2006/relationships/notesMaster" Target="/ppt/notesMasters/notesMaster1.xml" Id="Rc44e65c4adc2451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07f1705a5b94b31" /><Relationship Type="http://schemas.openxmlformats.org/officeDocument/2006/relationships/notesMaster" Target="/ppt/notesMasters/notesMaster1.xml" Id="R32868b7c2abe4e2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cddb3a0e5644fe1" /><Relationship Type="http://schemas.openxmlformats.org/officeDocument/2006/relationships/notesMaster" Target="/ppt/notesMasters/notesMaster1.xml" Id="R397183c0f82b413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7959c43d15f4a6d" /><Relationship Type="http://schemas.openxmlformats.org/officeDocument/2006/relationships/notesMaster" Target="/ppt/notesMasters/notesMaster1.xml" Id="R8dc32bfd005041b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a3179777aa449bd" /><Relationship Type="http://schemas.openxmlformats.org/officeDocument/2006/relationships/notesMaster" Target="/ppt/notesMasters/notesMaster1.xml" Id="R0d21bbedb789418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a5a2ca61f5343cf" /><Relationship Type="http://schemas.openxmlformats.org/officeDocument/2006/relationships/notesMaster" Target="/ppt/notesMasters/notesMaster1.xml" Id="R3464dbe25586442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f4a41dc3ed24cab" /><Relationship Type="http://schemas.openxmlformats.org/officeDocument/2006/relationships/notesMaster" Target="/ppt/notesMasters/notesMaster1.xml" Id="Rea8835d10768434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402a67325664330" /><Relationship Type="http://schemas.openxmlformats.org/officeDocument/2006/relationships/notesMaster" Target="/ppt/notesMasters/notesMaster1.xml" Id="R174ff687f5c7451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b3c1566795b45b7" /><Relationship Type="http://schemas.openxmlformats.org/officeDocument/2006/relationships/notesMaster" Target="/ppt/notesMasters/notesMaster1.xml" Id="Rab558e9f58404c6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206f0577c9b45b5" /><Relationship Type="http://schemas.openxmlformats.org/officeDocument/2006/relationships/notesMaster" Target="/ppt/notesMasters/notesMaster1.xml" Id="Rb81e4d8ef05b4f5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505be4835664ad1" /><Relationship Type="http://schemas.openxmlformats.org/officeDocument/2006/relationships/notesMaster" Target="/ppt/notesMasters/notesMaster1.xml" Id="R69014c9f31a246d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7f575e0d3b347b0" /><Relationship Type="http://schemas.openxmlformats.org/officeDocument/2006/relationships/notesMaster" Target="/ppt/notesMasters/notesMaster1.xml" Id="R6862f25ed3c44f6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de7434919c04c1a" /><Relationship Type="http://schemas.openxmlformats.org/officeDocument/2006/relationships/notesMaster" Target="/ppt/notesMasters/notesMaster1.xml" Id="R3cf530d539e946e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57c58ff906644d3" /><Relationship Type="http://schemas.openxmlformats.org/officeDocument/2006/relationships/notesMaster" Target="/ppt/notesMasters/notesMaster1.xml" Id="Rb445a07fc73c4c5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36a6ab89ce74d38" /><Relationship Type="http://schemas.openxmlformats.org/officeDocument/2006/relationships/notesMaster" Target="/ppt/notesMasters/notesMaster1.xml" Id="R8df6681954d44d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[1] Ramakrishnan et al. 2014 (QM9) · [4] Stark et al. 2024 (DeepFlyBrain)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[1] Ramakrishnan et al. 2014 · [2] Hoogeboom et al. 2022 · [4] Stark et al. 2024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[2] Hoogeboom et al. 2022 (stability) · [4] Stark et al. 2024 (DNA) · [9] Satorras et al. 2021 (EGNN)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[6] Lipman et al. 2022 · [7] Liu et al. 2022 · [8] Albergo et al. 2025 · implementation: train_fm.py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[6] Lipman et al. 2022 (FM) · [9] Satorras et al. 2021 (EGNN) · recorded training/checkpoint metadata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[9] Satorras et al. 2021 · [10] Song et al. 2021 · checkpoint and 18 benchmark cells measured in this work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Registered QM9 protocol · transfer_sweep.py:2382–2426 · verified data/qm9.pt validation masks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protocol and checkpoint metadata (this work) · [9] Satorras et al. 2021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[2] Hoogeboom et al. 2022 · [24] Song et al. 2023 (EquiFM) · [15] Ye et al. 2024 (EDMsecond release)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[12] Chung et al. 2023 (DPS-style adaptation) · original implemented Gaussian-energy guidance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[12] Chung et al. 2023 · results/v3/{fm,vp}/v3/n2000, audited in paper v8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[12] Chung 2023 · [15] Ye 2024 · [22] Boys 2024 · [23] Song 2023 · related batch/moment work [16–21]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formulation and algebra (paper v8) · reduction checks in proj1/tests/test_bdg.py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measurements · results/v3/{fm,equifm}/v3abl/n2000 · pooled decoded property SD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Paper v8 Table 2 · results/v3/fm/v3abl/n2000 · full FM and EquiFM grids in appendix A8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analysis · paper v8 Tables 2, S4–S5 and full 612-cell molecular ablation grid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[12] Chung 2023 (DPS) · [22] Boys 2024 (TMPD) · [23] Song 2023 (LGD-MC) · [15] Ye 2024 (TFG)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[12] Chung et al. 2023 · [22] Boys et al. 2024 · [23] Song et al. 2023 · [15] Ye et al. 2024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[4] Stark et al. 2024 (DeepFlyBrain / Dirichlet FM) · proj1/m2/simplex_fm.py · original BDG transfer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[12] DPS · [22] TMPD · [23] LGD-MC · [15] TFG · all rows measured on our frozen DNA generator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decoded contrasts, paper v8 · bars show mean differences · paired seed SD reported alongside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diagnostics · paper v8 · results/v3 and results/m2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conclusions from two flow backbones and two modalities (paper v8)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[24] Song et al. 2023 (EquiFM) · [2] Hoogeboom et al. 2022 · released checkpoint audit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[24] Song et al. 2023 · [15] Ye et al. 2024 · transfer_sweep.py EquiFM backend and calibration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https://proceedings.mlr.press/v139/satorras21a.html (EGNN original paper). Our implementation: proj1/src/models/egnn.py.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[9] Satorras et al. 2021 · proj1/src/models/egnn.py:58–106 (our masked implementation)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[9] Satorras et al. 2021 · egnn.py: EGNNVelocity and EGNNScalar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[9] Satorras et al. 2021 · predictor training and calibration audit · [15] Ye et al. 2024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QM9 split seed 20260917 · transfer_sweep.py:2382–2426 · first 2,000 validation masks in data/qm9.pt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[12] Chung et al. 2023 · [22] Boys et al. 2024 · [23] Song et al. 2023 · [15] Ye et al. 2024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Recorded cost fields · our FM, μ, w = 1, 2,000-molecule cell · paper v8 cost table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algorithm · proj1/src/guidance.py and proj1/tests/test_bdg.py · η = 0 verified on our FM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[4] Stark et al. 2024 · our implementation: proj1/m2/simplex_fm.py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DNA protocol · paper v8 Appendix: Sequence Transfer and Failure Diagnostics · results/m2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evaluation.py:73–95 · [2] Hoogeboom et al. 2022 (EDM bond-length tables, picometres)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evaluation.py: atom stability, to_smiles and evaluate_molecules · [2] Hoogeboom et al. 2022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306-cell fm ablation grid · all values decoded · paper v8 appendix tables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306-cell equifm ablation grid · all values decoded · paper v8 appendix tables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All four guidance adaptations on our DNA backbone · same evaluator and decoding as the w = 4 main table</a:t>
            </a:r>
          </a:p>
          <a:p xmlns:a="http://schemas.openxmlformats.org/drawingml/2006/main">
            <a:r>
              <a:t>Local evidence: paper/main.tex (v8), paper/results_manifest_v8.json;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7d166174704778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6395f55fd4432e" /><Relationship Type="http://schemas.openxmlformats.org/officeDocument/2006/relationships/slideLayout" Target="/ppt/slideLayouts/slideLayout1.xml" Id="R92058e32f3d04c0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058e32f3d04c0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57a98f3c14d14" /><Relationship Type="http://schemas.openxmlformats.org/officeDocument/2006/relationships/notesSlide" Target="/ppt/notesSlides/notesSlide1.xml" Id="Rf545a2231f4a46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0daa711e24441" /><Relationship Type="http://schemas.openxmlformats.org/officeDocument/2006/relationships/notesSlide" Target="/ppt/notesSlides/notesSlide2.xml" Id="Rd95890ae53174e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0c45c678d4c34" /><Relationship Type="http://schemas.openxmlformats.org/officeDocument/2006/relationships/notesSlide" Target="/ppt/notesSlides/notesSlide3.xml" Id="R470db46250674b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9f0668f424d91" /><Relationship Type="http://schemas.openxmlformats.org/officeDocument/2006/relationships/notesSlide" Target="/ppt/notesSlides/notesSlide4.xml" Id="Ra6064255a74a4a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c39048838441d" /><Relationship Type="http://schemas.openxmlformats.org/officeDocument/2006/relationships/notesSlide" Target="/ppt/notesSlides/notesSlide5.xml" Id="R0d1e65810d8949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d44e2c69f4da0" /><Relationship Type="http://schemas.openxmlformats.org/officeDocument/2006/relationships/notesSlide" Target="/ppt/notesSlides/notesSlide6.xml" Id="Rfa1da046edc441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243bd2e544ec5" /><Relationship Type="http://schemas.openxmlformats.org/officeDocument/2006/relationships/image" Target="/ppt/media/image.png" Id="R78d50398c9b94818" /><Relationship Type="http://schemas.openxmlformats.org/officeDocument/2006/relationships/image" Target="/ppt/media/image2.png" Id="R750c1d22134b4e25" /><Relationship Type="http://schemas.openxmlformats.org/officeDocument/2006/relationships/image" Target="/ppt/media/image3.png" Id="R05ce1ece95754f5e" /><Relationship Type="http://schemas.openxmlformats.org/officeDocument/2006/relationships/image" Target="/ppt/media/image4.png" Id="R1af45f64a8764e2c" /><Relationship Type="http://schemas.openxmlformats.org/officeDocument/2006/relationships/image" Target="/ppt/media/image5.png" Id="R8d1ee975027a44ed" /><Relationship Type="http://schemas.openxmlformats.org/officeDocument/2006/relationships/notesSlide" Target="/ppt/notesSlides/notesSlide7.xml" Id="Rde8034d3e19343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97a4eb2764cfe" /><Relationship Type="http://schemas.openxmlformats.org/officeDocument/2006/relationships/notesSlide" Target="/ppt/notesSlides/notesSlide8.xml" Id="Racc8932ecedc4e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047ab66a74118" /><Relationship Type="http://schemas.openxmlformats.org/officeDocument/2006/relationships/notesSlide" Target="/ppt/notesSlides/notesSlide9.xml" Id="R4127a21984b047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2e95a395a4364" /><Relationship Type="http://schemas.openxmlformats.org/officeDocument/2006/relationships/notesSlide" Target="/ppt/notesSlides/notesSlide10.xml" Id="R078c3c8016c34c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8b06754b6458b" /><Relationship Type="http://schemas.openxmlformats.org/officeDocument/2006/relationships/image" Target="/ppt/media/image6.png" Id="Rc139e0ac27c64cd9" /><Relationship Type="http://schemas.openxmlformats.org/officeDocument/2006/relationships/notesSlide" Target="/ppt/notesSlides/notesSlide11.xml" Id="Rc525dbd927e748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163edfec44f2e" /><Relationship Type="http://schemas.openxmlformats.org/officeDocument/2006/relationships/notesSlide" Target="/ppt/notesSlides/notesSlide12.xml" Id="R89c070e2bf9b47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dad424fc24f8e" /><Relationship Type="http://schemas.openxmlformats.org/officeDocument/2006/relationships/notesSlide" Target="/ppt/notesSlides/notesSlide13.xml" Id="Rc1d174a0a8f641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e35098f1c4d16" /><Relationship Type="http://schemas.openxmlformats.org/officeDocument/2006/relationships/notesSlide" Target="/ppt/notesSlides/notesSlide14.xml" Id="R1aed0b470f9f45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01fd20a9c4128" /><Relationship Type="http://schemas.openxmlformats.org/officeDocument/2006/relationships/notesSlide" Target="/ppt/notesSlides/notesSlide15.xml" Id="R2e37749cb77f42a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0efb53e9d485c" /><Relationship Type="http://schemas.openxmlformats.org/officeDocument/2006/relationships/image" Target="/ppt/media/image7.png" Id="R83d493817e54485a" /><Relationship Type="http://schemas.openxmlformats.org/officeDocument/2006/relationships/notesSlide" Target="/ppt/notesSlides/notesSlide16.xml" Id="Ra0e5244f7239484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c2b91f7a9486c" /><Relationship Type="http://schemas.openxmlformats.org/officeDocument/2006/relationships/notesSlide" Target="/ppt/notesSlides/notesSlide17.xml" Id="R4febb66e1b3043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278e31b264173" /><Relationship Type="http://schemas.openxmlformats.org/officeDocument/2006/relationships/chart" Target="/ppt/slides/charts/chart1.xml" Id="R3d7a7bb5ceae4e09" /><Relationship Type="http://schemas.openxmlformats.org/officeDocument/2006/relationships/chart" Target="/ppt/slides/charts/chart2.xml" Id="R3fc7b7b1d4e34b3c" /><Relationship Type="http://schemas.openxmlformats.org/officeDocument/2006/relationships/notesSlide" Target="/ppt/notesSlides/notesSlide18.xml" Id="R5dac41860dbf463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f1620a9584d2f" /><Relationship Type="http://schemas.openxmlformats.org/officeDocument/2006/relationships/notesSlide" Target="/ppt/notesSlides/notesSlide19.xml" Id="R974144441537402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af8048d114955" /><Relationship Type="http://schemas.openxmlformats.org/officeDocument/2006/relationships/notesSlide" Target="/ppt/notesSlides/notesSlide20.xml" Id="Re7531ecd757d45c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2ce81fa964982" /><Relationship Type="http://schemas.openxmlformats.org/officeDocument/2006/relationships/notesSlide" Target="/ppt/notesSlides/notesSlide21.xml" Id="R2254e16ab8784ef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f8431ec254280" /><Relationship Type="http://schemas.openxmlformats.org/officeDocument/2006/relationships/notesSlide" Target="/ppt/notesSlides/notesSlide22.xml" Id="R0ef2fc6c27b748f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172b71af94e05" /><Relationship Type="http://schemas.openxmlformats.org/officeDocument/2006/relationships/notesSlide" Target="/ppt/notesSlides/notesSlide23.xml" Id="R6c5ad7b0380a432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9b7056410471e" /><Relationship Type="http://schemas.openxmlformats.org/officeDocument/2006/relationships/notesSlide" Target="/ppt/notesSlides/notesSlide24.xml" Id="R3cf75e38458b412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1f7a9de5946a3" /><Relationship Type="http://schemas.openxmlformats.org/officeDocument/2006/relationships/chart" Target="/ppt/slides/charts/chart3.xml" Id="Rf4beecaf011347de" /><Relationship Type="http://schemas.openxmlformats.org/officeDocument/2006/relationships/notesSlide" Target="/ppt/notesSlides/notesSlide25.xml" Id="R900736559043481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b31d6f02443f0" /><Relationship Type="http://schemas.openxmlformats.org/officeDocument/2006/relationships/notesSlide" Target="/ppt/notesSlides/notesSlide26.xml" Id="R96ca6cb0b682436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b788a870d4341" /><Relationship Type="http://schemas.openxmlformats.org/officeDocument/2006/relationships/notesSlide" Target="/ppt/notesSlides/notesSlide27.xml" Id="R97796dd7d11d463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b29d6e75045a8" /><Relationship Type="http://schemas.openxmlformats.org/officeDocument/2006/relationships/notesSlide" Target="/ppt/notesSlides/notesSlide28.xml" Id="R5ee20c366dad413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b2e0d95bb4b66" /><Relationship Type="http://schemas.openxmlformats.org/officeDocument/2006/relationships/notesSlide" Target="/ppt/notesSlides/notesSlide29.xml" Id="R01401b15468d4d8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46748c5f9418e" /><Relationship Type="http://schemas.openxmlformats.org/officeDocument/2006/relationships/notesSlide" Target="/ppt/notesSlides/notesSlide30.xml" Id="Rb60d6d42f1ce43a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163a0182c46e4" /><Relationship Type="http://schemas.openxmlformats.org/officeDocument/2006/relationships/notesSlide" Target="/ppt/notesSlides/notesSlide31.xml" Id="R12ddcb0f2b3946a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10409dcb8487a" /><Relationship Type="http://schemas.openxmlformats.org/officeDocument/2006/relationships/notesSlide" Target="/ppt/notesSlides/notesSlide32.xml" Id="R9835c457772c4d3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1e53f404848be" /><Relationship Type="http://schemas.openxmlformats.org/officeDocument/2006/relationships/notesSlide" Target="/ppt/notesSlides/notesSlide33.xml" Id="R67e0a6f6091840f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457fd825647bf" /><Relationship Type="http://schemas.openxmlformats.org/officeDocument/2006/relationships/notesSlide" Target="/ppt/notesSlides/notesSlide34.xml" Id="R8ebf66f8365642a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161ae832c44f8" /><Relationship Type="http://schemas.openxmlformats.org/officeDocument/2006/relationships/notesSlide" Target="/ppt/notesSlides/notesSlide35.xml" Id="R7ea30f17bccb4cd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d7ac5402a455e" /><Relationship Type="http://schemas.openxmlformats.org/officeDocument/2006/relationships/notesSlide" Target="/ppt/notesSlides/notesSlide36.xml" Id="R589b693a9e7e44f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d81a069884b7f" /><Relationship Type="http://schemas.openxmlformats.org/officeDocument/2006/relationships/notesSlide" Target="/ppt/notesSlides/notesSlide37.xml" Id="R5f63ad9e6c3a49e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cfc6786b64a95" /><Relationship Type="http://schemas.openxmlformats.org/officeDocument/2006/relationships/notesSlide" Target="/ppt/notesSlides/notesSlide38.xml" Id="R2c326c85bc684de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3c05d7e744ac1" /><Relationship Type="http://schemas.openxmlformats.org/officeDocument/2006/relationships/notesSlide" Target="/ppt/notesSlides/notesSlide39.xml" Id="R2f258f3749de440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911b669b74fcb" /><Relationship Type="http://schemas.openxmlformats.org/officeDocument/2006/relationships/notesSlide" Target="/ppt/notesSlides/notesSlide40.xml" Id="R50eb0ef0a47948f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26e22988b419d" /><Relationship Type="http://schemas.openxmlformats.org/officeDocument/2006/relationships/notesSlide" Target="/ppt/notesSlides/notesSlide41.xml" Id="Rd6bd2be7f6b14ba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d6182ca714e5b" /><Relationship Type="http://schemas.openxmlformats.org/officeDocument/2006/relationships/notesSlide" Target="/ppt/notesSlides/notesSlide42.xml" Id="Rb17be88ffaaf498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76ee2ff604deb" /><Relationship Type="http://schemas.openxmlformats.org/officeDocument/2006/relationships/notesSlide" Target="/ppt/notesSlides/notesSlide43.xml" Id="Rb9c76fe01246412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e7524d2f84e1f" /><Relationship Type="http://schemas.openxmlformats.org/officeDocument/2006/relationships/notesSlide" Target="/ppt/notesSlides/notesSlide44.xml" Id="Re21721415f3a4b0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3a785c8f84298" /><Relationship Type="http://schemas.openxmlformats.org/officeDocument/2006/relationships/notesSlide" Target="/ppt/notesSlides/notesSlide45.xml" Id="R6ac652d57dc74f9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8065c34e2452c" /><Relationship Type="http://schemas.openxmlformats.org/officeDocument/2006/relationships/notesSlide" Target="/ppt/notesSlides/notesSlide46.xml" Id="Ra5c5743fd5d7497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29018d04646a4" /><Relationship Type="http://schemas.openxmlformats.org/officeDocument/2006/relationships/notesSlide" Target="/ppt/notesSlides/notesSlide47.xml" Id="R8c452a91770f429c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latin typeface="IBM Plex Sans"/>
                <a:ea typeface="IBM Plex Sans"/>
                <a:cs typeface="IBM Plex Sans"/>
              </a:rPr>
              <a:t>Our FM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latin typeface="IBM Plex Sans"/>
              <a:ea typeface="IBM Plex Sans"/>
              <a:cs typeface="IBM Plex Sans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μ</c:v>
          </c:tx>
          <c:spPr>
            <a:solidFill xmlns:a="http://schemas.openxmlformats.org/drawingml/2006/main">
              <a:srgbClr val="215FA9"/>
            </a:solidFill>
            <a:ln xmlns:a="http://schemas.openxmlformats.org/drawingml/2006/main" w="23813">
              <a:solidFill>
                <a:srgbClr val="215FA9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15FA9"/>
              </a:solidFill>
            </c:spPr>
          </c:marker>
          <c:xVal>
            <c:numLit>
              <c:formatCode>General</c:formatCode>
              <c:ptCount val="4"/>
              <c:pt idx="0">
                <c:v>0.5</c:v>
              </c:pt>
              <c:pt idx="1">
                <c:v>0.75</c:v>
              </c:pt>
              <c:pt idx="2">
                <c:v>1</c:v>
              </c:pt>
              <c:pt idx="3">
                <c:v>1.5</c:v>
              </c:pt>
            </c:numLit>
          </c:xVal>
          <c:yVal>
            <c:numLit>
              <c:formatCode>0.0</c:formatCode>
              <c:ptCount val="4"/>
              <c:pt idx="0">
                <c:v>0.6839060050614126</c:v>
              </c:pt>
              <c:pt idx="1">
                <c:v>0.8128560180435346</c:v>
              </c:pt>
              <c:pt idx="2">
                <c:v>0.9431743124547104</c:v>
              </c:pt>
              <c:pt idx="3">
                <c:v>1.235852377256466</c:v>
              </c:pt>
            </c:numLit>
          </c:yVal>
        </c:ser>
        <c:ser>
          <c:idx val="1"/>
          <c:order val="1"/>
          <c:tx>
            <c:v>α</c:v>
          </c:tx>
          <c:spPr>
            <a:solidFill xmlns:a="http://schemas.openxmlformats.org/drawingml/2006/main">
              <a:srgbClr val="AC600D"/>
            </a:solidFill>
            <a:ln xmlns:a="http://schemas.openxmlformats.org/drawingml/2006/main" w="23813">
              <a:solidFill>
                <a:srgbClr val="AC600D"/>
              </a:solidFill>
            </a:ln>
          </c:spPr>
          <c:marker>
            <c:symbol val="square"/>
            <c:size val="7"/>
            <c:spPr>
              <a:solidFill xmlns:a="http://schemas.openxmlformats.org/drawingml/2006/main">
                <a:srgbClr val="AC600D"/>
              </a:solidFill>
            </c:spPr>
          </c:marker>
          <c:xVal>
            <c:numLit>
              <c:formatCode>General</c:formatCode>
              <c:ptCount val="4"/>
              <c:pt idx="0">
                <c:v>0.5</c:v>
              </c:pt>
              <c:pt idx="1">
                <c:v>0.75</c:v>
              </c:pt>
              <c:pt idx="2">
                <c:v>1</c:v>
              </c:pt>
              <c:pt idx="3">
                <c:v>1.5</c:v>
              </c:pt>
            </c:numLit>
          </c:xVal>
          <c:yVal>
            <c:numLit>
              <c:formatCode>0.0</c:formatCode>
              <c:ptCount val="4"/>
              <c:pt idx="0">
                <c:v>0.6722677348107483</c:v>
              </c:pt>
              <c:pt idx="1">
                <c:v>0.8018797848692661</c:v>
              </c:pt>
              <c:pt idx="2">
                <c:v>0.9530023582273582</c:v>
              </c:pt>
              <c:pt idx="3">
                <c:v>1.167878913472397</c:v>
              </c:pt>
            </c:numLit>
          </c:yVal>
        </c:ser>
        <c:ser>
          <c:idx val="2"/>
          <c:order val="2"/>
          <c:tx>
            <c:v>gap</c:v>
          </c:tx>
          <c:spPr>
            <a:solidFill xmlns:a="http://schemas.openxmlformats.org/drawingml/2006/main">
              <a:srgbClr val="27745E"/>
            </a:solidFill>
            <a:ln xmlns:a="http://schemas.openxmlformats.org/drawingml/2006/main" w="23813">
              <a:solidFill>
                <a:srgbClr val="27745E"/>
              </a:solidFill>
            </a:ln>
          </c:spPr>
          <c:marker>
            <c:symbol val="triangle"/>
            <c:size val="7"/>
            <c:spPr>
              <a:solidFill xmlns:a="http://schemas.openxmlformats.org/drawingml/2006/main">
                <a:srgbClr val="27745E"/>
              </a:solidFill>
            </c:spPr>
          </c:marker>
          <c:xVal>
            <c:numLit>
              <c:formatCode>General</c:formatCode>
              <c:ptCount val="4"/>
              <c:pt idx="0">
                <c:v>0.5</c:v>
              </c:pt>
              <c:pt idx="1">
                <c:v>0.75</c:v>
              </c:pt>
              <c:pt idx="2">
                <c:v>1</c:v>
              </c:pt>
              <c:pt idx="3">
                <c:v>1.5</c:v>
              </c:pt>
            </c:numLit>
          </c:xVal>
          <c:yVal>
            <c:numLit>
              <c:formatCode>0.0</c:formatCode>
              <c:ptCount val="4"/>
              <c:pt idx="0">
                <c:v>0.7586505327876238</c:v>
              </c:pt>
              <c:pt idx="1">
                <c:v>0.8795634799876939</c:v>
              </c:pt>
              <c:pt idx="2">
                <c:v>0.9892819177943327</c:v>
              </c:pt>
              <c:pt idx="3">
                <c:v>1.1469565098115357</c:v>
              </c:pt>
            </c:numLit>
          </c:yVal>
        </c:ser>
        <c:ser>
          <c:idx val="3"/>
          <c:order val="3"/>
          <c:tx>
            <c:v>Unguided</c:v>
          </c:tx>
          <c:spPr>
            <a:ln xmlns:a="http://schemas.openxmlformats.org/drawingml/2006/main" w="12383">
              <a:solidFill>
                <a:srgbClr val="8B929A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0.5</c:v>
              </c:pt>
              <c:pt idx="1">
                <c:v>1.5</c:v>
              </c:pt>
            </c:numLit>
          </c:xVal>
          <c:yVal>
            <c:numLit>
              <c:formatCode>0.0</c:formatCode>
              <c:ptCount val="2"/>
              <c:pt idx="0">
                <c:v>1</c:v>
              </c:pt>
              <c:pt idx="1">
                <c:v>1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4"/>
          <c:min val="0.6"/>
        </c:scaling>
        <c:delete val="0"/>
        <c:axPos val="l"/>
        <c:majorGridlines>
          <c:spPr>
            <a:ln xmlns:a="http://schemas.openxmlformats.org/drawingml/2006/main" w="7620">
              <a:solidFill>
                <a:srgbClr val="DAD7C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BM Plex Sans"/>
                    <a:ea typeface="IBM Plex Sans"/>
                    <a:cs typeface="IBM Plex Sans"/>
                  </a:rPr>
                  <a:t>Spread / unguided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.5"/>
          <c:min val="0.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BM Plex Sans"/>
                    <a:ea typeface="IBM Plex Sans"/>
                    <a:cs typeface="IBM Plex Sans"/>
                  </a:rPr>
                  <a:t>Setpoint τₘ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72768"/>
        <c:majorUnit val="0.25"/>
      </c:valAx>
      <c:spPr>
        <a:solidFill xmlns:a="http://schemas.openxmlformats.org/drawingml/2006/main">
          <a:srgbClr val="F7F6F2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IBM Plex Sans"/>
              <a:ea typeface="IBM Plex Sans"/>
              <a:cs typeface="IBM Plex Sans"/>
            </a:defRPr>
          </a:pPr>
        </a:p>
      </c:txPr>
    </c:legend>
    <c:plotVisOnly val="1"/>
  </c:chart>
  <c:spPr>
    <a:solidFill xmlns:a="http://schemas.openxmlformats.org/drawingml/2006/main">
      <a:srgbClr val="F7F6F2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latin typeface="IBM Plex Sans"/>
                <a:ea typeface="IBM Plex Sans"/>
                <a:cs typeface="IBM Plex Sans"/>
              </a:rPr>
              <a:t>EquiFM (flow matching)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latin typeface="IBM Plex Sans"/>
              <a:ea typeface="IBM Plex Sans"/>
              <a:cs typeface="IBM Plex Sans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μ</c:v>
          </c:tx>
          <c:spPr>
            <a:solidFill xmlns:a="http://schemas.openxmlformats.org/drawingml/2006/main">
              <a:srgbClr val="215FA9"/>
            </a:solidFill>
            <a:ln xmlns:a="http://schemas.openxmlformats.org/drawingml/2006/main" w="23813">
              <a:solidFill>
                <a:srgbClr val="215FA9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15FA9"/>
              </a:solidFill>
            </c:spPr>
          </c:marker>
          <c:xVal>
            <c:numLit>
              <c:formatCode>General</c:formatCode>
              <c:ptCount val="4"/>
              <c:pt idx="0">
                <c:v>0.5</c:v>
              </c:pt>
              <c:pt idx="1">
                <c:v>0.75</c:v>
              </c:pt>
              <c:pt idx="2">
                <c:v>1</c:v>
              </c:pt>
              <c:pt idx="3">
                <c:v>1.5</c:v>
              </c:pt>
            </c:numLit>
          </c:xVal>
          <c:yVal>
            <c:numLit>
              <c:formatCode>0.0</c:formatCode>
              <c:ptCount val="4"/>
              <c:pt idx="0">
                <c:v>0.6929324351918323</c:v>
              </c:pt>
              <c:pt idx="1">
                <c:v>0.816136011693965</c:v>
              </c:pt>
              <c:pt idx="2">
                <c:v>0.9735760554610261</c:v>
              </c:pt>
              <c:pt idx="3">
                <c:v>1.2499167017206412</c:v>
              </c:pt>
            </c:numLit>
          </c:yVal>
        </c:ser>
        <c:ser>
          <c:idx val="1"/>
          <c:order val="1"/>
          <c:tx>
            <c:v>α</c:v>
          </c:tx>
          <c:spPr>
            <a:solidFill xmlns:a="http://schemas.openxmlformats.org/drawingml/2006/main">
              <a:srgbClr val="AC600D"/>
            </a:solidFill>
            <a:ln xmlns:a="http://schemas.openxmlformats.org/drawingml/2006/main" w="23813">
              <a:solidFill>
                <a:srgbClr val="AC600D"/>
              </a:solidFill>
            </a:ln>
          </c:spPr>
          <c:marker>
            <c:symbol val="square"/>
            <c:size val="7"/>
            <c:spPr>
              <a:solidFill xmlns:a="http://schemas.openxmlformats.org/drawingml/2006/main">
                <a:srgbClr val="AC600D"/>
              </a:solidFill>
            </c:spPr>
          </c:marker>
          <c:xVal>
            <c:numLit>
              <c:formatCode>General</c:formatCode>
              <c:ptCount val="4"/>
              <c:pt idx="0">
                <c:v>0.5</c:v>
              </c:pt>
              <c:pt idx="1">
                <c:v>0.75</c:v>
              </c:pt>
              <c:pt idx="2">
                <c:v>1</c:v>
              </c:pt>
              <c:pt idx="3">
                <c:v>1.5</c:v>
              </c:pt>
            </c:numLit>
          </c:xVal>
          <c:yVal>
            <c:numLit>
              <c:formatCode>0.0</c:formatCode>
              <c:ptCount val="4"/>
              <c:pt idx="0">
                <c:v>0.7268512413565675</c:v>
              </c:pt>
              <c:pt idx="1">
                <c:v>0.8473122404385468</c:v>
              </c:pt>
              <c:pt idx="2">
                <c:v>0.9907508934057959</c:v>
              </c:pt>
              <c:pt idx="3">
                <c:v>1.2345629269424816</c:v>
              </c:pt>
            </c:numLit>
          </c:yVal>
        </c:ser>
        <c:ser>
          <c:idx val="2"/>
          <c:order val="2"/>
          <c:tx>
            <c:v>gap</c:v>
          </c:tx>
          <c:spPr>
            <a:solidFill xmlns:a="http://schemas.openxmlformats.org/drawingml/2006/main">
              <a:srgbClr val="27745E"/>
            </a:solidFill>
            <a:ln xmlns:a="http://schemas.openxmlformats.org/drawingml/2006/main" w="23813">
              <a:solidFill>
                <a:srgbClr val="27745E"/>
              </a:solidFill>
            </a:ln>
          </c:spPr>
          <c:marker>
            <c:symbol val="triangle"/>
            <c:size val="7"/>
            <c:spPr>
              <a:solidFill xmlns:a="http://schemas.openxmlformats.org/drawingml/2006/main">
                <a:srgbClr val="27745E"/>
              </a:solidFill>
            </c:spPr>
          </c:marker>
          <c:xVal>
            <c:numLit>
              <c:formatCode>General</c:formatCode>
              <c:ptCount val="4"/>
              <c:pt idx="0">
                <c:v>0.5</c:v>
              </c:pt>
              <c:pt idx="1">
                <c:v>0.75</c:v>
              </c:pt>
              <c:pt idx="2">
                <c:v>1</c:v>
              </c:pt>
              <c:pt idx="3">
                <c:v>1.5</c:v>
              </c:pt>
            </c:numLit>
          </c:xVal>
          <c:yVal>
            <c:numLit>
              <c:formatCode>0.0</c:formatCode>
              <c:ptCount val="4"/>
              <c:pt idx="0">
                <c:v>0.7720245063643038</c:v>
              </c:pt>
              <c:pt idx="1">
                <c:v>0.8749699202523967</c:v>
              </c:pt>
              <c:pt idx="2">
                <c:v>1.0029185623253838</c:v>
              </c:pt>
              <c:pt idx="3">
                <c:v>1.1774739991471592</c:v>
              </c:pt>
            </c:numLit>
          </c:yVal>
        </c:ser>
        <c:ser>
          <c:idx val="3"/>
          <c:order val="3"/>
          <c:tx>
            <c:v>Unguided</c:v>
          </c:tx>
          <c:spPr>
            <a:ln xmlns:a="http://schemas.openxmlformats.org/drawingml/2006/main" w="12383">
              <a:solidFill>
                <a:srgbClr val="8B929A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0.5</c:v>
              </c:pt>
              <c:pt idx="1">
                <c:v>1.5</c:v>
              </c:pt>
            </c:numLit>
          </c:xVal>
          <c:yVal>
            <c:numLit>
              <c:formatCode>0.0</c:formatCode>
              <c:ptCount val="2"/>
              <c:pt idx="0">
                <c:v>1</c:v>
              </c:pt>
              <c:pt idx="1">
                <c:v>1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4"/>
          <c:min val="0.6"/>
        </c:scaling>
        <c:delete val="0"/>
        <c:axPos val="l"/>
        <c:majorGridlines>
          <c:spPr>
            <a:ln xmlns:a="http://schemas.openxmlformats.org/drawingml/2006/main" w="7620">
              <a:solidFill>
                <a:srgbClr val="DAD7C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BM Plex Sans"/>
                    <a:ea typeface="IBM Plex Sans"/>
                    <a:cs typeface="IBM Plex Sans"/>
                  </a:rPr>
                  <a:t>Spread / unguided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.5"/>
          <c:min val="0.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BM Plex Sans"/>
                    <a:ea typeface="IBM Plex Sans"/>
                    <a:cs typeface="IBM Plex Sans"/>
                  </a:rPr>
                  <a:t>Setpoint τₘ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72768"/>
        <c:majorUnit val="0.25"/>
      </c:valAx>
      <c:spPr>
        <a:solidFill xmlns:a="http://schemas.openxmlformats.org/drawingml/2006/main">
          <a:srgbClr val="F7F6F2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IBM Plex Sans"/>
              <a:ea typeface="IBM Plex Sans"/>
              <a:cs typeface="IBM Plex Sans"/>
            </a:defRPr>
          </a:pPr>
        </a:p>
      </c:txPr>
    </c:legend>
    <c:plotVisOnly val="1"/>
  </c:chart>
  <c:spPr>
    <a:solidFill xmlns:a="http://schemas.openxmlformats.org/drawingml/2006/main">
      <a:srgbClr val="F7F6F2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latin typeface="IBM Plex Sans"/>
                <a:ea typeface="IBM Plex Sans"/>
                <a:cs typeface="IBM Plex Sans"/>
              </a:rPr>
              <a:t>DNA gain over plug-in (percentage points)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latin typeface="IBM Plex Sans"/>
              <a:ea typeface="IBM Plex Sans"/>
              <a:cs typeface="IBM Plex San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τₘ = 0.5</c:v>
          </c:tx>
          <c:spPr>
            <a:solidFill xmlns:a="http://schemas.openxmlformats.org/drawingml/2006/main">
              <a:srgbClr val="215FA9"/>
            </a:solidFill>
          </c:spPr>
          <c:cat>
            <c:strLit>
              <c:ptCount val="4"/>
              <c:pt idx="0">
                <c:v>GC w=1</c:v>
              </c:pt>
              <c:pt idx="1">
                <c:v>GC w=4</c:v>
              </c:pt>
              <c:pt idx="2">
                <c:v>CpG w=1</c:v>
              </c:pt>
              <c:pt idx="3">
                <c:v>CpG w=4</c:v>
              </c:pt>
            </c:strLit>
          </c:cat>
          <c:val>
            <c:numLit>
              <c:formatCode>General</c:formatCode>
              <c:ptCount val="4"/>
              <c:pt idx="0">
                <c:v>0.41666775941848755</c:v>
              </c:pt>
              <c:pt idx="1">
                <c:v>2.3166666428248077</c:v>
              </c:pt>
              <c:pt idx="2">
                <c:v>4.816665252049757</c:v>
              </c:pt>
              <c:pt idx="3">
                <c:v>16.833335161209106</c:v>
              </c:pt>
            </c:numLit>
          </c:val>
        </c:ser>
        <c:ser>
          <c:idx val="1"/>
          <c:order val="1"/>
          <c:tx>
            <c:v>τₘ = 1</c:v>
          </c:tx>
          <c:spPr>
            <a:solidFill xmlns:a="http://schemas.openxmlformats.org/drawingml/2006/main">
              <a:srgbClr val="AC600D"/>
            </a:solidFill>
          </c:spPr>
          <c:invertIfNegative val="0"/>
          <c:cat>
            <c:strLit>
              <c:ptCount val="4"/>
              <c:pt idx="0">
                <c:v>GC w=1</c:v>
              </c:pt>
              <c:pt idx="1">
                <c:v>GC w=4</c:v>
              </c:pt>
              <c:pt idx="2">
                <c:v>CpG w=1</c:v>
              </c:pt>
              <c:pt idx="3">
                <c:v>CpG w=4</c:v>
              </c:pt>
            </c:strLit>
          </c:cat>
          <c:val>
            <c:numLit>
              <c:formatCode>General</c:formatCode>
              <c:ptCount val="4"/>
              <c:pt idx="0">
                <c:v>-0.01666645208994455</c:v>
              </c:pt>
              <c:pt idx="1">
                <c:v>-0.03333340088526593</c:v>
              </c:pt>
              <c:pt idx="2">
                <c:v>-0.2833336591720581</c:v>
              </c:pt>
              <c:pt idx="3">
                <c:v>-1.2833327054977417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-5"/>
        </c:scaling>
        <c:delete val="0"/>
        <c:axPos val="l"/>
        <c:majorGridlines>
          <c:spPr>
            <a:ln xmlns:a="http://schemas.openxmlformats.org/drawingml/2006/main" w="6668">
              <a:solidFill>
                <a:srgbClr val="DAD7CF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7F6F2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IBM Plex Sans"/>
              <a:ea typeface="IBM Plex Sans"/>
              <a:cs typeface="IBM Plex Sans"/>
            </a:defRPr>
          </a:pPr>
        </a:p>
      </c:txPr>
    </c:legend>
    <c:plotVisOnly val="1"/>
  </c:chart>
  <c:spPr>
    <a:solidFill xmlns:a="http://schemas.openxmlformats.org/drawingml/2006/main">
      <a:srgbClr val="F7F6F2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0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E6E64000-84EB-479C-AFBB-F48B80D9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812720"/>
            <a:ext cx="1015968" cy="5072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26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8AEF655C-5E90-4F03-A198-C2FEED62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1066598"/>
            <a:ext cx="10883529" cy="256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B4E3"/>
              </a:buClr>
              <a:buSzPts val="1300"/>
              <a:buFont typeface="IBM Plex Sans"/>
              <a:buNone/>
            </a:pPr>
            <a:r>
              <a:rPr sz="1300" b="1" i="0" u="none" cap="none">
                <a:solidFill>
                  <a:srgbClr val="8FB4E3"/>
                </a:solidFill>
                <a:latin typeface="IBM Plex Sans"/>
                <a:ea typeface="IBM Plex Sans"/>
                <a:cs typeface="IBM Plex Sans"/>
              </a:rPr>
              <a:t>CIS 6270 · PROJECT 1 DEFENSE · GROUP 2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1C188062-098D-4E93-B463-154356C4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1500900"/>
            <a:ext cx="10883529" cy="1122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4000"/>
              <a:buFont typeface="Source Serif 4"/>
              <a:buNone/>
            </a:pPr>
            <a:r>
              <a:rPr sz="4000" b="1" i="0" u="none" cap="none">
                <a:solidFill>
                  <a:srgbClr val="F7F6F2"/>
                </a:solidFill>
                <a:latin typeface="Source Serif 4"/>
                <a:ea typeface="Source Serif 4"/>
                <a:cs typeface="Source Serif 4"/>
              </a:rPr>
              <a:t>BDG: Batch-Dispersion Guidance for Property-Band Generation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80F133AE-F138-4954-9A8D-A0C1A44D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2801270"/>
            <a:ext cx="10883529" cy="558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DD9"/>
              </a:buClr>
              <a:buSzPts val="1500"/>
              <a:buFont typeface="IBM Plex Sans"/>
              <a:buNone/>
            </a:pPr>
            <a:r>
              <a:rPr sz="1500" b="0" i="0" u="none" cap="none">
                <a:solidFill>
                  <a:srgbClr val="C3CDD9"/>
                </a:solidFill>
                <a:latin typeface="IBM Plex Sans"/>
                <a:ea typeface="IBM Plex Sans"/>
                <a:cs typeface="IBM Plex Sans"/>
              </a:rPr>
              <a:t>Batch-variance feedback for property-band control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DD9"/>
              </a:buClr>
              <a:buSzPts val="1500"/>
              <a:buFont typeface="IBM Plex Sans"/>
              <a:buNone/>
            </a:pPr>
            <a:r>
              <a:rPr sz="1500" b="0" i="0" u="none" cap="none">
                <a:solidFill>
                  <a:srgbClr val="C3CDD9"/>
                </a:solidFill>
                <a:latin typeface="IBM Plex Sans"/>
                <a:ea typeface="IBM Plex Sans"/>
                <a:cs typeface="IBM Plex Sans"/>
              </a:rPr>
              <a:t>QM9 3D molecules and DeepFlyBrain DNA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08E40B5B-E829-4FEB-B4A7-BA4C2D2D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5781242"/>
            <a:ext cx="3607475" cy="289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600"/>
              <a:buFont typeface="IBM Plex Sans"/>
              <a:buNone/>
            </a:pPr>
            <a:r>
              <a:rPr sz="1600" b="0" i="0" u="none" cap="none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Bobo Li · Henry Huang · Idea Idehpour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7830F3F7-5665-4995-934E-F7300502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9167" y="5582976"/>
            <a:ext cx="1990086" cy="487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DD9"/>
              </a:buClr>
              <a:buSzPts val="1300"/>
              <a:buFont typeface="IBM Plex Sans"/>
              <a:buNone/>
            </a:pPr>
            <a:r>
              <a:rPr sz="1300" b="0" i="0" u="none" cap="none">
                <a:solidFill>
                  <a:srgbClr val="C3CDD9"/>
                </a:solidFill>
                <a:latin typeface="IBM Plex Sans"/>
                <a:ea typeface="IBM Plex Sans"/>
                <a:cs typeface="IBM Plex Sans"/>
              </a:rPr>
              <a:t>University of Pennsylvania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DD9"/>
              </a:buClr>
              <a:buSzPts val="1300"/>
              <a:buFont typeface="IBM Plex Sans"/>
              <a:buNone/>
            </a:pPr>
            <a:r>
              <a:rPr sz="1300" b="0" i="0" u="none" cap="none">
                <a:solidFill>
                  <a:srgbClr val="C3CDD9"/>
                </a:solidFill>
                <a:latin typeface="IBM Plex Sans"/>
                <a:ea typeface="IBM Plex Sans"/>
                <a:cs typeface="IBM Plex Sans"/>
              </a:rPr>
              <a:t>30 September 2026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33713E-C77F-45E9-AF18-74566043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48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FB4E5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8FB4E5"/>
                </a:solidFill>
                <a:latin typeface="IBM Plex Sans"/>
                <a:ea typeface="IBM Plex Sans"/>
                <a:cs typeface="IBM Plex Sans"/>
              </a:rPr>
              <a:t>Deck v3 · paper v8</a:t>
            </a:r>
          </a:p>
        </p:txBody>
      </p:sp>
    </p:spTree>
    <p:extLst>
      <p:ext uri="{BB962C8B-B14F-4D97-AF65-F5344CB8AC3E}">
        <p14:creationId xmlns:p14="http://schemas.microsoft.com/office/powerpoint/2010/main" val="3238803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B6834-E558-47A0-BE67-89442F46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1 · SET UP THE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5AB24-0ED4-484F-90A8-0BBD2CD9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Property-band generation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83D02-FD87-4216-AEA5-9BA5F8E5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421C7-2E01-44AA-B38F-A9CFF93C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2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73529-A44F-4772-ACF8-605D1943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[1] Ramakrishnan et al. 2014 (QM9) · [4] Stark et al. 2024 (DeepFlyBrain)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836C8-601E-4062-8C66-90E65BF8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The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2E1D6-6746-44D1-96FB-6DC0F437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05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Guide a frozen generator so the decoded property falls inside a target band, y ± δ. Coverage is the fraction of samples in that band.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8CB18-8572-41EF-B39A-A6952798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194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The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9D0E1-CA6F-4EF5-9FE0-25F09D0E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0045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Can a requested batch spread improve band coverage while retaining sample quality?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31FBC-8F60-46EC-B549-26FBB773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192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8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QM9 molecules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44F97-3D03-4922-9948-A187B282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764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Up to 29 atoms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3D coordinates + 5 type channels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Euclidean symmetry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3014D-8B7C-4BBF-8BD8-68E5B6A7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718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8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DeepFlyBrain DNA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F39FA-0728-486B-A92B-A7A936CF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29075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500 positions × 4 bases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One probability simplex per position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EBCFED-7A98-4F15-A0A7-5E289065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768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Hypothesis: a batch-dispersion setpoint adds useful control beyond guidance strength.</a:t>
            </a:r>
          </a:p>
        </p:txBody>
      </p:sp>
    </p:spTree>
    <p:extLst>
      <p:ext uri="{BB962C8B-B14F-4D97-AF65-F5344CB8AC3E}">
        <p14:creationId xmlns:p14="http://schemas.microsoft.com/office/powerpoint/2010/main" val="2101927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6DD80-09C0-4BB0-9EB2-C614EF5C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1 · DATA AND REPRESENTATIONS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EEEF7-9FFB-43DA-A230-C7A97278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Datasets and independent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54685-51A8-436A-83DA-8BE1CCD4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D7EDE-318F-471A-AE41-ABECE394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3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9630D-8350-4CD8-850B-852F7196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[1] Ramakrishnan et al. 2014 · [2] Hoogeboom et al. 2022 · [4] Stark et al. 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B9A67-4F2F-4C22-8983-610D0755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668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8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QM9: 133,885 molecules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809625" y="1924050"/>
          <a:ext xmlns:a="http://schemas.openxmlformats.org/drawingml/2006/main" cx="5095875" cy="2095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085850"/>
                <a:gridCol w="3028950"/>
                <a:gridCol w="981075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Split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Role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train_a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Generator + guide f_A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51,527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train_b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Evaluator f_B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51,527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Validation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Selection + size masks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17,748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Test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Held out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13,083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E2B9E-70E1-47BE-8C6C-0B42C3D5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91000"/>
            <a:ext cx="5095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Explicit H. Centred Å coordinates, padded to 29. Keep EDM’s 3,054 excluded structures. Split seed 20260917. Targets: dipole magnitude μ, polarizability α and HOMO–LUMO gap.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7870D-CD40-426A-A5CE-00FEA069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6685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8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DeepFlyBrain: 500-bp enhancers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286500" y="1924050"/>
          <a:ext xmlns:a="http://schemas.openxmlformats.org/drawingml/2006/main" cx="5095875" cy="16764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143000"/>
                <a:gridCol w="3000375"/>
                <a:gridCol w="95250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Split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Role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Generator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83,722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Validation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Model selection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10,505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Test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Held out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10,434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D98EF-A9CC-4A93-B289-AC86E03C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5095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Remove four ambiguous training sequences. Use A/C/G/T one-hot encoding. The generator receives no cell-type labels.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857D9-96BE-48E1-9E09-17F56129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72050"/>
            <a:ext cx="5095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f_A and f_B train on disjoint halves. DNA uses exact decoded counts, with a separate soft guidance score.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EA988-FD32-4FB6-A9A6-81E95637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007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QM9 normalization uses train_a. Neither random split establishes generalization to unseen molecular or sequence families.</a:t>
            </a:r>
          </a:p>
        </p:txBody>
      </p:sp>
    </p:spTree>
    <p:extLst>
      <p:ext uri="{BB962C8B-B14F-4D97-AF65-F5344CB8AC3E}">
        <p14:creationId xmlns:p14="http://schemas.microsoft.com/office/powerpoint/2010/main" val="19974126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8F963-3AD6-435B-A544-F457E3C5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1 · DATA AND REPRESENTATIONS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2AD4D-2CF6-4313-9B76-FEDC6D28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Representation and decoded metrics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BD628-7C6D-4F45-9EE7-AAD8ECDA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37871-4F2F-4D0F-A56F-871CB045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4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42BED-E13F-4AC6-8C4F-27C18026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[2] Hoogeboom et al. 2022 (stability) · [4] Stark et al. 2024 (DNA) · [9] Satorras et al. 2021 (EGNN)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09625" y="1495425"/>
          <a:ext xmlns:a="http://schemas.openxmlformats.org/drawingml/2006/main" cx="10572750" cy="2571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28750"/>
                <a:gridCol w="4572000"/>
                <a:gridCol w="4572000"/>
              </a:tblGrid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/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QM9 molecules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DeepFlyBrain DNA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Sampling state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Real coordinates + 5 continuous type channels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500 × 4 probabilities, each row sums to 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Constraints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Mask padding and remove centre of mass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Clamp to ≥ 0 and renormalize each position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Conditioning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Atom mask only. Property enters through guidance.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No class/property input to the generator.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Decoding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Type argmax, then distance-based bonds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Base argmax at each position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41740-B88F-4B6A-9EB0-102662EE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243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QM9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AC6B9-0428-4F53-9FA2-68F11321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05350"/>
            <a:ext cx="50958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In-band (IB): |f_B(decoded x) − y| ≤ δ.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Stability: all atom valences satisfied.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Validity: RDKit sanitization succeeds.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Uniqueness: distinct / valid molecules.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DV: distinct valid molecules / attempts.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AEFC6-9AF0-4144-A9EE-315E894F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DNA metrics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662F6-2441-4B18-BD3D-4AB12CFC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50958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GC: fraction of C/G bases. CpG: C–G pair fraction.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IB: exact decoded property inside the band.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3-mer JSD: divergence from training composition.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Hamming: mean fraction of differing bases.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Soft and decoded property scores can disagree.</a:t>
            </a:r>
          </a:p>
        </p:txBody>
      </p:sp>
    </p:spTree>
    <p:extLst>
      <p:ext uri="{BB962C8B-B14F-4D97-AF65-F5344CB8AC3E}">
        <p14:creationId xmlns:p14="http://schemas.microsoft.com/office/powerpoint/2010/main" val="590312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13D6D-9A90-4ED0-BE13-2AA07104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1 · FLOW MATCHING 1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599E9-B259-439B-8E9A-DE6D6E9D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Flow matching: state, velocity and loss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94154-C645-447E-B2C8-AB6A2D2F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3761E-C083-4028-8110-159370FA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5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C38C8-E7A1-458E-9F13-F105CD94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[6] Lipman et al. 2022 · [7] Liu et al. 2022 · [8] Albergo et al. 2025 · implementation: train_fm.py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EE0FF-193E-4E02-88E5-519B5439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573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xₜ = (1 − t)x₀ + tx₁        v* = x₁ − x₀        t ∼ Uniform(0, 1)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523A2-B85F-45A4-A755-D17EE380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716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At t = 0: masked Gaussian noise in both arrays (coordinates centred).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At t = 1: real positions + one-hot types, e.g. carbon [0, 1, 0, 0, 0] in H/C/N/O/F order.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ED19D-91EA-4562-8EBF-F86078AD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622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Types stay continuous during training and sampling, so each type channel can be noised and denoised.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809625" y="3314700"/>
          <a:ext xmlns:a="http://schemas.openxmlformats.org/drawingml/2006/main" cx="10572750" cy="1428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3762375"/>
                <a:gridCol w="3762375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Per-molecule tensor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Coordinates c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Type channels f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Velocity v = (vᶜ, vᶠ)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How fast each position changes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How fast each type number changes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Error z = vθ − v*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zᶜ: 29 × 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zᶠ: 29 × 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D93F4-069B-4377-A881-7002A64C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434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LFM = E [ Σ M(zᶜ)² / (3ΣM)  +  Σ M(zᶠ)² / (5ΣM) 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0153E-55B5-4DDE-938B-0D09748D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102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full error is 29 × 8. M masks padded atoms. Average each part separately, then add with equal weight.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83002-FF10-4E64-BC1F-0843C21F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76925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Endpoint estimate for guidance: m = xₜ + (1 − t)vθ(xₜ, t). The generator has no property input.</a:t>
            </a:r>
          </a:p>
        </p:txBody>
      </p:sp>
    </p:spTree>
    <p:extLst>
      <p:ext uri="{BB962C8B-B14F-4D97-AF65-F5344CB8AC3E}">
        <p14:creationId xmlns:p14="http://schemas.microsoft.com/office/powerpoint/2010/main" val="15996043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57497-B224-458C-A20D-3707B450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1 · FLOW MATCHING 2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B4322-0DF7-4868-B875-E863E91C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Flow matching: training and sampling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41673-BDC7-43C0-B5C0-806B37A2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BDC38-10A3-4B07-BE02-714D8C44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6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AE4CC-7219-4917-B7D8-496BE540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[6] Lipman et al. 2022 (FM) · [9] Satorras et al. 2021 (EGNN) · recorded training/checkpoint metadata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F0DB1-03EB-4EB6-8065-BB1C959A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097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Generator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A6CDC-559D-4A12-8F93-9EE4231D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90725"/>
            <a:ext cx="5095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Our EGNNVelocity, trained from scratch.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256 hidden channels × 8 layers, SiLU.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3,753,229 parameters, no attention.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Time joins the input type features.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44078-2EB6-4173-9CE5-18352DF7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097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5BFC1-1B8E-4DF6-B60A-DF68FE25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90725"/>
            <a:ext cx="5095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train_a, batch 256, Adam 2 × 10⁻⁴.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Cosine decay to 5%, gradient clip 5.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EMA 0.9999, seed 20260918.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1,500 epochs, 303k updates.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E1F7E-B61D-4DB6-9723-DF22F779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528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Checkpoint used in this study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E0FD1-938E-4299-A819-2DD2D173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33850"/>
            <a:ext cx="50958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Evaluate the final-epoch EMA: epoch 1,500.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trainer also tracks validation atom stability every 25 epochs on 512 samples, with validation loss as the tie-break.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EF1B8-4AE5-4E5D-996E-7CB7149F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Sampling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464F51-D926-402E-9961-F6F802AF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3850"/>
            <a:ext cx="50958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100 uniform Euler steps, noise to data.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One generator evaluation per step: NFE 100.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After each step: apply the atom mask and remove centre of mass. Decode once at the end.</a:t>
            </a:r>
          </a:p>
        </p:txBody>
      </p:sp>
    </p:spTree>
    <p:extLst>
      <p:ext uri="{BB962C8B-B14F-4D97-AF65-F5344CB8AC3E}">
        <p14:creationId xmlns:p14="http://schemas.microsoft.com/office/powerpoint/2010/main" val="14107794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Google Shape;151;p9">
            <a:extLst xmlns:a="http://schemas.openxmlformats.org/drawingml/2006/main">
              <a:ext uri="{FF2B5EF4-FFF2-40B4-BE49-F238E27FC236}">
                <a16:creationId xmlns:a16="http://schemas.microsoft.com/office/drawing/2014/main" id="{365C0336-AEAC-4C41-89E0-12525B99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507938"/>
            <a:ext cx="10883529" cy="238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sz="1200" b="1" i="0" u="none" cap="none">
                <a:solidFill>
                  <a:srgbClr val="1F5FA9"/>
                </a:solidFill>
                <a:latin typeface="IBM Plex Sans"/>
                <a:ea typeface="IBM Plex Sans"/>
                <a:cs typeface="IBM Plex Sans"/>
              </a:rPr>
              <a:t>PART 1 · SET UP THE STUDY · DIFFUSION 1 OF 2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" name="Google Shape;152;p9">
            <a:extLst xmlns:a="http://schemas.openxmlformats.org/drawingml/2006/main">
              <a:ext uri="{FF2B5EF4-FFF2-40B4-BE49-F238E27FC236}">
                <a16:creationId xmlns:a16="http://schemas.microsoft.com/office/drawing/2014/main" id="{2B238B09-20DD-4436-9ECF-BCC3602F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746692"/>
            <a:ext cx="10883529" cy="416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sz="2800" b="1" i="0" u="none" cap="none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Diffusion baseline: the formulation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9">
            <a:extLst xmlns:a="http://schemas.openxmlformats.org/drawingml/2006/main">
              <a:ext uri="{FF2B5EF4-FFF2-40B4-BE49-F238E27FC236}">
                <a16:creationId xmlns:a16="http://schemas.microsoft.com/office/drawing/2014/main" id="{7376496D-F4FC-4BBC-82B8-3111AF66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1239323"/>
            <a:ext cx="10883529" cy="523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400"/>
              <a:buFont typeface="IBM Plex Sans"/>
              <a:buNone/>
            </a:pPr>
            <a:r>
              <a:rPr sz="14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Variance-preserving (VP) diffusion in continuous time [2, 10, 11]. Noising time u runs from 0 (data) to 1 (noise); the network εφ predicts the added noise.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4" name="Google Shape;154;p9">
            <a:extLst xmlns:a="http://schemas.openxmlformats.org/drawingml/2006/main">
              <a:ext uri="{FF2B5EF4-FFF2-40B4-BE49-F238E27FC236}">
                <a16:creationId xmlns:a16="http://schemas.microsoft.com/office/drawing/2014/main" id="{A52AE747-B334-44C3-90E3-554A2F3D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95" y="1841826"/>
            <a:ext cx="10560183" cy="3941857"/>
          </a:xfrm>
          <a:prstGeom xmlns:a="http://schemas.openxmlformats.org/drawingml/2006/main" prst="roundRect">
            <a:avLst>
              <a:gd name="adj" fmla="val 2175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 cmpd="sng">
            <a:solidFill>
              <a:srgbClr val="DDD9C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6" name="Google Shape;155;p9"/>
          <p:cNvCxnSpPr/>
          <p:nvPr/>
        </p:nvCxnSpPr>
        <p:spPr>
          <a:xfrm xmlns:a="http://schemas.openxmlformats.org/drawingml/2006/main">
            <a:off x="1021674" y="2342236"/>
            <a:ext cx="1014862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4E1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" name="Google Shape;156;p9">
            <a:extLst xmlns:a="http://schemas.openxmlformats.org/drawingml/2006/main">
              <a:ext uri="{FF2B5EF4-FFF2-40B4-BE49-F238E27FC236}">
                <a16:creationId xmlns:a16="http://schemas.microsoft.com/office/drawing/2014/main" id="{28DF7A84-3296-4529-88EE-4E9A0D75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74" y="1979312"/>
            <a:ext cx="1962099" cy="263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sz="150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Noise schedule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88" name="Google Shape;157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8d50398c9b94818">
            <a:alphaModFix/>
          </a:blip>
          <a:srcRect xmlns:a="http://schemas.openxmlformats.org/drawingml/2006/main" l="-505" t="0" r="-505" b="0"/>
          <a:stretch xmlns:a="http://schemas.openxmlformats.org/drawingml/2006/main"/>
        </p:blipFill>
        <p:spPr>
          <a:xfrm xmlns:a="http://schemas.openxmlformats.org/drawingml/2006/main">
            <a:off x="3129781" y="1939640"/>
            <a:ext cx="4552879" cy="3174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189" name="Google Shape;158;p9"/>
          <p:cNvCxnSpPr/>
          <p:nvPr/>
        </p:nvCxnSpPr>
        <p:spPr>
          <a:xfrm xmlns:a="http://schemas.openxmlformats.org/drawingml/2006/main">
            <a:off x="1021674" y="2913035"/>
            <a:ext cx="1014862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4E1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" name="Google Shape;159;p9">
            <a:extLst xmlns:a="http://schemas.openxmlformats.org/drawingml/2006/main">
              <a:ext uri="{FF2B5EF4-FFF2-40B4-BE49-F238E27FC236}">
                <a16:creationId xmlns:a16="http://schemas.microsoft.com/office/drawing/2014/main" id="{D5495C75-02E7-4D16-AAB6-7D89299B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74" y="2508898"/>
            <a:ext cx="1962099" cy="263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sz="150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Forward process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91" name="Google Shape;160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50c1d22134b4e25">
            <a:alphaModFix/>
          </a:blip>
          <a:srcRect xmlns:a="http://schemas.openxmlformats.org/drawingml/2006/main" l="-406" t="0" r="-406" b="0"/>
          <a:stretch xmlns:a="http://schemas.openxmlformats.org/drawingml/2006/main"/>
        </p:blipFill>
        <p:spPr>
          <a:xfrm xmlns:a="http://schemas.openxmlformats.org/drawingml/2006/main">
            <a:off x="3129781" y="2427926"/>
            <a:ext cx="6915137" cy="3999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192" name="Google Shape;161;p9"/>
          <p:cNvCxnSpPr/>
          <p:nvPr/>
        </p:nvCxnSpPr>
        <p:spPr>
          <a:xfrm xmlns:a="http://schemas.openxmlformats.org/drawingml/2006/main">
            <a:off x="1021674" y="3986788"/>
            <a:ext cx="1014862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4E1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" name="Google Shape;162;p9">
            <a:extLst xmlns:a="http://schemas.openxmlformats.org/drawingml/2006/main">
              <a:ext uri="{FF2B5EF4-FFF2-40B4-BE49-F238E27FC236}">
                <a16:creationId xmlns:a16="http://schemas.microsoft.com/office/drawing/2014/main" id="{8F6C8ADA-62E0-4FCB-905C-39A6A590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74" y="3331127"/>
            <a:ext cx="1962099" cy="263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sz="150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Loss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94" name="Google Shape;163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ce1ece95754f5e">
            <a:alphaModFix/>
          </a:blip>
          <a:srcRect xmlns:a="http://schemas.openxmlformats.org/drawingml/2006/main" l="-380" t="0" r="-380" b="0"/>
          <a:stretch xmlns:a="http://schemas.openxmlformats.org/drawingml/2006/main"/>
        </p:blipFill>
        <p:spPr>
          <a:xfrm xmlns:a="http://schemas.openxmlformats.org/drawingml/2006/main">
            <a:off x="3129781" y="2998722"/>
            <a:ext cx="3124166" cy="4190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4" name="Google Shape;164;p9">
            <a:extLst xmlns:a="http://schemas.openxmlformats.org/drawingml/2006/main">
              <a:ext uri="{FF2B5EF4-FFF2-40B4-BE49-F238E27FC236}">
                <a16:creationId xmlns:a16="http://schemas.microsoft.com/office/drawing/2014/main" id="{144046C2-8BBD-49AF-BE14-0B4EE4A0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781" y="3455848"/>
            <a:ext cx="8281733" cy="471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sz="13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same masked norm as flow matching; ε projected to zero centre of mass; u ~ U(10⁻³, 1) keeps σ away from zero.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96" name="Google Shape;165;p9"/>
          <p:cNvCxnSpPr/>
          <p:nvPr/>
        </p:nvCxnSpPr>
        <p:spPr>
          <a:xfrm xmlns:a="http://schemas.openxmlformats.org/drawingml/2006/main">
            <a:off x="1021674" y="4977302"/>
            <a:ext cx="1014862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4E1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" name="Google Shape;166;p9">
            <a:extLst xmlns:a="http://schemas.openxmlformats.org/drawingml/2006/main">
              <a:ext uri="{FF2B5EF4-FFF2-40B4-BE49-F238E27FC236}">
                <a16:creationId xmlns:a16="http://schemas.microsoft.com/office/drawing/2014/main" id="{5D0A3154-18A1-413B-8C88-7ACE07F2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74" y="4363309"/>
            <a:ext cx="1962099" cy="263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sz="150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Sampler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98" name="Google Shape;167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f45f64a8764e2c">
            <a:alphaModFix/>
          </a:blip>
          <a:srcRect xmlns:a="http://schemas.openxmlformats.org/drawingml/2006/main" l="-288" t="0" r="-288" b="0"/>
          <a:stretch xmlns:a="http://schemas.openxmlformats.org/drawingml/2006/main"/>
        </p:blipFill>
        <p:spPr>
          <a:xfrm xmlns:a="http://schemas.openxmlformats.org/drawingml/2006/main">
            <a:off x="3129781" y="4072474"/>
            <a:ext cx="4711655" cy="558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8" name="Google Shape;168;p9">
            <a:extLst xmlns:a="http://schemas.openxmlformats.org/drawingml/2006/main">
              <a:ext uri="{FF2B5EF4-FFF2-40B4-BE49-F238E27FC236}">
                <a16:creationId xmlns:a16="http://schemas.microsoft.com/office/drawing/2014/main" id="{6DC9E9B9-FD2E-4095-97D3-2A3CF366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781" y="4669265"/>
            <a:ext cx="8281733" cy="248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sz="13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100 Euler steps from u = 1 to 0.001, then a final denoising evaluation: NFE 101.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9" name="Google Shape;169;p9">
            <a:extLst xmlns:a="http://schemas.openxmlformats.org/drawingml/2006/main">
              <a:ext uri="{FF2B5EF4-FFF2-40B4-BE49-F238E27FC236}">
                <a16:creationId xmlns:a16="http://schemas.microsoft.com/office/drawing/2014/main" id="{F59571F0-70E8-4DB4-9E71-B163E471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74" y="5255369"/>
            <a:ext cx="1962099" cy="263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sz="150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Endpoint estimate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01" name="Google Shape;170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d1ee975027a44ed">
            <a:alphaModFix/>
          </a:blip>
          <a:srcRect xmlns:a="http://schemas.openxmlformats.org/drawingml/2006/main" l="-441" t="0" r="-441" b="0"/>
          <a:stretch xmlns:a="http://schemas.openxmlformats.org/drawingml/2006/main"/>
        </p:blipFill>
        <p:spPr>
          <a:xfrm xmlns:a="http://schemas.openxmlformats.org/drawingml/2006/main">
            <a:off x="3129781" y="5062990"/>
            <a:ext cx="3352774" cy="3619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1" name="Google Shape;171;p9">
            <a:extLst xmlns:a="http://schemas.openxmlformats.org/drawingml/2006/main">
              <a:ext uri="{FF2B5EF4-FFF2-40B4-BE49-F238E27FC236}">
                <a16:creationId xmlns:a16="http://schemas.microsoft.com/office/drawing/2014/main" id="{D3AAB9CC-16C1-4349-AACF-4CF2BAC7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781" y="5462966"/>
            <a:ext cx="8281733" cy="248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sz="13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Tweedie's posterior mean: the diffusion counterpart of x_t + (1 − t)vθ, and what guidance differentiates.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2" name="Google Shape;172;p9">
            <a:extLst xmlns:a="http://schemas.openxmlformats.org/drawingml/2006/main">
              <a:ext uri="{FF2B5EF4-FFF2-40B4-BE49-F238E27FC236}">
                <a16:creationId xmlns:a16="http://schemas.microsoft.com/office/drawing/2014/main" id="{A7BFB23C-65EC-4256-9E2C-2FF63477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5888391"/>
            <a:ext cx="10883529" cy="231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Coordinate and type errors use the same separately normalized masked loss as FM (1c).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3" name="Google Shape;173;p9">
            <a:extLst xmlns:a="http://schemas.openxmlformats.org/drawingml/2006/main">
              <a:ext uri="{FF2B5EF4-FFF2-40B4-BE49-F238E27FC236}">
                <a16:creationId xmlns:a16="http://schemas.microsoft.com/office/drawing/2014/main" id="{2D73927A-BCEE-40DD-B16D-A9F993EA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571" y="330141"/>
            <a:ext cx="1117591" cy="451873"/>
          </a:xfrm>
          <a:prstGeom xmlns:a="http://schemas.openxmlformats.org/drawingml/2006/main" prst="roundRect">
            <a:avLst>
              <a:gd name="adj" fmla="val 19674"/>
            </a:avLst>
          </a:prstGeom>
          <a:solidFill xmlns:a="http://schemas.openxmlformats.org/drawingml/2006/main">
            <a:srgbClr val="1F5FA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>
            <a:extLst xmlns:a="http://schemas.openxmlformats.org/drawingml/2006/main">
              <a:ext uri="{FF2B5EF4-FFF2-40B4-BE49-F238E27FC236}">
                <a16:creationId xmlns:a16="http://schemas.microsoft.com/office/drawing/2014/main" id="{5B1B578B-3CB2-4A3C-90A2-F27602E4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371" y="380941"/>
            <a:ext cx="1015991" cy="375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sz="2400" b="1" i="0" u="none" cap="none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1d</a:t>
            </a: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5" name="Google Shape;175;p9">
            <a:extLst xmlns:a="http://schemas.openxmlformats.org/drawingml/2006/main">
              <a:ext uri="{FF2B5EF4-FFF2-40B4-BE49-F238E27FC236}">
                <a16:creationId xmlns:a16="http://schemas.microsoft.com/office/drawing/2014/main" id="{122E68A5-D294-4FA4-8C82-6F9E220A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6444062"/>
            <a:ext cx="1962099" cy="18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sz="900" b="0" i="0" u="none" cap="none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7 / 29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6" name="Google Shape;176;p9">
            <a:extLst xmlns:a="http://schemas.openxmlformats.org/drawingml/2006/main">
              <a:ext uri="{FF2B5EF4-FFF2-40B4-BE49-F238E27FC236}">
                <a16:creationId xmlns:a16="http://schemas.microsoft.com/office/drawing/2014/main" id="{8E031E27-A278-4B23-866D-A65B09AB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716" y="6455476"/>
            <a:ext cx="8790356" cy="173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sz="900" b="0" i="0" u="none" cap="none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[2] Hoogeboom et al. 2022 (EDM, molecules) · [10] Song et al. 2021 (Score SDE) · [11] Karras et al. 2022 (EDM design space)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77275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EDC2D-A57F-4043-9911-C70FE154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1 · VP DIFFUSION 2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029C0-5650-4BFE-A72F-453548BC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VP diffusion: training and sampling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95536-4092-4E1D-A305-6B2971C7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D36F2-62A8-4670-9529-7F223518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8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0ABA8-E12E-4F6C-9AB7-0A641C00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[9] Satorras et al. 2021 · [10] Song et al. 2021 · checkpoint and 18 benchmark cells measured in this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803D1-B5D2-4BD5-AE4C-9715A150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525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Same architecture, different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2A7BC-5153-4AA3-9E7B-E9853BA2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33575"/>
            <a:ext cx="50958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Use the same EGNNVelocity class and 3.75M parameters. For VP, interpret its coordinate and type outputs as predicted noise ε, and train against noise.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D3379-5D30-4F17-AEF8-48D29873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525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Matched configured recipe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E9CEE-C315-42F7-9DC5-97634242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33575"/>
            <a:ext cx="50958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Same train_a, optimizer, batch size, EMA, clipping, seed and 1,500-epoch budget as FM. A common budget does not imply identical selected checkpoints.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9FC15-A427-49DF-9442-D0845499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766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Selected checkpoint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F90F4-E94A-4BDD-A695-0E64A493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57650"/>
            <a:ext cx="50958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Validation atom stability selects epoch 1,475, with loss as the tie-break. Evaluate its EMA weights (MD5 prefix 8a3390a6). FM uses its final-epoch EMA.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6B22E-4514-4B5C-BA32-E69B2CBC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Sampling and completed benchmark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1D2CE-D29E-47B8-A2DC-CB5C4DA8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50958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100 reverse probability-flow ODE steps + a final denoising evaluation: NFE 101.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18 cells: 2 arms × 3 properties × 3 seeds, 2,000 molecules each.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BA97C-80EE-425D-A29A-E4A451EA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VP results are complete. VP used B200 MIG hardware, so cross-family runtimes are not matched.</a:t>
            </a:r>
          </a:p>
        </p:txBody>
      </p:sp>
    </p:spTree>
    <p:extLst>
      <p:ext uri="{BB962C8B-B14F-4D97-AF65-F5344CB8AC3E}">
        <p14:creationId xmlns:p14="http://schemas.microsoft.com/office/powerpoint/2010/main" val="17133268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BC5F7-B7EF-4BC9-A979-1C4031FD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1 · COMPARISON PROTOCOL 1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576A7-5D07-4983-AF8E-5866045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Evaluation protocol and fixed molecule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495EA-2DD4-499D-9989-27D40790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AC86B-03CC-4B73-AB53-8946A159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9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86A3A-046D-49F2-81B2-D13A174C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Registered QM9 protocol · transfer_sweep.py:2382–2426 · verified data/qm9.pt validation masks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809625" y="1447800"/>
          <a:ext xmlns:a="http://schemas.openxmlformats.org/drawingml/2006/main" cx="10572750" cy="2686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8001000"/>
              </a:tblGrid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Protocol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QM9 headline comparison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Target and band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Training median q50. δ = 2 × evaluator calibration MAE.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Band half-widths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μ: 0.17541 D     α: 0.5062 Bohr³     gap: 0.00748 Ha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Sampling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 seeds × 2,000 samples. Four batches of 500 per seed.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Guidance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100 Euler steps. Guide in the second half, headline w = 1.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Uncertainty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Mean ± seed SD. Registered pooled-binomial |z| ≥ 2.99 (18 contrasts).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9EB1A-63DB-4156-856C-09F75C7A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434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The same 2,000 atom counts in every arm, seed and 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EF429-FA1E-432F-9BA3-284056DC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006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Molecule i uses validation mask i. Seeds change initial noise only. No histogram draw, target-dependent sizing or size filtering.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55FCC-999D-47F7-BD99-BF36030C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245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Size distribution: min 8   median 18   mean 17.87   max 29 atoms. Every size receives the same q50 target.</a:t>
            </a:r>
          </a:p>
        </p:txBody>
      </p:sp>
    </p:spTree>
    <p:extLst>
      <p:ext uri="{BB962C8B-B14F-4D97-AF65-F5344CB8AC3E}">
        <p14:creationId xmlns:p14="http://schemas.microsoft.com/office/powerpoint/2010/main" val="12687426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61FE5-6551-4E55-9D2F-8064352B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1 · COMPARISON PROTOCOL 2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71A51-E235-4629-A3AD-53162653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Matched factors and disclosed differences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DA706-8A74-49A8-820B-F934CE09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F8A86-B0EB-40F4-B932-BA87F2B9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10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53507-3FAA-45E6-8D67-EB597358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protocol and checkpoint metadata (this work) · [9] Satorras et al. 2021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09625" y="1543050"/>
          <a:ext xmlns:a="http://schemas.openxmlformats.org/drawingml/2006/main" cx="10572750" cy="3429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62125"/>
                <a:gridCol w="4305300"/>
                <a:gridCol w="4505325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Factor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Held fixed for our FM and VP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Difference to retain in interpretation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Data + architecture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train_a, masks, EGNN 256 × 8, 3.75M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Linear path / velocity vs VP process / noise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Training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Optimizer, batch, EMA, clip, seed, budget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FM final EMA 1500 / VP selected EMA 1475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Sampling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100 ODE steps, same initial seeds + sizes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VP adds final denoising: NFE 101 vs 100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Evaluation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Same f_A, f_B, targets, bands and decoding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FM: RTX A6000 / VP: B200 MIG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Borrowed backends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Same evaluation procedure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Different training, scales and predictor pairs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0F6F8-6CD0-42F3-B192-CCBA7CBA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What coverage measures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6BCEF-CF0E-4AF3-91A0-A95802C0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5095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It includes invalid molecules and inherits f_B’s prediction error. Report stability and validity beside coverage.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765EA-7424-4212-8361-006F0E5B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What the uncertainty measures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AAB55-FBA4-4A19-A1D6-2F00B2F0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5095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Seed SD describes run variation. Batch feedback couples samples, so pooled binomial tests have an independence limitation.</a:t>
            </a:r>
          </a:p>
        </p:txBody>
      </p:sp>
    </p:spTree>
    <p:extLst>
      <p:ext uri="{BB962C8B-B14F-4D97-AF65-F5344CB8AC3E}">
        <p14:creationId xmlns:p14="http://schemas.microsoft.com/office/powerpoint/2010/main" val="6314370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1" name="Google Shape;241;p13">
            <a:extLst xmlns:a="http://schemas.openxmlformats.org/drawingml/2006/main">
              <a:ext uri="{FF2B5EF4-FFF2-40B4-BE49-F238E27FC236}">
                <a16:creationId xmlns:a16="http://schemas.microsoft.com/office/drawing/2014/main" id="{2C84DCA9-1992-4CFA-9FA7-5A41AD2D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507938"/>
            <a:ext cx="10883529" cy="238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sz="1200" b="1" i="0" u="none" cap="none">
                <a:solidFill>
                  <a:srgbClr val="1F5FA9"/>
                </a:solidFill>
                <a:latin typeface="IBM Plex Sans"/>
                <a:ea typeface="IBM Plex Sans"/>
                <a:cs typeface="IBM Plex Sans"/>
              </a:rPr>
              <a:t>PART 1 · SET UP THE STUDY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2" name="Google Shape;242;p13">
            <a:extLst xmlns:a="http://schemas.openxmlformats.org/drawingml/2006/main">
              <a:ext uri="{FF2B5EF4-FFF2-40B4-BE49-F238E27FC236}">
                <a16:creationId xmlns:a16="http://schemas.microsoft.com/office/drawing/2014/main" id="{02BC3415-790C-49E7-9CA7-CD893640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746689"/>
            <a:ext cx="10883529" cy="416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sz="2800" b="1" i="0" u="none" cap="none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Study overview: one rule, two state spaces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3" name="Google Shape;243;p13">
            <a:extLst xmlns:a="http://schemas.openxmlformats.org/drawingml/2006/main">
              <a:ext uri="{FF2B5EF4-FFF2-40B4-BE49-F238E27FC236}">
                <a16:creationId xmlns:a16="http://schemas.microsoft.com/office/drawing/2014/main" id="{38310412-7FFA-42C6-B0DE-8DE5A777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1257257"/>
            <a:ext cx="2158920" cy="293097"/>
          </a:xfrm>
          <a:prstGeom xmlns:a="http://schemas.openxmlformats.org/drawingml/2006/main" prst="roundRect">
            <a:avLst>
              <a:gd name="adj" fmla="val 17332"/>
            </a:avLst>
          </a:prstGeom>
          <a:solidFill xmlns:a="http://schemas.openxmlformats.org/drawingml/2006/main">
            <a:srgbClr val="1F5FA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">
            <a:extLst xmlns:a="http://schemas.openxmlformats.org/drawingml/2006/main">
              <a:ext uri="{FF2B5EF4-FFF2-40B4-BE49-F238E27FC236}">
                <a16:creationId xmlns:a16="http://schemas.microsoft.com/office/drawing/2014/main" id="{23EDFF93-5040-4134-8F59-8012D850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336" y="1301707"/>
            <a:ext cx="2223687" cy="2295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150"/>
              <a:buFont typeface="IBM Plex Sans"/>
              <a:buNone/>
            </a:pPr>
            <a:r>
              <a:rPr sz="1150" b="1" i="0" u="none" cap="none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1 · BASELINES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5" name="Google Shape;245;p13">
            <a:extLst xmlns:a="http://schemas.openxmlformats.org/drawingml/2006/main">
              <a:ext uri="{FF2B5EF4-FFF2-40B4-BE49-F238E27FC236}">
                <a16:creationId xmlns:a16="http://schemas.microsoft.com/office/drawing/2014/main" id="{8F7EF6D3-7F4B-43EC-968A-D5B349CB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571" y="1257257"/>
            <a:ext cx="2158920" cy="293097"/>
          </a:xfrm>
          <a:prstGeom xmlns:a="http://schemas.openxmlformats.org/drawingml/2006/main" prst="roundRect">
            <a:avLst>
              <a:gd name="adj" fmla="val 17332"/>
            </a:avLst>
          </a:prstGeom>
          <a:solidFill xmlns:a="http://schemas.openxmlformats.org/drawingml/2006/main">
            <a:srgbClr val="1F5FA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">
            <a:extLst xmlns:a="http://schemas.openxmlformats.org/drawingml/2006/main">
              <a:ext uri="{FF2B5EF4-FFF2-40B4-BE49-F238E27FC236}">
                <a16:creationId xmlns:a16="http://schemas.microsoft.com/office/drawing/2014/main" id="{D1003287-0955-484B-89BC-28FE8BCC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187" y="1301707"/>
            <a:ext cx="2223687" cy="2295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150"/>
              <a:buFont typeface="IBM Plex Sans"/>
              <a:buNone/>
            </a:pPr>
            <a:r>
              <a:rPr sz="1150" b="1" i="0" u="none" cap="none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2 · DOES GUIDANCE WORK?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7" name="Google Shape;247;p13">
            <a:extLst xmlns:a="http://schemas.openxmlformats.org/drawingml/2006/main">
              <a:ext uri="{FF2B5EF4-FFF2-40B4-BE49-F238E27FC236}">
                <a16:creationId xmlns:a16="http://schemas.microsoft.com/office/drawing/2014/main" id="{9EF4639C-CAA8-47C1-A5B9-8B64CF55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332" y="1257257"/>
            <a:ext cx="2158920" cy="293097"/>
          </a:xfrm>
          <a:prstGeom xmlns:a="http://schemas.openxmlformats.org/drawingml/2006/main" prst="roundRect">
            <a:avLst>
              <a:gd name="adj" fmla="val 17332"/>
            </a:avLst>
          </a:prstGeom>
          <a:solidFill xmlns:a="http://schemas.openxmlformats.org/drawingml/2006/main">
            <a:srgbClr val="1F5FA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>
            <a:extLst xmlns:a="http://schemas.openxmlformats.org/drawingml/2006/main">
              <a:ext uri="{FF2B5EF4-FFF2-40B4-BE49-F238E27FC236}">
                <a16:creationId xmlns:a16="http://schemas.microsoft.com/office/drawing/2014/main" id="{C9820E9E-05D7-4E4D-B127-615A505F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948" y="1301707"/>
            <a:ext cx="2223687" cy="2295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150"/>
              <a:buFont typeface="IBM Plex Sans"/>
              <a:buNone/>
            </a:pPr>
            <a:r>
              <a:rPr sz="1150" b="1" i="0" u="none" cap="none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3 · THE INNOVATION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9" name="Google Shape;249;p13">
            <a:extLst xmlns:a="http://schemas.openxmlformats.org/drawingml/2006/main">
              <a:ext uri="{FF2B5EF4-FFF2-40B4-BE49-F238E27FC236}">
                <a16:creationId xmlns:a16="http://schemas.microsoft.com/office/drawing/2014/main" id="{F5409BE9-12D9-4B15-82E1-BD33B715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183" y="1257257"/>
            <a:ext cx="2158920" cy="293097"/>
          </a:xfrm>
          <a:prstGeom xmlns:a="http://schemas.openxmlformats.org/drawingml/2006/main" prst="roundRect">
            <a:avLst>
              <a:gd name="adj" fmla="val 17332"/>
            </a:avLst>
          </a:prstGeom>
          <a:solidFill xmlns:a="http://schemas.openxmlformats.org/drawingml/2006/main">
            <a:srgbClr val="1F5FA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>
            <a:extLst xmlns:a="http://schemas.openxmlformats.org/drawingml/2006/main">
              <a:ext uri="{FF2B5EF4-FFF2-40B4-BE49-F238E27FC236}">
                <a16:creationId xmlns:a16="http://schemas.microsoft.com/office/drawing/2014/main" id="{5F6A4571-2545-4612-B404-CFF14887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799" y="1301707"/>
            <a:ext cx="2223687" cy="2295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150"/>
              <a:buFont typeface="IBM Plex Sans"/>
              <a:buNone/>
            </a:pPr>
            <a:r>
              <a:rPr sz="1150" b="1" i="0" u="none" cap="none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4 · EVIDENCE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1" name="Google Shape;251;p13">
            <a:extLst xmlns:a="http://schemas.openxmlformats.org/drawingml/2006/main">
              <a:ext uri="{FF2B5EF4-FFF2-40B4-BE49-F238E27FC236}">
                <a16:creationId xmlns:a16="http://schemas.microsoft.com/office/drawing/2014/main" id="{18FD1ED1-8204-4958-A574-86118631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1600169"/>
            <a:ext cx="2223687" cy="211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050"/>
              <a:buFont typeface="IBM Plex Sans"/>
              <a:buNone/>
            </a:pPr>
            <a:r>
              <a:rPr sz="1050" b="1" i="0" u="none" cap="none">
                <a:solidFill>
                  <a:srgbClr val="1F5FA9"/>
                </a:solidFill>
                <a:latin typeface="IBM Plex Sans"/>
                <a:ea typeface="IBM Plex Sans"/>
                <a:cs typeface="IBM Plex Sans"/>
              </a:rPr>
              <a:t>MODALITY 1 · QM9 MOLECULES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2" name="Google Shape;252;p13">
            <a:extLst xmlns:a="http://schemas.openxmlformats.org/drawingml/2006/main">
              <a:ext uri="{FF2B5EF4-FFF2-40B4-BE49-F238E27FC236}">
                <a16:creationId xmlns:a16="http://schemas.microsoft.com/office/drawing/2014/main" id="{2658CA63-3997-4B03-B4C3-6B03B1CF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3416269"/>
            <a:ext cx="2616163" cy="211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050"/>
              <a:buFont typeface="IBM Plex Sans"/>
              <a:buNone/>
            </a:pPr>
            <a:r>
              <a:rPr sz="1050" b="1" i="0" u="none" cap="none">
                <a:solidFill>
                  <a:srgbClr val="1F5FA9"/>
                </a:solidFill>
                <a:latin typeface="IBM Plex Sans"/>
                <a:ea typeface="IBM Plex Sans"/>
                <a:cs typeface="IBM Plex Sans"/>
              </a:rPr>
              <a:t>MODALITY 2 · DEEPFLYBRAIN DNA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3" name="Google Shape;253;p13">
            <a:extLst xmlns:a="http://schemas.openxmlformats.org/drawingml/2006/main">
              <a:ext uri="{FF2B5EF4-FFF2-40B4-BE49-F238E27FC236}">
                <a16:creationId xmlns:a16="http://schemas.microsoft.com/office/drawing/2014/main" id="{F31717EB-2D0F-488F-924E-6B3852C8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95" y="1857313"/>
            <a:ext cx="2152570" cy="1301718"/>
          </a:xfrm>
          <a:prstGeom xmlns:a="http://schemas.openxmlformats.org/drawingml/2006/main" prst="roundRect">
            <a:avLst>
              <a:gd name="adj" fmla="val 5610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 cmpd="sng">
            <a:solidFill>
              <a:srgbClr val="DDD9C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">
            <a:extLst xmlns:a="http://schemas.openxmlformats.org/drawingml/2006/main">
              <a:ext uri="{FF2B5EF4-FFF2-40B4-BE49-F238E27FC236}">
                <a16:creationId xmlns:a16="http://schemas.microsoft.com/office/drawing/2014/main" id="{0764E746-8ECB-4CA0-8CFB-25FE35EC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01" y="1961468"/>
            <a:ext cx="1950158" cy="215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50"/>
              <a:buFont typeface="IBM Plex Sans"/>
              <a:buNone/>
            </a:pPr>
            <a:r>
              <a:rPr sz="125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Train two, matched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5" name="Google Shape;255;p13">
            <a:extLst xmlns:a="http://schemas.openxmlformats.org/drawingml/2006/main">
              <a:ext uri="{FF2B5EF4-FFF2-40B4-BE49-F238E27FC236}">
                <a16:creationId xmlns:a16="http://schemas.microsoft.com/office/drawing/2014/main" id="{57B69E05-F72E-47F9-92F1-5E27C3E2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01" y="2196325"/>
            <a:ext cx="1950158" cy="388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00"/>
              <a:buFont typeface="IBM Plex Sans"/>
              <a:buNone/>
            </a:pPr>
            <a:r>
              <a:rPr sz="11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Flow matching and VP diffusion, one recipe (1c–1e)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6" name="Google Shape;256;p13">
            <a:extLst xmlns:a="http://schemas.openxmlformats.org/drawingml/2006/main">
              <a:ext uri="{FF2B5EF4-FFF2-40B4-BE49-F238E27FC236}">
                <a16:creationId xmlns:a16="http://schemas.microsoft.com/office/drawing/2014/main" id="{D9B07A0E-5684-4EFF-8891-CD5473DB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01" y="2603729"/>
            <a:ext cx="1950158" cy="206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00"/>
              <a:buFont typeface="IBM Plex Sans"/>
              <a:buNone/>
            </a:pPr>
            <a:r>
              <a:rPr sz="1100" b="1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FM carried forward</a:t>
            </a:r>
            <a:r>
              <a:rPr sz="11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 (2a)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7" name="Google Shape;257;p13">
            <a:extLst xmlns:a="http://schemas.openxmlformats.org/drawingml/2006/main">
              <a:ext uri="{FF2B5EF4-FFF2-40B4-BE49-F238E27FC236}">
                <a16:creationId xmlns:a16="http://schemas.microsoft.com/office/drawing/2014/main" id="{6230E2B1-74A2-4ED9-B942-C62A4B4F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46" y="1857313"/>
            <a:ext cx="2152570" cy="1301718"/>
          </a:xfrm>
          <a:prstGeom xmlns:a="http://schemas.openxmlformats.org/drawingml/2006/main" prst="roundRect">
            <a:avLst>
              <a:gd name="adj" fmla="val 5610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 cmpd="sng">
            <a:solidFill>
              <a:srgbClr val="DDD9C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">
            <a:extLst xmlns:a="http://schemas.openxmlformats.org/drawingml/2006/main">
              <a:ext uri="{FF2B5EF4-FFF2-40B4-BE49-F238E27FC236}">
                <a16:creationId xmlns:a16="http://schemas.microsoft.com/office/drawing/2014/main" id="{E0D14B0C-5967-432E-AF68-9C516F40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352" y="1961468"/>
            <a:ext cx="1950158" cy="215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50"/>
              <a:buFont typeface="IBM Plex Sans"/>
              <a:buNone/>
            </a:pPr>
            <a:r>
              <a:rPr sz="125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Frozen FM + frozen f_A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9" name="Google Shape;259;p13">
            <a:extLst xmlns:a="http://schemas.openxmlformats.org/drawingml/2006/main">
              <a:ext uri="{FF2B5EF4-FFF2-40B4-BE49-F238E27FC236}">
                <a16:creationId xmlns:a16="http://schemas.microsoft.com/office/drawing/2014/main" id="{4E967E2A-6F3D-454A-A77F-71AC0562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352" y="2196325"/>
            <a:ext cx="1950158" cy="388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00"/>
              <a:buFont typeface="IBM Plex Sans"/>
              <a:buNone/>
            </a:pPr>
            <a:r>
              <a:rPr sz="11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Unguided vs DPS-style plug-in, w = 1, t ≥ 0.5 (2b)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0" name="Google Shape;260;p13">
            <a:extLst xmlns:a="http://schemas.openxmlformats.org/drawingml/2006/main">
              <a:ext uri="{FF2B5EF4-FFF2-40B4-BE49-F238E27FC236}">
                <a16:creationId xmlns:a16="http://schemas.microsoft.com/office/drawing/2014/main" id="{52846888-F965-46AD-8D57-1BC8B40F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9358" y="1857313"/>
            <a:ext cx="2152570" cy="1301718"/>
          </a:xfrm>
          <a:prstGeom xmlns:a="http://schemas.openxmlformats.org/drawingml/2006/main" prst="roundRect">
            <a:avLst>
              <a:gd name="adj" fmla="val 5610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 cmpd="sng">
            <a:solidFill>
              <a:srgbClr val="DDD9C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>
            <a:extLst xmlns:a="http://schemas.openxmlformats.org/drawingml/2006/main">
              <a:ext uri="{FF2B5EF4-FFF2-40B4-BE49-F238E27FC236}">
                <a16:creationId xmlns:a16="http://schemas.microsoft.com/office/drawing/2014/main" id="{6C1A990A-4E84-45EE-B212-301C224F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964" y="1961468"/>
            <a:ext cx="1950158" cy="19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63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102"/>
              <a:buFont typeface="IBM Plex Sans"/>
              <a:buNone/>
            </a:pPr>
            <a:r>
              <a:rPr sz="1102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Ablations + comparison</a:t>
            </a:r>
            <a:endParaRPr sz="1102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2" name="Google Shape;262;p13">
            <a:extLst xmlns:a="http://schemas.openxmlformats.org/drawingml/2006/main">
              <a:ext uri="{FF2B5EF4-FFF2-40B4-BE49-F238E27FC236}">
                <a16:creationId xmlns:a16="http://schemas.microsoft.com/office/drawing/2014/main" id="{FC9F4099-4176-4DF5-8AF4-EF536D20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964" y="2172413"/>
            <a:ext cx="1950158" cy="342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3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968"/>
              <a:buFont typeface="IBM Plex Sans"/>
              <a:buNone/>
            </a:pPr>
            <a:r>
              <a:rPr sz="969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η = 0, gain, setpoint — 612 cells (2d)</a:t>
            </a:r>
            <a:endParaRPr sz="969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3" name="Google Shape;263;p13">
            <a:extLst xmlns:a="http://schemas.openxmlformats.org/drawingml/2006/main">
              <a:ext uri="{FF2B5EF4-FFF2-40B4-BE49-F238E27FC236}">
                <a16:creationId xmlns:a16="http://schemas.microsoft.com/office/drawing/2014/main" id="{01D32415-81F8-4408-8BF8-A69C7E3C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964" y="2534258"/>
            <a:ext cx="1950158" cy="342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3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968"/>
              <a:buFont typeface="IBM Plex Sans"/>
              <a:buNone/>
            </a:pPr>
            <a:r>
              <a:rPr sz="969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vs plug-in · TMPD · LGD-MC · TFG (2e)</a:t>
            </a:r>
            <a:endParaRPr sz="969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4" name="Google Shape;264;p13">
            <a:extLst xmlns:a="http://schemas.openxmlformats.org/drawingml/2006/main">
              <a:ext uri="{FF2B5EF4-FFF2-40B4-BE49-F238E27FC236}">
                <a16:creationId xmlns:a16="http://schemas.microsoft.com/office/drawing/2014/main" id="{4E7F1B86-94CA-4AF8-A9FE-F0AFE16B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964" y="2896102"/>
            <a:ext cx="1950158" cy="184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980"/>
              <a:buFont typeface="IBM Plex Sans"/>
              <a:buNone/>
            </a:pPr>
            <a:r>
              <a:rPr sz="98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Scored by held-out f_B</a:t>
            </a:r>
            <a:endParaRPr sz="98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5" name="Google Shape;265;p13">
            <a:extLst xmlns:a="http://schemas.openxmlformats.org/drawingml/2006/main">
              <a:ext uri="{FF2B5EF4-FFF2-40B4-BE49-F238E27FC236}">
                <a16:creationId xmlns:a16="http://schemas.microsoft.com/office/drawing/2014/main" id="{BC715826-942B-48A2-9B67-D48A3D68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95" y="3673413"/>
            <a:ext cx="2152570" cy="1301718"/>
          </a:xfrm>
          <a:prstGeom xmlns:a="http://schemas.openxmlformats.org/drawingml/2006/main" prst="roundRect">
            <a:avLst>
              <a:gd name="adj" fmla="val 5610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 cmpd="sng">
            <a:solidFill>
              <a:srgbClr val="DDD9C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>
            <a:extLst xmlns:a="http://schemas.openxmlformats.org/drawingml/2006/main">
              <a:ext uri="{FF2B5EF4-FFF2-40B4-BE49-F238E27FC236}">
                <a16:creationId xmlns:a16="http://schemas.microsoft.com/office/drawing/2014/main" id="{0641F878-5820-4F21-B563-F6D830DF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01" y="3777568"/>
            <a:ext cx="1950158" cy="215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50"/>
              <a:buFont typeface="IBM Plex Sans"/>
              <a:buNone/>
            </a:pPr>
            <a:r>
              <a:rPr sz="125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Train one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7" name="Google Shape;267;p13">
            <a:extLst xmlns:a="http://schemas.openxmlformats.org/drawingml/2006/main">
              <a:ext uri="{FF2B5EF4-FFF2-40B4-BE49-F238E27FC236}">
                <a16:creationId xmlns:a16="http://schemas.microsoft.com/office/drawing/2014/main" id="{AD0EE6FF-AF04-45C6-8D9E-9FC69391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01" y="4012425"/>
            <a:ext cx="1950158" cy="388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00"/>
              <a:buFont typeface="IBM Plex Sans"/>
              <a:buNone/>
            </a:pPr>
            <a:r>
              <a:rPr sz="11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Simplex flow matching, Dirichlet → one-hot (3a)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8" name="Google Shape;268;p13">
            <a:extLst xmlns:a="http://schemas.openxmlformats.org/drawingml/2006/main">
              <a:ext uri="{FF2B5EF4-FFF2-40B4-BE49-F238E27FC236}">
                <a16:creationId xmlns:a16="http://schemas.microsoft.com/office/drawing/2014/main" id="{9212026B-96D9-4D92-8C96-144FFE98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46" y="3673413"/>
            <a:ext cx="2152570" cy="1301718"/>
          </a:xfrm>
          <a:prstGeom xmlns:a="http://schemas.openxmlformats.org/drawingml/2006/main" prst="roundRect">
            <a:avLst>
              <a:gd name="adj" fmla="val 5610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 cmpd="sng">
            <a:solidFill>
              <a:srgbClr val="DDD9C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>
            <a:extLst xmlns:a="http://schemas.openxmlformats.org/drawingml/2006/main">
              <a:ext uri="{FF2B5EF4-FFF2-40B4-BE49-F238E27FC236}">
                <a16:creationId xmlns:a16="http://schemas.microsoft.com/office/drawing/2014/main" id="{2332D206-FCEF-46F9-A82F-BF6FDEE3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352" y="3777568"/>
            <a:ext cx="1950158" cy="406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50"/>
              <a:buFont typeface="IBM Plex Sans"/>
              <a:buNone/>
            </a:pPr>
            <a:r>
              <a:rPr sz="125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Frozen CNN + analytic guide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0" name="Google Shape;270;p13">
            <a:extLst xmlns:a="http://schemas.openxmlformats.org/drawingml/2006/main">
              <a:ext uri="{FF2B5EF4-FFF2-40B4-BE49-F238E27FC236}">
                <a16:creationId xmlns:a16="http://schemas.microsoft.com/office/drawing/2014/main" id="{5E566FA0-D3D3-4162-9AF8-C8FA808B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352" y="4202900"/>
            <a:ext cx="1950158" cy="388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00"/>
              <a:buFont typeface="IBM Plex Sans"/>
              <a:buNone/>
            </a:pPr>
            <a:r>
              <a:rPr sz="11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Soft GC or CpG steers; each step projected back (3a)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1" name="Google Shape;271;p13">
            <a:extLst xmlns:a="http://schemas.openxmlformats.org/drawingml/2006/main">
              <a:ext uri="{FF2B5EF4-FFF2-40B4-BE49-F238E27FC236}">
                <a16:creationId xmlns:a16="http://schemas.microsoft.com/office/drawing/2014/main" id="{3B43D518-DEE2-4950-9C5C-D11DC0B5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9358" y="3673413"/>
            <a:ext cx="2152570" cy="1301718"/>
          </a:xfrm>
          <a:prstGeom xmlns:a="http://schemas.openxmlformats.org/drawingml/2006/main" prst="roundRect">
            <a:avLst>
              <a:gd name="adj" fmla="val 5610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 cmpd="sng">
            <a:solidFill>
              <a:srgbClr val="DDD9C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>
            <a:extLst xmlns:a="http://schemas.openxmlformats.org/drawingml/2006/main">
              <a:ext uri="{FF2B5EF4-FFF2-40B4-BE49-F238E27FC236}">
                <a16:creationId xmlns:a16="http://schemas.microsoft.com/office/drawing/2014/main" id="{B8F93496-A00F-49BF-A3E0-E2D63149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964" y="3777568"/>
            <a:ext cx="1950158" cy="215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50"/>
              <a:buFont typeface="IBM Plex Sans"/>
              <a:buNone/>
            </a:pPr>
            <a:r>
              <a:rPr sz="125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Transfer comparison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3" name="Google Shape;273;p13">
            <a:extLst xmlns:a="http://schemas.openxmlformats.org/drawingml/2006/main">
              <a:ext uri="{FF2B5EF4-FFF2-40B4-BE49-F238E27FC236}">
                <a16:creationId xmlns:a16="http://schemas.microsoft.com/office/drawing/2014/main" id="{C78DAEF3-F31C-4904-8DCD-2C366DAC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964" y="4012425"/>
            <a:ext cx="1950158" cy="388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00"/>
              <a:buFont typeface="IBM Plex Sans"/>
              <a:buNone/>
            </a:pPr>
            <a:r>
              <a:rPr sz="11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vs plug-in · TMPD · LGD-MC · TFG-MC (3b)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4" name="Google Shape;274;p13">
            <a:extLst xmlns:a="http://schemas.openxmlformats.org/drawingml/2006/main">
              <a:ext uri="{FF2B5EF4-FFF2-40B4-BE49-F238E27FC236}">
                <a16:creationId xmlns:a16="http://schemas.microsoft.com/office/drawing/2014/main" id="{311CCA7C-FA51-44E8-844E-14A185DA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964" y="4419829"/>
            <a:ext cx="1950158" cy="388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00"/>
              <a:buFont typeface="IBM Plex Sans"/>
              <a:buNone/>
            </a:pPr>
            <a:r>
              <a:rPr sz="11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Scored by exact counts + 3-mer JSD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5" name="Google Shape;275;p13">
            <a:extLst xmlns:a="http://schemas.openxmlformats.org/drawingml/2006/main">
              <a:ext uri="{FF2B5EF4-FFF2-40B4-BE49-F238E27FC236}">
                <a16:creationId xmlns:a16="http://schemas.microsoft.com/office/drawing/2014/main" id="{DFA54076-2DB7-458A-99C0-0D6F955F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857" y="1863663"/>
            <a:ext cx="2139870" cy="3105116"/>
          </a:xfrm>
          <a:prstGeom xmlns:a="http://schemas.openxmlformats.org/drawingml/2006/main" prst="roundRect">
            <a:avLst>
              <a:gd name="adj" fmla="val 3709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19050" cmpd="sng">
            <a:solidFill>
              <a:srgbClr val="5B3E9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>
            <a:extLst xmlns:a="http://schemas.openxmlformats.org/drawingml/2006/main">
              <a:ext uri="{FF2B5EF4-FFF2-40B4-BE49-F238E27FC236}">
                <a16:creationId xmlns:a16="http://schemas.microsoft.com/office/drawing/2014/main" id="{5EBB2240-260E-441A-9923-0762407B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067" y="2497851"/>
            <a:ext cx="1874032" cy="253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3E9B"/>
              </a:buClr>
              <a:buSzPts val="1500"/>
              <a:buFont typeface="IBM Plex Sans"/>
              <a:buNone/>
            </a:pPr>
            <a:r>
              <a:rPr sz="1500" b="1" i="0" u="none" cap="none">
                <a:solidFill>
                  <a:srgbClr val="5B3E9B"/>
                </a:solidFill>
                <a:latin typeface="IBM Plex Sans"/>
                <a:ea typeface="IBM Plex Sans"/>
                <a:cs typeface="IBM Plex Sans"/>
              </a:rPr>
              <a:t>BDG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7" name="Google Shape;277;p13">
            <a:extLst xmlns:a="http://schemas.openxmlformats.org/drawingml/2006/main">
              <a:ext uri="{FF2B5EF4-FFF2-40B4-BE49-F238E27FC236}">
                <a16:creationId xmlns:a16="http://schemas.microsoft.com/office/drawing/2014/main" id="{13C5662D-0B94-456C-A2FA-1B40D5F5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067" y="2802539"/>
            <a:ext cx="1874032" cy="616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43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50"/>
              <a:buFont typeface="IBM Plex Sans"/>
              <a:buNone/>
            </a:pPr>
            <a:r>
              <a:rPr sz="115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Ask for a spread: setpoint </a:t>
            </a:r>
            <a:r>
              <a:rPr sz="1150" b="1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τ</a:t>
            </a:r>
            <a:r>
              <a:rPr sz="115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gain </a:t>
            </a:r>
            <a:r>
              <a:rPr sz="1150" b="1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η</a:t>
            </a:r>
            <a:r>
              <a:rPr sz="115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 → the deviation gain w_eff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8" name="Google Shape;278;p13">
            <a:extLst xmlns:a="http://schemas.openxmlformats.org/drawingml/2006/main">
              <a:ext uri="{FF2B5EF4-FFF2-40B4-BE49-F238E27FC236}">
                <a16:creationId xmlns:a16="http://schemas.microsoft.com/office/drawing/2014/main" id="{8C267C5D-91D0-4980-B356-A20AB8D9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067" y="3469977"/>
            <a:ext cx="1874032" cy="222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43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50"/>
              <a:buFont typeface="IBM Plex Sans"/>
              <a:buNone/>
            </a:pPr>
            <a:r>
              <a:rPr sz="115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Plug-in is exactly </a:t>
            </a:r>
            <a:r>
              <a:rPr sz="1150" b="1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η = 0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9" name="Google Shape;279;p13">
            <a:extLst xmlns:a="http://schemas.openxmlformats.org/drawingml/2006/main">
              <a:ext uri="{FF2B5EF4-FFF2-40B4-BE49-F238E27FC236}">
                <a16:creationId xmlns:a16="http://schemas.microsoft.com/office/drawing/2014/main" id="{1DE5A6B4-CD80-4B96-97B9-2421377F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067" y="3743238"/>
            <a:ext cx="1874032" cy="616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43"/>
              </a:lnSpc>
              <a:spcBef>
                <a:spcPts val="0"/>
              </a:spcBef>
              <a:spcAft>
                <a:spcPts val="0"/>
              </a:spcAft>
              <a:buClr>
                <a:srgbClr val="5B3E9B"/>
              </a:buClr>
              <a:buSzPts val="1150"/>
              <a:buFont typeface="IBM Plex Sans"/>
              <a:buNone/>
            </a:pPr>
            <a:r>
              <a:rPr sz="1150" b="1" i="0" u="none" cap="none">
                <a:solidFill>
                  <a:srgbClr val="5B3E9B"/>
                </a:solidFill>
                <a:latin typeface="IBM Plex Sans"/>
                <a:ea typeface="IBM Plex Sans"/>
                <a:cs typeface="IBM Plex Sans"/>
              </a:rPr>
              <a:t>The same rule and the same code in both modalities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36" name="Google Shape;280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39e0ac27c64cd9">
            <a:alphaModFix/>
          </a:blip>
          <a:srcRect xmlns:a="http://schemas.openxmlformats.org/drawingml/2006/main" l="-29" t="0" r="-29" b="0"/>
          <a:stretch xmlns:a="http://schemas.openxmlformats.org/drawingml/2006/main"/>
        </p:blipFill>
        <p:spPr>
          <a:xfrm xmlns:a="http://schemas.openxmlformats.org/drawingml/2006/main">
            <a:off x="2971730" y="2457363"/>
            <a:ext cx="558750" cy="1015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7" name="Google Shape;281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39e0ac27c64cd9">
            <a:alphaModFix/>
          </a:blip>
          <a:srcRect xmlns:a="http://schemas.openxmlformats.org/drawingml/2006/main" l="-29" t="0" r="-29" b="0"/>
          <a:stretch xmlns:a="http://schemas.openxmlformats.org/drawingml/2006/main"/>
        </p:blipFill>
        <p:spPr>
          <a:xfrm xmlns:a="http://schemas.openxmlformats.org/drawingml/2006/main">
            <a:off x="5689581" y="2457363"/>
            <a:ext cx="558750" cy="1015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8" name="Google Shape;282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39e0ac27c64cd9">
            <a:alphaModFix/>
          </a:blip>
          <a:srcRect xmlns:a="http://schemas.openxmlformats.org/drawingml/2006/main" l="-29" t="0" r="-29" b="0"/>
          <a:stretch xmlns:a="http://schemas.openxmlformats.org/drawingml/2006/main"/>
        </p:blipFill>
        <p:spPr>
          <a:xfrm xmlns:a="http://schemas.openxmlformats.org/drawingml/2006/main">
            <a:off x="8407342" y="2457363"/>
            <a:ext cx="558750" cy="1015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9" name="Google Shape;283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39e0ac27c64cd9">
            <a:alphaModFix/>
          </a:blip>
          <a:srcRect xmlns:a="http://schemas.openxmlformats.org/drawingml/2006/main" l="-29" t="0" r="-29" b="0"/>
          <a:stretch xmlns:a="http://schemas.openxmlformats.org/drawingml/2006/main"/>
        </p:blipFill>
        <p:spPr>
          <a:xfrm xmlns:a="http://schemas.openxmlformats.org/drawingml/2006/main">
            <a:off x="2971730" y="4273550"/>
            <a:ext cx="558750" cy="1015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0" name="Google Shape;284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39e0ac27c64cd9">
            <a:alphaModFix/>
          </a:blip>
          <a:srcRect xmlns:a="http://schemas.openxmlformats.org/drawingml/2006/main" l="-29" t="0" r="-29" b="0"/>
          <a:stretch xmlns:a="http://schemas.openxmlformats.org/drawingml/2006/main"/>
        </p:blipFill>
        <p:spPr>
          <a:xfrm xmlns:a="http://schemas.openxmlformats.org/drawingml/2006/main">
            <a:off x="5689581" y="4273550"/>
            <a:ext cx="558750" cy="1015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1" name="Google Shape;285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39e0ac27c64cd9">
            <a:alphaModFix/>
          </a:blip>
          <a:srcRect xmlns:a="http://schemas.openxmlformats.org/drawingml/2006/main" l="-29" t="0" r="-29" b="0"/>
          <a:stretch xmlns:a="http://schemas.openxmlformats.org/drawingml/2006/main"/>
        </p:blipFill>
        <p:spPr>
          <a:xfrm xmlns:a="http://schemas.openxmlformats.org/drawingml/2006/main">
            <a:off x="8407342" y="4273550"/>
            <a:ext cx="558750" cy="1015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86" name="Google Shape;286;p13">
            <a:extLst xmlns:a="http://schemas.openxmlformats.org/drawingml/2006/main">
              <a:ext uri="{FF2B5EF4-FFF2-40B4-BE49-F238E27FC236}">
                <a16:creationId xmlns:a16="http://schemas.microsoft.com/office/drawing/2014/main" id="{EBB8FCE8-1114-49DF-9F81-4E30E3C3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5181550"/>
            <a:ext cx="10621754" cy="41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43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150"/>
              <a:buFont typeface="IBM Plex Sans"/>
              <a:buNone/>
            </a:pPr>
            <a:r>
              <a:rPr sz="1150" b="0" i="0" u="none" cap="none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All main-path models are trained from scratch. We evaluate borrowed EquiFM and EDM checkpoints separately, and never pool backends.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7" name="Google Shape;287;p13">
            <a:extLst xmlns:a="http://schemas.openxmlformats.org/drawingml/2006/main">
              <a:ext uri="{FF2B5EF4-FFF2-40B4-BE49-F238E27FC236}">
                <a16:creationId xmlns:a16="http://schemas.microsoft.com/office/drawing/2014/main" id="{03CD152A-036D-4A00-99D9-63399B36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571" y="330144"/>
            <a:ext cx="1117591" cy="451873"/>
          </a:xfrm>
          <a:prstGeom xmlns:a="http://schemas.openxmlformats.org/drawingml/2006/main" prst="roundRect">
            <a:avLst>
              <a:gd name="adj" fmla="val 19674"/>
            </a:avLst>
          </a:prstGeom>
          <a:solidFill xmlns:a="http://schemas.openxmlformats.org/drawingml/2006/main">
            <a:srgbClr val="1F5FA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>
            <a:extLst xmlns:a="http://schemas.openxmlformats.org/drawingml/2006/main">
              <a:ext uri="{FF2B5EF4-FFF2-40B4-BE49-F238E27FC236}">
                <a16:creationId xmlns:a16="http://schemas.microsoft.com/office/drawing/2014/main" id="{134D3856-0BB8-4A2C-BF81-9A42CF6E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371" y="380944"/>
            <a:ext cx="1015991" cy="375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sz="2400" b="1" i="0" u="none" cap="none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1f</a:t>
            </a: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9" name="Google Shape;289;p13">
            <a:extLst xmlns:a="http://schemas.openxmlformats.org/drawingml/2006/main">
              <a:ext uri="{FF2B5EF4-FFF2-40B4-BE49-F238E27FC236}">
                <a16:creationId xmlns:a16="http://schemas.microsoft.com/office/drawing/2014/main" id="{CA0DB8DC-69E2-422E-BF7E-86AB28C2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6444066"/>
            <a:ext cx="1962099" cy="18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sz="900" b="0" i="0" u="none" cap="none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11 / 29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0" name="Google Shape;290;p13">
            <a:extLst xmlns:a="http://schemas.openxmlformats.org/drawingml/2006/main">
              <a:ext uri="{FF2B5EF4-FFF2-40B4-BE49-F238E27FC236}">
                <a16:creationId xmlns:a16="http://schemas.microsoft.com/office/drawing/2014/main" id="{981606D3-3C51-446B-A444-68B40790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716" y="6455476"/>
            <a:ext cx="8790356" cy="173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sz="900" b="0" i="0" u="none" cap="none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figure (this work)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26694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5545A-A016-49B8-820D-A9504D1C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2 · BASE-MODEL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972D6-88CE-4717-BB0E-4A96B08E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Flow matching is the base model we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174AB-8BB3-44F6-91C6-20726994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13D2C-A689-4DA3-B21F-B98FE418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12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53A6D-B7D0-4278-B00E-1B629766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[2] Hoogeboom et al. 2022 · [24] Song et al. 2023 (EquiFM) · [15] Ye et al. 2024 (EDMsecond release)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809625" y="1676400"/>
          <a:ext xmlns:a="http://schemas.openxmlformats.org/drawingml/2006/main" cx="10572750" cy="2667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00375"/>
                <a:gridCol w="1952625"/>
                <a:gridCol w="1952625"/>
                <a:gridCol w="1333500"/>
                <a:gridCol w="857250"/>
                <a:gridCol w="1476375"/>
              </a:tblGrid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Generator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Mol. stable %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Valid %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Unique %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NFE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s/sample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Our FM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39.7 ± 0.6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75.6 ± 1.1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99.8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0.051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Our VP diffusion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28.8 ± 1.3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66.2 ± 0.7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99.9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0.048*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EquiFM [24] · flow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86.2 ± 0.3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93.8 ± 0.6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99.7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0.086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EDMsecond [15] · diffusion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67.2 ± 1.3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86.0 ± 1.3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99.8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0.087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AE705-599B-4EAE-858C-8098542B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38650"/>
            <a:ext cx="10572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Unguided. 3 seeds × 2,000. Mean ± seed SD. Uniqueness is conditional on validity.</a:t>
            </a:r>
          </a:p>
          <a:p xmlns:a="http://schemas.openxmlformats.org/drawingml/2006/main">
            <a:pPr>
              <a:def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*VP: B200 MIG. Others: RTX A6000. Runtime includes scoring and is not hardware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17091-AB63-49D3-A36E-EFA35B66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578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Our FM gains 10.9 stability points and 9.4 validity points over our VP, with one fewer evaluation. This motivates carrying FM forward.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F0D93-C91D-446F-9464-0885F0C0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436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EquiFM is also flow matching, and EDMsecond is diffusion. Their measured ordering is consistent with this choice, but external training differs.</a:t>
            </a:r>
          </a:p>
        </p:txBody>
      </p:sp>
    </p:spTree>
    <p:extLst>
      <p:ext uri="{BB962C8B-B14F-4D97-AF65-F5344CB8AC3E}">
        <p14:creationId xmlns:p14="http://schemas.microsoft.com/office/powerpoint/2010/main" val="4343838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F672A-F3BB-4187-80C1-7E389F42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2 · GUIDANCE STRATEGY 1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56113-693A-4F0D-838F-4E90B6AB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Plug-in guidance through the frozen generator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746EA-D227-40E3-8C96-98B0820E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DEBCE-437A-4BF9-A76B-C0B84145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13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AEF3E-5719-42F8-A449-444F105F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[12] Chung et al. 2023 (DPS-style adaptation) · original implemented Gaussian-energy guidance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C6902-8A23-4916-8D93-E8272943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430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mᵢ = xₜ,ᵢ + (1 − t)vθ(xₜ,ᵢ, t)       Fᵢ = f_A(mᵢ)       Jᵢ = ∂mᵢ/∂xₜ,ᵢ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F5321-5B75-4968-9B63-C826AFE4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57425"/>
            <a:ext cx="10572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24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Gᵢ = [(y − Fᵢ) / s²] Jᵢᵀ ∇f_A(mᵢ)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1D932-5BD6-4AA8-BD7B-ED5E398E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guide scores a predicted endpoint. Differentiation passes through both the property network and the frozen generator.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C1620-A048-424C-A3F1-BD135034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719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Target, scale and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0FB182-AB35-47AE-BC62-59AFD2C6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50958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y is q50. s is the calibration property SD.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For FM, add w(1 − t)/t times G for t ≥ 0.5.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Clip each correction to the base velocity norm.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VP uses its Tweedie endpoint and VP mapping.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15B2C-C317-44D9-B9D4-4AA5D869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719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Three networks, three roles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F4E8B-F56E-4DA7-8267-4A760F03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52925"/>
            <a:ext cx="50958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Generator: evolves the noisy molecule.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f_A: provides the property gradient.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f_B: evaluates decoded samples afterwards.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All weights stay frozen during sampling.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340EE-9A00-47A2-AED3-08EBA4FB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912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BDG retains this gradient computation and modifies the scalar residual.</a:t>
            </a:r>
          </a:p>
        </p:txBody>
      </p:sp>
    </p:spTree>
    <p:extLst>
      <p:ext uri="{BB962C8B-B14F-4D97-AF65-F5344CB8AC3E}">
        <p14:creationId xmlns:p14="http://schemas.microsoft.com/office/powerpoint/2010/main" val="12456391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7D4C9-D8C3-447D-8DCD-3906B665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2 · GUIDED VERSUS UNGUIDED 2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44B8F-81E5-4796-8D09-01D4064E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Guidance improves μ and gap in both families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8A6F2-F31A-48D9-BC6C-BA40CBFC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6FFCC-DBD1-4016-AAD1-C440D330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14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B232D-0327-4DBE-8AB0-771C8123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[12] Chung et al. 2023 · results/v3/{fm,vp}/v3/n2000, audited in paper v8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809625" y="1590675"/>
          <a:ext xmlns:a="http://schemas.openxmlformats.org/drawingml/2006/main" cx="10572750" cy="32670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1714500"/>
                <a:gridCol w="1714500"/>
                <a:gridCol w="1714500"/>
                <a:gridCol w="1857375"/>
                <a:gridCol w="185737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Property / model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Unguided IB %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Plug-in IB %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ΔIB (z)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Stable %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Valid %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μ / FM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7.8 ± 0.1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10.6 ± 0.4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+2.75 (5.22)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39.7 → 35.6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75.6 → 72.5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μ / VP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8.7 ± 0.8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10.8 ± 0.4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+2.13 (3.94)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28.8 → 26.2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66.2 → 61.8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α / FM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5.0 ± 0.3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6.1 ± 0.3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+1.07 (2.56)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39.7 → 37.2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75.6 → 73.7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α / VP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5.2 ± 0.6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5.4 ± 0.4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+0.15 (0.37)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28.8 → 25.2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66.2 → 58.7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gap / FM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10.3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12.6 ± 0.7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+2.35 (4.04)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39.7 → 33.6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75.6 → 69.9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gap / VP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9.8 ± 0.6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12.4 ± 1.2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+2.60 (4.55)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28.8 → 23.2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66.2 → 57.3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00D70-B98B-46AE-A1DB-1AC696C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81575"/>
            <a:ext cx="1057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q50, w = 1, second-half guidance. Each arm uses 3 seeds × 2,000 with the same masks and seeds. IB: mean ± seed SD. Quality: mean, unguided → guided.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3A034-613D-4516-B1FF-963761A3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864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μ and gap clear |z| = 2.99 in both families (z = 3.94–5.22). α remains unresolved.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A988A-5C97-4DAF-9FC4-5E1827B4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579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Guidance trades some chemical quality for coverage. FM retains the stronger starting stability and validity.</a:t>
            </a:r>
          </a:p>
        </p:txBody>
      </p:sp>
    </p:spTree>
    <p:extLst>
      <p:ext uri="{BB962C8B-B14F-4D97-AF65-F5344CB8AC3E}">
        <p14:creationId xmlns:p14="http://schemas.microsoft.com/office/powerpoint/2010/main" val="8613856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7D146-03B4-468C-8CDD-FDA5CE0F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2 · INNOVATION 1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B4472-3B58-4984-8635-F9D2A54E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BDG adds feedback on batch dispersion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8FC5D-872D-4EE4-93E3-CBA39A66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DFC4D-68DD-40A2-88FC-2C4DD00B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15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9FB67-5298-40F7-B5C7-8DE66B29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[12] Chung 2023 · [15] Ye 2024 · [22] Boys 2024 · [23] Song 2023 · related batch/moment work [16–21]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B205C-141B-4D2E-92D9-3C6828FE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049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21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Plug-in residual:     y − Fᵢ = (y − F̄) − (Fᵢ − F̄)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2D2AA-523C-4776-A1F3-349C0001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574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 single strength scales both centring and contraction. BDG keeps the centring coefficient and adjusts the deviation coefficient using the measured batch variance.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809625" y="3000375"/>
          <a:ext xmlns:a="http://schemas.openxmlformats.org/drawingml/2006/main" cx="10572750" cy="2514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742950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Method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Information used for the correction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DPS-style plug-in [12]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One sample’s property residual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TMPD-inspired [22]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 local surrogate for endpoint uncertainty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LGD-MC [23]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Monte Carlo samples around an endpoint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TFG [15]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Additional optimization of predicted endpoints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Batch property variance relative to a requested spread τ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88BDC-A9B3-4395-9D41-F7ED2990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340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Contribution: this batch-dependent deviation rule within property-gradient guidance, reused on Euclidean molecules and simplex DNA. Prior work already studies batch interactions and moment control [16–21].</a:t>
            </a:r>
          </a:p>
        </p:txBody>
      </p:sp>
    </p:spTree>
    <p:extLst>
      <p:ext uri="{BB962C8B-B14F-4D97-AF65-F5344CB8AC3E}">
        <p14:creationId xmlns:p14="http://schemas.microsoft.com/office/powerpoint/2010/main" val="9799266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1" name="Google Shape;391;p18">
            <a:extLst xmlns:a="http://schemas.openxmlformats.org/drawingml/2006/main">
              <a:ext uri="{FF2B5EF4-FFF2-40B4-BE49-F238E27FC236}">
                <a16:creationId xmlns:a16="http://schemas.microsoft.com/office/drawing/2014/main" id="{D8882D7B-1DE3-4F69-921F-999A58C2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507938"/>
            <a:ext cx="10883529" cy="234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196"/>
              <a:buFont typeface="IBM Plex Sans"/>
              <a:buNone/>
            </a:pPr>
            <a:r>
              <a:rPr sz="1196" b="1" i="0" u="none" cap="none">
                <a:solidFill>
                  <a:srgbClr val="1F5FA9"/>
                </a:solidFill>
                <a:latin typeface="IBM Plex Sans"/>
                <a:ea typeface="IBM Plex Sans"/>
                <a:cs typeface="IBM Plex Sans"/>
              </a:rPr>
              <a:t>PART 2 · EVIDENCE FOR MODALITY 1 · INNOVATION 2 OF 4</a:t>
            </a:r>
            <a:endParaRPr sz="1196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2" name="Google Shape;392;p18">
            <a:extLst xmlns:a="http://schemas.openxmlformats.org/drawingml/2006/main">
              <a:ext uri="{FF2B5EF4-FFF2-40B4-BE49-F238E27FC236}">
                <a16:creationId xmlns:a16="http://schemas.microsoft.com/office/drawing/2014/main" id="{9AE403FE-52BB-44A3-886B-EAD0242D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742249"/>
            <a:ext cx="10883529" cy="408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97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748"/>
              <a:buFont typeface="Source Serif 4"/>
              <a:buNone/>
            </a:pPr>
            <a:r>
              <a:rPr sz="2748" b="1" i="0" u="none" cap="none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BDG: the mechanism</a:t>
            </a:r>
            <a:endParaRPr sz="2748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3" name="Google Shape;393;p18">
            <a:extLst xmlns:a="http://schemas.openxmlformats.org/drawingml/2006/main">
              <a:ext uri="{FF2B5EF4-FFF2-40B4-BE49-F238E27FC236}">
                <a16:creationId xmlns:a16="http://schemas.microsoft.com/office/drawing/2014/main" id="{FF37561B-13B2-4803-8129-17AA5278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95" y="1255359"/>
            <a:ext cx="10560183" cy="3368887"/>
          </a:xfrm>
          <a:prstGeom xmlns:a="http://schemas.openxmlformats.org/drawingml/2006/main" prst="roundRect">
            <a:avLst>
              <a:gd name="adj" fmla="val 2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DD9C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2" name="Google Shape;394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3d493817e54485a">
            <a:alphaModFix/>
          </a:blip>
          <a:srcRect xmlns:a="http://schemas.openxmlformats.org/drawingml/2006/main" l="0" t="-92" r="0" b="-92"/>
          <a:stretch xmlns:a="http://schemas.openxmlformats.org/drawingml/2006/main"/>
        </p:blipFill>
        <p:spPr>
          <a:xfrm xmlns:a="http://schemas.openxmlformats.org/drawingml/2006/main">
            <a:off x="2444771" y="1346826"/>
            <a:ext cx="7302431" cy="325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95" name="Google Shape;395;p18">
            <a:extLst xmlns:a="http://schemas.openxmlformats.org/drawingml/2006/main">
              <a:ext uri="{FF2B5EF4-FFF2-40B4-BE49-F238E27FC236}">
                <a16:creationId xmlns:a16="http://schemas.microsoft.com/office/drawing/2014/main" id="{178B342C-3F3E-44F8-A061-53D3C7C4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95" y="4757582"/>
            <a:ext cx="3422688" cy="1360682"/>
          </a:xfrm>
          <a:prstGeom xmlns:a="http://schemas.openxmlformats.org/drawingml/2006/main" prst="roundRect">
            <a:avLst>
              <a:gd name="adj" fmla="val 6300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 cmpd="sng">
            <a:solidFill>
              <a:srgbClr val="DDD9C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8">
            <a:extLst xmlns:a="http://schemas.openxmlformats.org/drawingml/2006/main">
              <a:ext uri="{FF2B5EF4-FFF2-40B4-BE49-F238E27FC236}">
                <a16:creationId xmlns:a16="http://schemas.microsoft.com/office/drawing/2014/main" id="{C791899B-EB50-43B7-8080-DF9CB393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862" y="4861737"/>
            <a:ext cx="3206136" cy="263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sz="150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One coefficient changes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7" name="Google Shape;397;p18">
            <a:extLst xmlns:a="http://schemas.openxmlformats.org/drawingml/2006/main">
              <a:ext uri="{FF2B5EF4-FFF2-40B4-BE49-F238E27FC236}">
                <a16:creationId xmlns:a16="http://schemas.microsoft.com/office/drawing/2014/main" id="{E451DA1C-EF1C-4355-A9B5-3860FCF1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862" y="5150489"/>
            <a:ext cx="3206136" cy="471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sz="13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centring term keeps coefficient 1; η = 0 gives plug-in [12] exactly.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8" name="Google Shape;398;p18">
            <a:extLst xmlns:a="http://schemas.openxmlformats.org/drawingml/2006/main">
              <a:ext uri="{FF2B5EF4-FFF2-40B4-BE49-F238E27FC236}">
                <a16:creationId xmlns:a16="http://schemas.microsoft.com/office/drawing/2014/main" id="{EAE03A96-3C28-44BA-84C1-46AC7A50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597" y="4757582"/>
            <a:ext cx="3422688" cy="1360682"/>
          </a:xfrm>
          <a:prstGeom xmlns:a="http://schemas.openxmlformats.org/drawingml/2006/main" prst="roundRect">
            <a:avLst>
              <a:gd name="adj" fmla="val 6300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 cmpd="sng">
            <a:solidFill>
              <a:srgbClr val="DDD9C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8">
            <a:extLst xmlns:a="http://schemas.openxmlformats.org/drawingml/2006/main">
              <a:ext uri="{FF2B5EF4-FFF2-40B4-BE49-F238E27FC236}">
                <a16:creationId xmlns:a16="http://schemas.microsoft.com/office/drawing/2014/main" id="{9C5D0940-DB6F-47A3-A69B-21356F92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564" y="4861737"/>
            <a:ext cx="3206136" cy="263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sz="150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Same network calls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0" name="Google Shape;400;p18">
            <a:extLst xmlns:a="http://schemas.openxmlformats.org/drawingml/2006/main">
              <a:ext uri="{FF2B5EF4-FFF2-40B4-BE49-F238E27FC236}">
                <a16:creationId xmlns:a16="http://schemas.microsoft.com/office/drawing/2014/main" id="{095C6918-8253-4816-A8DC-74EE0EA1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564" y="5150489"/>
            <a:ext cx="3206136" cy="471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sz="13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Both terms share one gradient; BDG adds two batch reductions.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1" name="Google Shape;401;p18">
            <a:extLst xmlns:a="http://schemas.openxmlformats.org/drawingml/2006/main">
              <a:ext uri="{FF2B5EF4-FFF2-40B4-BE49-F238E27FC236}">
                <a16:creationId xmlns:a16="http://schemas.microsoft.com/office/drawing/2014/main" id="{AEB88BAD-8B87-4AE0-B1E0-5ED33913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00" y="4757582"/>
            <a:ext cx="3422688" cy="1360682"/>
          </a:xfrm>
          <a:prstGeom xmlns:a="http://schemas.openxmlformats.org/drawingml/2006/main" prst="roundRect">
            <a:avLst>
              <a:gd name="adj" fmla="val 6300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 cmpd="sng">
            <a:solidFill>
              <a:srgbClr val="DDD9C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8">
            <a:extLst xmlns:a="http://schemas.openxmlformats.org/drawingml/2006/main">
              <a:ext uri="{FF2B5EF4-FFF2-40B4-BE49-F238E27FC236}">
                <a16:creationId xmlns:a16="http://schemas.microsoft.com/office/drawing/2014/main" id="{6EE2ABC1-34FC-4EFB-AB5F-CAFEDBDE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67" y="4861737"/>
            <a:ext cx="3206136" cy="25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sz="150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Two knobs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3" name="Google Shape;403;p18">
            <a:extLst xmlns:a="http://schemas.openxmlformats.org/drawingml/2006/main">
              <a:ext uri="{FF2B5EF4-FFF2-40B4-BE49-F238E27FC236}">
                <a16:creationId xmlns:a16="http://schemas.microsoft.com/office/drawing/2014/main" id="{DDB2F8BC-5A55-453E-9F28-5334F0C3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67" y="5144598"/>
            <a:ext cx="3206136" cy="894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4984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72"/>
              <a:buFont typeface="IBM Plex Sans"/>
              <a:buNone/>
            </a:pPr>
            <a:r>
              <a:rPr sz="1272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Gain η ≥ 0. Requested spread τ = τₘs &gt; 0, where s is the calibration property SD. τₘ controls the setpoint.</a:t>
            </a:r>
            <a:endParaRPr sz="1272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4" name="Google Shape;404;p18">
            <a:extLst xmlns:a="http://schemas.openxmlformats.org/drawingml/2006/main">
              <a:ext uri="{FF2B5EF4-FFF2-40B4-BE49-F238E27FC236}">
                <a16:creationId xmlns:a16="http://schemas.microsoft.com/office/drawing/2014/main" id="{2BF5F54A-CDC6-4E56-86B1-AF3CBC4C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571" y="330138"/>
            <a:ext cx="1117591" cy="451873"/>
          </a:xfrm>
          <a:prstGeom xmlns:a="http://schemas.openxmlformats.org/drawingml/2006/main" prst="roundRect">
            <a:avLst>
              <a:gd name="adj" fmla="val 19674"/>
            </a:avLst>
          </a:prstGeom>
          <a:solidFill xmlns:a="http://schemas.openxmlformats.org/drawingml/2006/main">
            <a:srgbClr val="1F5FA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8">
            <a:extLst xmlns:a="http://schemas.openxmlformats.org/drawingml/2006/main">
              <a:ext uri="{FF2B5EF4-FFF2-40B4-BE49-F238E27FC236}">
                <a16:creationId xmlns:a16="http://schemas.microsoft.com/office/drawing/2014/main" id="{34CA489F-8A74-42B4-82AC-DA71AB33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371" y="380938"/>
            <a:ext cx="1015991" cy="375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sz="2400" b="1" i="0" u="none" cap="none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2c</a:t>
            </a: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6" name="Google Shape;406;p18">
            <a:extLst xmlns:a="http://schemas.openxmlformats.org/drawingml/2006/main">
              <a:ext uri="{FF2B5EF4-FFF2-40B4-BE49-F238E27FC236}">
                <a16:creationId xmlns:a16="http://schemas.microsoft.com/office/drawing/2014/main" id="{6AF21107-B510-499B-A22D-7DACD81A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6444066"/>
            <a:ext cx="1962099" cy="18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sz="900" b="0" i="0" u="none" cap="none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16 / 29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7" name="Google Shape;407;p18">
            <a:extLst xmlns:a="http://schemas.openxmlformats.org/drawingml/2006/main">
              <a:ext uri="{FF2B5EF4-FFF2-40B4-BE49-F238E27FC236}">
                <a16:creationId xmlns:a16="http://schemas.microsoft.com/office/drawing/2014/main" id="{E4505DD6-1744-4563-A780-9EB576E8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716" y="6455476"/>
            <a:ext cx="8790356" cy="173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sz="900" b="0" i="0" u="none" cap="none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figure and formulation (this work) · plug-in base after [12] Chung et al. 2023 (DPS)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25466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74AAC-6A92-4488-8B8F-6B82403B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2 · INNOVATION 3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58BA0-7554-4EAF-9903-DE176950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What the added term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FB423-F5B8-4D3A-85F8-BD7F4DB1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F6E63-FFC6-4606-A7E9-BBE19132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17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96F5F-2A45-4615-A5FD-700D9D82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formulation and algebra (paper v8) · reduction checks in proj1/tests/test_bdg.py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BC509-0677-4FFF-AD56-08B46FD5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21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e = (Vᵦ − τ²) / τ²         w_eff = 1 + ηe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813C1-4AC3-4B31-B9C4-EAD01473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0502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21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nᵢ = (y − F̄) − w_eff(Fᵢ − F̄) = (y − Fᵢ) − ηe(Fᵢ − F̄)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8CD7B-ADC9-4140-8937-3EA5D304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813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η = 0 recovers plug-in exactly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2E92E-FB44-4435-9E7F-74D54138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62325"/>
            <a:ext cx="50958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This removes the extra residual term.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τ must stay positive: τ = 0 divides by zero.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Changing τₘ while η &gt; 0 changes the response to batch spread.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B673D-38AA-4B57-8B91-D530F96E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813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Contraction and expansion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28C37-71A6-44F3-9208-DFD24270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62325"/>
            <a:ext cx="50958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e &gt; 0 increases contraction.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−1/η &lt; e &lt; 0 weakens contraction.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w_eff &lt; 0 permits expansion. Since Vᵦ ≥ 0, w_eff ≥ 1 − η. Velocity clipping still applies.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7BB78-6ADA-4DF5-8C94-D2C57145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33975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At each step: nᵢ = w_eff(y_eff − Fᵢ), where y_eff = (y + ηeF̄) / w_eff if w_eff ≠ 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4FA813-275B-46FE-9E9B-9225AF63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53100"/>
            <a:ext cx="1057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added control is adaptive gain and target adjustment along the same gradient. Finite sampling, nonlinear response and decoding affect the achieved spread.</a:t>
            </a:r>
          </a:p>
        </p:txBody>
      </p:sp>
    </p:spTree>
    <p:extLst>
      <p:ext uri="{BB962C8B-B14F-4D97-AF65-F5344CB8AC3E}">
        <p14:creationId xmlns:p14="http://schemas.microsoft.com/office/powerpoint/2010/main" val="13707969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9D632-7F69-456F-9089-AA460330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2 · INNOVATION 4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66896-1422-4BA2-A648-88E07191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The setpoint controls spread on both flow backbones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2A341-F4C7-4C87-AB76-F276A914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2A348-AD42-4BA2-8341-8E408FC1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18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EE48D-BD5E-48F2-A39A-A65EF8B9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measurements · results/v3/{fm,equifm}/v3abl/n2000 · pooled decoded property SD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8A065-E0C7-49FA-A280-FFFCC55C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668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η = 8, w = 1. Four setpoints, three properties, 3 seeds × 2,000 per point.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09625" y="1933575"/>
          <a:ext xmlns:a="http://schemas.openxmlformats.org/drawingml/2006/main" cx="512445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7a7bb5ceae4e09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257925" y="1933575"/>
          <a:ext xmlns:a="http://schemas.openxmlformats.org/drawingml/2006/main" cx="512445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c7b7b1d4e34b3c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B66AE-8C9C-4CF3-BC12-79F31498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625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All six curves increase monotonically: 0.67–0.77× at τₘ = 0.5, and 1.15–1.25× at τₘ = 1.5.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BD328-FB3E-452A-B62D-CAC3DBB5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86450"/>
            <a:ext cx="10572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tested plug-in strengths w = 1 and 4 only narrow spread. BDG adds a wider operating range with the same network-call budget.</a:t>
            </a:r>
          </a:p>
        </p:txBody>
      </p:sp>
    </p:spTree>
    <p:extLst>
      <p:ext uri="{BB962C8B-B14F-4D97-AF65-F5344CB8AC3E}">
        <p14:creationId xmlns:p14="http://schemas.microsoft.com/office/powerpoint/2010/main" val="7467109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EDC05-810B-411D-9175-357C62BE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2 · INNOVATION ABLATIONS 1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F764E-BDD1-4A0F-AC72-9E005442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Dipole ablation: removing and adjusting the added term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E1B9B-AF1D-4986-AD61-60226135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45BD9-1001-4D40-83E9-11312719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19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6C84F-F990-4292-97FF-395CA83C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Paper v8 Table 2 · results/v3/fm/v3abl/n2000 · full FM and EquiFM grids in appendix A8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E3D04-D87F-42FA-8282-F0ACF02A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66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Our FM, q50 dipole: y = 2.4932 D, band ±0.17541 D. Decoded results, 3 seeds × 2,000.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09625" y="2000250"/>
          <a:ext xmlns:a="http://schemas.openxmlformats.org/drawingml/2006/main" cx="10572750" cy="3067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857250"/>
                <a:gridCol w="2143125"/>
                <a:gridCol w="1524000"/>
                <a:gridCol w="1524000"/>
                <a:gridCol w="1571625"/>
                <a:gridCol w="1619250"/>
              </a:tblGrid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w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IB % ↑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MAE D ↓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Mean 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Spread 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Stable % ↑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—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10.6 ± 0.4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0.969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2.615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1.209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35.6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—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13.4 ± 0.4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0.812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2.548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1.024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30.3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11.2 ± 1.1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0.903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2.609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1.113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35.1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8.9 ± 0.2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1.133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2.714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1.434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40.5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11.9 ± 0.3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0.861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2.603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1.064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34.0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7.6 ± 0.2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1.377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2.858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1.922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37.6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40181-D0A3-44A1-9093-EE26457F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959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η = 0 removes BDG and returns plug-in. At fixed w = 1, τₘ = 0.5 raises mean coverage and lowers MAE. Raising τₘ widens the batch and changes in-band occupancy.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64E26-8D92-44E3-8048-C1C9D4A4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769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w = 4 zero-gain row isolates stronger plug-in guidance. η = 8 tests a larger feedback gain.</a:t>
            </a:r>
          </a:p>
        </p:txBody>
      </p:sp>
    </p:spTree>
    <p:extLst>
      <p:ext uri="{BB962C8B-B14F-4D97-AF65-F5344CB8AC3E}">
        <p14:creationId xmlns:p14="http://schemas.microsoft.com/office/powerpoint/2010/main" val="1274821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1C3798-1DB8-453E-87F8-34843DBB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2 · INNOVATION ABLATIONS 2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327FB-633C-449E-8565-D1EF8F40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Ablations support an adjustable band-control effect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1A2D7-CB3A-4824-80FB-D99A9EF0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BFF54-C30F-461F-8CF6-F0905916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20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27C60-C60D-41CA-8578-E5404FF4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analysis · paper v8 Tables 2, S4–S5 and full 612-cell molecular ablation grid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A6088-CFCD-42C9-A0BD-A30E1287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525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Better endpoint error at the tighter setting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4ACEB-04EE-4C1E-99A7-8384A782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33575"/>
            <a:ext cx="50958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At η = 4, τₘ = 0.5, both flow backbones improve mean coverage and reduce decoded MAE on all three properties. Coverage gains are +0.45 to +1.52 points.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2541A-BE4E-4A8D-BA3C-F1D3AD28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525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Variation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23E17-E205-4062-9101-2536B1DC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33575"/>
            <a:ext cx="50958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three gains on our FM have higher seed variation than plug-in. The registered |z| = 2.99 threshold leaves all six coverage differences unresolved.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A2989-05A7-440B-8C80-C415D48C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9570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A controllable spread changes occupancy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4A0B4-2042-4D65-A2BC-8D6B8E9F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76700"/>
            <a:ext cx="50958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Four setpoints change spread monotonically in all six tasks. τₘ = 0.5 concentrates more samples inside the band. τₘ = 1 gives a wider operating point, with lower coverage in three tasks and unresolved differences in three.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7868F2-EFFD-4366-9CBB-EAA37CFC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Gain and strength are distinct controls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B1C05-7A67-4F1C-B58C-76DCFA1A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0958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grid removes η, changes τₘ and changes w. At η = 8, the coverage gain per stability point lost exceeds stronger plug-in in 5 of 6 tasks (4 of 6 at η = 4). These are descriptive ratios.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AF7135-527A-4435-B9E0-B48DDE04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The data establish the effect of the added term. Matched-force and replay controls would isolate the contribution of online feedback itself.</a:t>
            </a:r>
          </a:p>
        </p:txBody>
      </p:sp>
    </p:spTree>
    <p:extLst>
      <p:ext uri="{BB962C8B-B14F-4D97-AF65-F5344CB8AC3E}">
        <p14:creationId xmlns:p14="http://schemas.microsoft.com/office/powerpoint/2010/main" val="5226571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B4278-EE2B-49FC-8061-1C0A2117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2 · RECENT-METHOD COMPARISON 1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C480E-DDE3-4F65-87E0-8C02AA8B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Recent guidance methods on the same frozen FM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96D5B-6714-40C7-BE1B-652B2341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DB786-7359-463B-B95D-2A8B0905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21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B9B0E-B66A-4440-AB18-BC06B0C2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[12] Chung 2023 (DPS) · [22] Boys 2024 (TMPD) · [23] Song 2023 (LGD-MC) · [15] Ye 2024 (TFG)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09625" y="1524000"/>
          <a:ext xmlns:a="http://schemas.openxmlformats.org/drawingml/2006/main" cx="10572750" cy="3429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1428750"/>
                <a:gridCol w="1428750"/>
                <a:gridCol w="1428750"/>
                <a:gridCol w="2095500"/>
                <a:gridCol w="904875"/>
                <a:gridCol w="904875"/>
              </a:tblGrid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13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Method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IB μ % ↑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IB α % ↑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IB gap % ↑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Stable μ/α/gap %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DV μ %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Time s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Unguided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7.8 ± 0.1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5.0 ± 0.3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10.3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39.7 / 39.7 / 39.7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75.5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0.051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DPS-style plug-in [12]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10.6 ± 0.4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6.1 ± 0.3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12.6 ± 0.7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35.6 / 37.2 / 33.6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72.4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0.119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TMPD-inspired [22]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9.0 ± 0.6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6.1 ± 0.4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11.6 ± 0.9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38.4 / 38.9 / 37.3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74.7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0.255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LGD-MC [23]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9.6 ± 0.8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5.2 ± 0.4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10.8 ± 0.7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39.9 / 39.2 / 39.5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75.4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0.229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TFG [15]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28.8 ± 1.6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10.5 ± 0.3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27.5 ± 0.3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24.5 / 26.8 / 14.4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62.7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0.122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BDG, τₘ = 0.5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11.2 ± 1.1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7.0 ± 0.5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14.2 ± 0.8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35.1 / 36.4 / 30.0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71.2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0.119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BDG, τₘ = 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8.9 ± 0.2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5.6 ± 0.5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10.6 ± 0.2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40.5 / 37.9 / 37.6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76.3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0.119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30FB8-9854-4F92-9C66-318640D0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q50, w = 1, t ≥ 0.5. Mean ± seed SD for IB, means elsewhere. DV = distinct valid molecules / attempts. Time: μ cells, RTX A6000, including scoring.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51640-B425-4819-815E-E4192758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531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BDG uses plug-in’s network calls and runtime. Its τₘ = 0.5 setting has the highest mean coverage among the non-TFG arms.</a:t>
            </a:r>
          </a:p>
        </p:txBody>
      </p:sp>
    </p:spTree>
    <p:extLst>
      <p:ext uri="{BB962C8B-B14F-4D97-AF65-F5344CB8AC3E}">
        <p14:creationId xmlns:p14="http://schemas.microsoft.com/office/powerpoint/2010/main" val="18999374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17732E-AD3C-4740-A008-CE223861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2 · RECENT-METHOD COMPARISON 2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109B0-6927-4C78-8F60-90FE789D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Coverage, quality and comparison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72CC4-91B3-48F8-88B2-8FF3437D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67A33-2FF8-4618-8201-9F08FAB6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22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0B7F6-E263-4343-BBCE-8F167224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[12] Chung et al. 2023 · [22] Boys et al. 2024 · [23] Song et al. 2023 · [15] Ye et al. 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BF840-A49A-410D-B82C-1F0893D0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525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Where BDG improves the operating 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3638C-99A4-40E7-9023-BED76953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33575"/>
            <a:ext cx="50958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τₘ = 0.5 raises mean coverage and lowers MAE versus plug-in across six molecular tasks. On our FM’s μ task, τₘ = 1 has the highest guided stability (40.5%) and DV (76.3%).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23D89-B75C-42A8-92B8-4C306B28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525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Where TFG obtains more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FB0C7-0EF1-4D3F-B2A2-9E674E11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33575"/>
            <a:ext cx="50958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TFG has higher mean coverage on our FM: μ 28.8% versus BDG’s 11.2%. Its stability is 24.5% versus 35.1%. Across the comparison, coverage comes with larger stability losses.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1440C-5650-4265-8C16-4DFB4681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290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All scores are our own measurements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CFA4E-66F9-4007-A744-3261C538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100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Same generator, targets, seeds and evaluator within a backend. All four external methods operate at inference time on frozen models, which makes them relevant comparators.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AB32D-0094-49A9-850C-8395BDD6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Adaptations and limits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ACED32-0E8F-4CCF-B359-FBDE93A2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5095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Plug-in uses Gaussian energy. TMPD uses a local-linear scalar surrogate. TFG uses our deterministic ODE and feature scale. These runs compare implementations at fixed nominal settings, not optimally tuned methods.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6704A-A223-46E2-BF8B-A799AB02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436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EquiFM uses a different released predictor pair and different calibrated bands. Compare arms within that backend.</a:t>
            </a:r>
          </a:p>
        </p:txBody>
      </p:sp>
    </p:spTree>
    <p:extLst>
      <p:ext uri="{BB962C8B-B14F-4D97-AF65-F5344CB8AC3E}">
        <p14:creationId xmlns:p14="http://schemas.microsoft.com/office/powerpoint/2010/main" val="18419407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443C6-E8D5-4002-B0F1-3871BDAF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3 · TRANSFER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335F8-ECA4-42CA-8EC1-3C83550F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Transfer to DNA keeps the BDG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E071F-C4A2-4144-8F7A-797AA608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3a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E03B0-D160-4664-B358-412C0C6F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23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195FF-03ED-41F6-9FAD-91523DA1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[4] Stark et al. 2024 (DeepFlyBrain / Dirichlet FM) · proj1/m2/simplex_fm.py · original BDG transfer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5CA4C-5047-41EA-9AE4-388886B0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954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Keep the same F̄, Vᵦ, e, τ = τₘs and deviation gain w_eff. Only the generator, property map and state constraints change.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09625" y="2276475"/>
          <a:ext xmlns:a="http://schemas.openxmlformats.org/drawingml/2006/main" cx="10572750" cy="2286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4000500"/>
                <a:gridCol w="47625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Component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QM9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DNA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State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Coordinates + continuous type channels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500 × 4 probability simplex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Generator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EGNN velocity, 3.75M parameters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Dilated 1D CNN, 128 × 10, about 1.02M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Guide / evaluator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Learned f_A / independent learned f_B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Soft analytic GC or CpG / exact decoded count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Feasibility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Mask and recenter coordinates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Clamp and renormalize after each step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EDFC9-D695-488A-8DFB-98EF3DC7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053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Training and checkpoint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3B90A-F6AF-4B36-915E-0DDAC1F8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86375"/>
            <a:ext cx="50958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83,722 sequences. Dirichlet-to-one-hot linear FM. Adam 2 × 10⁻³, batch 256, cosine to zero, no EMA. 1,500 epochs. Validation selects epoch 1,450 (loss 0.0634).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7EA64-164E-4918-85F8-469ED360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053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Sampling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6665A-0599-44C6-8871-247E8E71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86375"/>
            <a:ext cx="50958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100 Euler steps, batch 500, 3 × 2,000 per arm. Guide for t ≥ 0.5, w ∈ {1, 4}, η = 4 and τₘ ∈ {0.5, 1}. Decode by argmax at the end.</a:t>
            </a:r>
          </a:p>
        </p:txBody>
      </p:sp>
    </p:spTree>
    <p:extLst>
      <p:ext uri="{BB962C8B-B14F-4D97-AF65-F5344CB8AC3E}">
        <p14:creationId xmlns:p14="http://schemas.microsoft.com/office/powerpoint/2010/main" val="1015253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E3204-06EF-4F45-97A5-F4AB3342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3 · TRANSFER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F8333-5E0A-42EF-919D-90650834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DNA transfer: coverage and diversity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4E952-4676-4654-8A87-B5A68BAD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3b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C7CE1-7D84-4233-AF03-2275850D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24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2524F-EA53-4CF2-8EF5-E8161E72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[12] DPS · [22] TMPD · [23] LGD-MC · [15] TFG · all rows measured on our frozen DNA generator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F52C8-0086-402C-8BDC-41F90D77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38275"/>
            <a:ext cx="1057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w = 4, t ≥ 0.5, targets q50. Half-widths: GC 0.008833, CpG 0.008818.</a:t>
            </a:r>
          </a:p>
          <a:p xmlns:a="http://schemas.openxmlformats.org/drawingml/2006/main">
            <a:pPr>
              <a:defRPr sz="142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Score exact counts after argmax. Every arm uses the same band within each property.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09625" y="2000250"/>
          <a:ext xmlns:a="http://schemas.openxmlformats.org/drawingml/2006/main" cx="10572750" cy="3276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28875"/>
                <a:gridCol w="1476375"/>
                <a:gridCol w="1476375"/>
                <a:gridCol w="1905000"/>
                <a:gridCol w="2238375"/>
                <a:gridCol w="1047750"/>
              </a:tblGrid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Method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GC IB % ↑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CpG IB % ↑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JSD GC/CpG ↓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Hamming GC/CpG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s/seq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Unguided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14.0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50.2 ± 1.6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4.53 / 4.53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0.049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DPS-style plug-in [12]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14.1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51.6 ± 1.4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4.61 / 4.63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0.096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TMPD-inspired [22]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14.1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51.6 ± 1.4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4.61 / 4.63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0.124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LGD-MC [23]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14.1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51.6 ± 1.4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4.61 / 4.63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0.102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TFG-MC [15]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14.1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51.1 ± 1.7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4.59 / 4.58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0.084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BDG, τₘ = 0.5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16.4 ± 1.2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68.5 ± 1.2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5.93 / 7.73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0.7457 / 0.7457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0.076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BDG, τₘ = 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14.1 ± 1.0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50.3 ± 1.5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4.54 / 4.52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0.076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2B2B2-7B1F-4A18-AC67-7105855A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197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3 seeds × 2,000. IB: mean ± seed SD. JSD ×10⁻⁴ against training 3-mers. Hamming: normalized distance on the first 256 sequences, including self-pairs. Time: CpG cells.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10F24-3314-4BC5-BEBE-660A3D17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483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BDG τₘ = 0.5: +16.83 CpG coverage points, higher JSD, nearly unchanged Hamming diversity.</a:t>
            </a:r>
          </a:p>
        </p:txBody>
      </p:sp>
    </p:spTree>
    <p:extLst>
      <p:ext uri="{BB962C8B-B14F-4D97-AF65-F5344CB8AC3E}">
        <p14:creationId xmlns:p14="http://schemas.microsoft.com/office/powerpoint/2010/main" val="137481637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02EEC-60F2-4BC4-AFE1-A8982185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3 · CROSS-MODALITY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6BE84-D8E2-4F2C-AC56-5ED62DC5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Transfer gains depend on the property and setting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10898-B2A6-42D8-B113-487797E2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3c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2EBEB-E8A2-4846-BAE4-EAE1EF29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25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4DAB52-3ABC-4188-A806-5861F7BC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decoded contrasts, paper v8 · bars show mean differences · paired seed SD reported alongside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809625" y="1628775"/>
          <a:ext xmlns:a="http://schemas.openxmlformats.org/drawingml/2006/main" cx="5429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beecaf011347de"/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6572250" y="1743075"/>
          <a:ext xmlns:a="http://schemas.openxmlformats.org/drawingml/2006/main" cx="4810125" cy="2333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190625"/>
                <a:gridCol w="2476500"/>
                <a:gridCol w="11430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Setting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ΔIB ± paired SD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z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GC, w=1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+0.42 ± 0.08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0.65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GC, w=4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+2.32 ± 0.28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3.53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CpG, w=1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+4.82 ± 0.96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5.29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CpG, w=4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+16.83 ± 1.12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19.11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C9986-233B-4148-9F4B-397C4308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48101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τₘ = 0.5: CpG at both strengths and GC at w = 4 clear the exploratory |z| = 3.16 threshold. GC at w = 1 remains unresolved.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D6689-3CAB-4DBF-AC5E-72CA5A7A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24525"/>
            <a:ext cx="10572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QM9: the same positive direction (+0.45 to +1.52 pp), with unresolved coverage differences. DNA: larger CpG gains. Curvature is a hypothesis, with band-width and clipping differences still confounded.</a:t>
            </a:r>
          </a:p>
        </p:txBody>
      </p:sp>
    </p:spTree>
    <p:extLst>
      <p:ext uri="{BB962C8B-B14F-4D97-AF65-F5344CB8AC3E}">
        <p14:creationId xmlns:p14="http://schemas.microsoft.com/office/powerpoint/2010/main" val="153234690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13413-F110-421B-BFC4-77CA287A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3 · LIMITS OF THE CURRENT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FB7F5-0B6D-4BF1-8AE8-86FBE887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Measured limitations and failure modes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84531-B5FE-4459-B04A-E1603E50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3d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43C56-9D27-46EB-834C-BEBC5FE1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26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95F71-C401-4486-8E52-4C1EAABE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diagnostics · paper v8 · results/v3 and results/m2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BBC99-D918-4D67-B258-0C99F8AA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1. Coverage can cost sample 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5DBA3-A481-4422-B9EA-9620F0E5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50958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Molecular guidance reduces stability. Strong DNA coverage also shifts 3-mer composition. In-band coverage alone does not measure useful molecular yield.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E4D9B-083C-4DC5-A041-0A8A0220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2. Guidance timing can dominate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DC0BE-C587-41C4-A8EE-2835A159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At w = 1, starting GC guidance at t = 0 instead of 0.5 raises plug-in’s decoded coverage by 22.82 points. In that early window, BDG τₘ = 0.5 is 2.33 points below plug-in.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1A179-0742-4474-816E-121EDF42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3. Nominal strength does not match force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3B258-C49E-4E6F-BDC0-B3954957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24325"/>
            <a:ext cx="50958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Winning DNA cells clip 7.4–9.2% of guided sample-steps versus ≤0.21% for plug-in. A matched-force experiment is needed to separate added force from feedback.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7836F-B1C2-4859-8585-42D3323C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433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4. Scores and uncertainty have limits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36CF4-D126-47B4-AC70-5B86C4F2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4325"/>
            <a:ext cx="50958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QM9 inherits evaluator error. DNA soft scores differ from decoded counts. Batch feedback couples samples, while pooled binomial tests assume independence. Three seeds provide limited resolution.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545F4-68BC-400F-9526-5F236171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626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Next measurements: batch-aware paired intervals, in-band-and-stable yield, and open-loop replay of the recorded BDG gains.</a:t>
            </a:r>
          </a:p>
        </p:txBody>
      </p:sp>
    </p:spTree>
    <p:extLst>
      <p:ext uri="{BB962C8B-B14F-4D97-AF65-F5344CB8AC3E}">
        <p14:creationId xmlns:p14="http://schemas.microsoft.com/office/powerpoint/2010/main" val="89106239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74030-CAA3-4C09-86F4-5E3F7227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3 · CONCLUSION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6D04F-F4B0-4852-B544-C001678D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Conclusion: adjustable spread and positive transfer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F2030-627D-45B9-ABE4-37FAB22E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3e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2CDBB-A83D-4340-9DEE-E2B75187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27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6499C-392E-444E-A1EF-7289EB88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conclusions from two flow backbones and two modalities (paper v8)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E47F1-EC5F-426F-AE72-52A41C6B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BDG adds a batch-dispersion control to plug-in guidance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AF361-9E8C-482D-A665-81AD0144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479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Molecules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158F9-ED48-4868-98E8-323C8DA3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28925"/>
            <a:ext cx="509587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setpoint changes decoded spread monotonically on both flow backbones. At τₘ = 0.5, all six tasks have higher mean coverage and lower MAE than plug-in, with unresolved coverage differences.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DF915-B92B-43ED-BAC2-B67B6129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479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DNA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5F8E0-9E5C-4BDD-A9CD-1EAA18A4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28925"/>
            <a:ext cx="509587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same rule improves CpG coverage by +4.82 and +16.83 points at w = 1 and 4. Hamming diversity stays nearly constant, while 3-mer JSD increases.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D8133-2C89-41C6-A41A-046F298D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482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The control uses plug-in’s network-call budget. η = 0 recovers plug-in, which makes the added term directly testable.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EC50A-A715-4787-A3F1-23777783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Next: matched-force and replay controls, batch-aware uncertainty, joint chemical yield, and transfer to additional simplex generators.</a:t>
            </a:r>
          </a:p>
        </p:txBody>
      </p:sp>
    </p:spTree>
    <p:extLst>
      <p:ext uri="{BB962C8B-B14F-4D97-AF65-F5344CB8AC3E}">
        <p14:creationId xmlns:p14="http://schemas.microsoft.com/office/powerpoint/2010/main" val="119358216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0" name="Google Shape;680;p30">
            <a:extLst xmlns:a="http://schemas.openxmlformats.org/drawingml/2006/main">
              <a:ext uri="{FF2B5EF4-FFF2-40B4-BE49-F238E27FC236}">
                <a16:creationId xmlns:a16="http://schemas.microsoft.com/office/drawing/2014/main" id="{CE7F0A9C-AA27-4E81-8BC8-7625541D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507938"/>
            <a:ext cx="10883529" cy="238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sz="1200" b="1" i="0" u="none" cap="none">
                <a:solidFill>
                  <a:srgbClr val="1F5FA9"/>
                </a:solidFill>
                <a:latin typeface="IBM Plex Sans"/>
                <a:ea typeface="IBM Plex Sans"/>
                <a:cs typeface="IBM Plex Sans"/>
              </a:rPr>
              <a:t>REFERENCES · 1 OF 2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1" name="Google Shape;681;p30">
            <a:extLst xmlns:a="http://schemas.openxmlformats.org/drawingml/2006/main">
              <a:ext uri="{FF2B5EF4-FFF2-40B4-BE49-F238E27FC236}">
                <a16:creationId xmlns:a16="http://schemas.microsoft.com/office/drawing/2014/main" id="{F5A4C871-7D8A-46FC-B6EA-F60E109A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746696"/>
            <a:ext cx="10883529" cy="416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sz="2800" b="1" i="0" u="none" cap="none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Bibliography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2" name="Google Shape;682;p30">
            <a:extLst xmlns:a="http://schemas.openxmlformats.org/drawingml/2006/main">
              <a:ext uri="{FF2B5EF4-FFF2-40B4-BE49-F238E27FC236}">
                <a16:creationId xmlns:a16="http://schemas.microsoft.com/office/drawing/2014/main" id="{BD04995C-C2D5-4976-AE24-E742F789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1290141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[1] R. Ramakrishnan, P. Dral, M. Rupp, O. von Lilienfeld. Quantum chemistry structures and properties of 134 kilo molecules.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Scientific Data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2014. (QM9)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3" name="Google Shape;683;p30">
            <a:extLst xmlns:a="http://schemas.openxmlformats.org/drawingml/2006/main">
              <a:ext uri="{FF2B5EF4-FFF2-40B4-BE49-F238E27FC236}">
                <a16:creationId xmlns:a16="http://schemas.microsoft.com/office/drawing/2014/main" id="{1A6B1266-DFB8-49C9-9A2B-3E97DD0E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1551719"/>
            <a:ext cx="10883529" cy="42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[2] E. Hoogeboom, V. Satorras, C. Vignac, M. Welling. Equivariant Diffusion for Molecule Generation in 3D.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ICML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2022. (EDM; our stability and validity conventions)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4" name="Google Shape;684;p30">
            <a:extLst xmlns:a="http://schemas.openxmlformats.org/drawingml/2006/main">
              <a:ext uri="{FF2B5EF4-FFF2-40B4-BE49-F238E27FC236}">
                <a16:creationId xmlns:a16="http://schemas.microsoft.com/office/drawing/2014/main" id="{F34ACA86-79DA-4A47-9341-F21F8EE2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2011375"/>
            <a:ext cx="10883529" cy="42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[3] T. Chen, Y. Zhang, S. Tang, P. Chatterjee. Multi-Objective-Guided Discrete Flow Matching for Controllable Biological Sequence Design. arXiv:2505.07086, 2025. (MOG-DFM)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5" name="Google Shape;685;p30">
            <a:extLst xmlns:a="http://schemas.openxmlformats.org/drawingml/2006/main">
              <a:ext uri="{FF2B5EF4-FFF2-40B4-BE49-F238E27FC236}">
                <a16:creationId xmlns:a16="http://schemas.microsoft.com/office/drawing/2014/main" id="{C3DE3682-3142-43CA-8A06-D02385F2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2471043"/>
            <a:ext cx="10883529" cy="42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[4] H. Stark, B. Jing, C. Wang, G. Corso, B. Berger, R. Barzilay, T. Jaakkola. Dirichlet Flow Matching with Applications to DNA Sequence Design.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ICML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2024. (Dirichlet FM; DeepFlyBrain data)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6" name="Google Shape;686;p30">
            <a:extLst xmlns:a="http://schemas.openxmlformats.org/drawingml/2006/main">
              <a:ext uri="{FF2B5EF4-FFF2-40B4-BE49-F238E27FC236}">
                <a16:creationId xmlns:a16="http://schemas.microsoft.com/office/drawing/2014/main" id="{EFF80064-D352-47AA-9840-AB1F7C27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2930711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[5] O. Davis, S. Kessler, M. Petrache, I. Ceylan, M. Bronstein, A. Bose. Fisher Flow Matching for Generative Modeling over Discrete Data.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NeurIPS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2024.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7" name="Google Shape;687;p30">
            <a:extLst xmlns:a="http://schemas.openxmlformats.org/drawingml/2006/main">
              <a:ext uri="{FF2B5EF4-FFF2-40B4-BE49-F238E27FC236}">
                <a16:creationId xmlns:a16="http://schemas.microsoft.com/office/drawing/2014/main" id="{4AD9F212-753C-4E57-A826-82635346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3192289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[6] Y. Lipman, R. Chen, H. Ben-Hamu, M. Nickel, M. Le. Flow Matching for Generative Modeling. arXiv:2210.02747, 2022.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8" name="Google Shape;688;p30">
            <a:extLst xmlns:a="http://schemas.openxmlformats.org/drawingml/2006/main">
              <a:ext uri="{FF2B5EF4-FFF2-40B4-BE49-F238E27FC236}">
                <a16:creationId xmlns:a16="http://schemas.microsoft.com/office/drawing/2014/main" id="{738CB509-87F0-429D-B734-AA556572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3453867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[7] X. Liu, C. Gong, Q. Liu. Flow Straight and Fast: Learning to Generate and Transfer Data with Rectified Flow. arXiv:2209.03003, 2022.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9" name="Google Shape;689;p30">
            <a:extLst xmlns:a="http://schemas.openxmlformats.org/drawingml/2006/main">
              <a:ext uri="{FF2B5EF4-FFF2-40B4-BE49-F238E27FC236}">
                <a16:creationId xmlns:a16="http://schemas.microsoft.com/office/drawing/2014/main" id="{74F8943C-7B36-4B1D-837F-0C39B02A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3715432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[8] M. Albergo, N. Boffi, E. Vanden-Eijnden. Stochastic Interpolants: A Unifying Framework for Flows and Diffusions.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JMLR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2025.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0" name="Google Shape;690;p30">
            <a:extLst xmlns:a="http://schemas.openxmlformats.org/drawingml/2006/main">
              <a:ext uri="{FF2B5EF4-FFF2-40B4-BE49-F238E27FC236}">
                <a16:creationId xmlns:a16="http://schemas.microsoft.com/office/drawing/2014/main" id="{B8EAC9D0-BCF7-4F43-8ED4-8CEAF23E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3977010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[9] V. Satorras, E. Hoogeboom, M. Welling. E(n) Equivariant Graph Neural Networks.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ICML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2021. (our backbone)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1" name="Google Shape;691;p30">
            <a:extLst xmlns:a="http://schemas.openxmlformats.org/drawingml/2006/main">
              <a:ext uri="{FF2B5EF4-FFF2-40B4-BE49-F238E27FC236}">
                <a16:creationId xmlns:a16="http://schemas.microsoft.com/office/drawing/2014/main" id="{D4292AD8-F2B2-4A51-8196-9E85AE76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4238588"/>
            <a:ext cx="10883529" cy="42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[10] Y. Song, J. Sohl-Dickstein, D. Kingma, A. Kumar, S. Ermon, B. Poole. Score-Based Generative Modeling through Stochastic Differential Equations.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ICLR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2021.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2" name="Google Shape;692;p30">
            <a:extLst xmlns:a="http://schemas.openxmlformats.org/drawingml/2006/main">
              <a:ext uri="{FF2B5EF4-FFF2-40B4-BE49-F238E27FC236}">
                <a16:creationId xmlns:a16="http://schemas.microsoft.com/office/drawing/2014/main" id="{08F9E79D-62E1-4128-9BD6-A37B6723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4698256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[11] T. Karras, M. Aittala, T. Aila, S. Laine. Elucidating the Design Space of Diffusion-Based Generative Models.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NeurIPS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2022.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3" name="Google Shape;693;p30">
            <a:extLst xmlns:a="http://schemas.openxmlformats.org/drawingml/2006/main">
              <a:ext uri="{FF2B5EF4-FFF2-40B4-BE49-F238E27FC236}">
                <a16:creationId xmlns:a16="http://schemas.microsoft.com/office/drawing/2014/main" id="{5F676232-1AE0-4330-A653-515BDC5C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4959834"/>
            <a:ext cx="10883529" cy="42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[12] H. Chung, J. Kim, M. McCann, M. Klasky, J. Ye. Diffusion Posterior Sampling for General Noisy Inverse Problems.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ICLR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2023. (DPS; our plug-in arm's ancestor)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4" name="Google Shape;694;p30">
            <a:extLst xmlns:a="http://schemas.openxmlformats.org/drawingml/2006/main">
              <a:ext uri="{FF2B5EF4-FFF2-40B4-BE49-F238E27FC236}">
                <a16:creationId xmlns:a16="http://schemas.microsoft.com/office/drawing/2014/main" id="{12C84F0B-0BF0-4F02-86AB-C839A9A7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5419489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[13] Velocity-relative correction cap: implementation choice in this study, shared by every guidance arm.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5" name="Google Shape;695;p30">
            <a:extLst xmlns:a="http://schemas.openxmlformats.org/drawingml/2006/main">
              <a:ext uri="{FF2B5EF4-FFF2-40B4-BE49-F238E27FC236}">
                <a16:creationId xmlns:a16="http://schemas.microsoft.com/office/drawing/2014/main" id="{E3AB9FA6-246C-4A28-993A-EF19DA2D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6444072"/>
            <a:ext cx="1962099" cy="18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sz="900" b="0" i="0" u="none" cap="none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28 / 29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459576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1" name="Google Shape;701;p31">
            <a:extLst xmlns:a="http://schemas.openxmlformats.org/drawingml/2006/main">
              <a:ext uri="{FF2B5EF4-FFF2-40B4-BE49-F238E27FC236}">
                <a16:creationId xmlns:a16="http://schemas.microsoft.com/office/drawing/2014/main" id="{C755C251-E92B-4464-9ED5-3730A9DD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507938"/>
            <a:ext cx="10883529" cy="238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sz="1200" b="1" i="0" u="none" cap="none">
                <a:solidFill>
                  <a:srgbClr val="1F5FA9"/>
                </a:solidFill>
                <a:latin typeface="IBM Plex Sans"/>
                <a:ea typeface="IBM Plex Sans"/>
                <a:cs typeface="IBM Plex Sans"/>
              </a:rPr>
              <a:t>REFERENCES · 2 OF 2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2" name="Google Shape;702;p31">
            <a:extLst xmlns:a="http://schemas.openxmlformats.org/drawingml/2006/main">
              <a:ext uri="{FF2B5EF4-FFF2-40B4-BE49-F238E27FC236}">
                <a16:creationId xmlns:a16="http://schemas.microsoft.com/office/drawing/2014/main" id="{C7ED7442-21DA-46D7-B39A-FC371FA2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746696"/>
            <a:ext cx="10883529" cy="416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sz="2800" b="1" i="0" u="none" cap="none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Bibliography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3" name="Google Shape;703;p31">
            <a:extLst xmlns:a="http://schemas.openxmlformats.org/drawingml/2006/main">
              <a:ext uri="{FF2B5EF4-FFF2-40B4-BE49-F238E27FC236}">
                <a16:creationId xmlns:a16="http://schemas.microsoft.com/office/drawing/2014/main" id="{D2C14E32-881B-4407-ABD5-6E2E4206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1290141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[14] J. Ho, T. Salimans. Classifier-Free Diffusion Guidance. arXiv:2207.12598, 2022.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4" name="Google Shape;704;p31">
            <a:extLst xmlns:a="http://schemas.openxmlformats.org/drawingml/2006/main">
              <a:ext uri="{FF2B5EF4-FFF2-40B4-BE49-F238E27FC236}">
                <a16:creationId xmlns:a16="http://schemas.microsoft.com/office/drawing/2014/main" id="{B27E8206-5EF5-4E7B-BC68-7FC27AF2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1551719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[15] H. Ye, H. Lin, J. Han, M. Xu, S. Liu, Y. Liang, J. Ma, J. Zou, S. Ermon. TFG: Unified Training-Free Guidance for Diffusion Models.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NeurIPS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2024.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5" name="Google Shape;705;p31">
            <a:extLst xmlns:a="http://schemas.openxmlformats.org/drawingml/2006/main">
              <a:ext uri="{FF2B5EF4-FFF2-40B4-BE49-F238E27FC236}">
                <a16:creationId xmlns:a16="http://schemas.microsoft.com/office/drawing/2014/main" id="{73A0FA2E-059C-49D7-8D11-AE6D66EC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1813297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[16] H. Wang, Y. Liu, J. Chi, F. Liu, R. Xue, Y. Duan. CFG-Ctrl: Control-Based Classifier-Free Diffusion Guidance. arXiv:2603.03281, 2026.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6" name="Google Shape;706;p31">
            <a:extLst xmlns:a="http://schemas.openxmlformats.org/drawingml/2006/main">
              <a:ext uri="{FF2B5EF4-FFF2-40B4-BE49-F238E27FC236}">
                <a16:creationId xmlns:a16="http://schemas.microsoft.com/office/drawing/2014/main" id="{BD4536FE-2AD1-4564-B319-BF98BF60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2074875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[17] F. Koulischer, F. Handke, J. Deleu, T. Demeester, L. Ambrogioni. Feedback Guidance of Diffusion Models.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NeurIPS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2025. arXiv:2506.06085.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7" name="Google Shape;707;p31">
            <a:extLst xmlns:a="http://schemas.openxmlformats.org/drawingml/2006/main">
              <a:ext uri="{FF2B5EF4-FFF2-40B4-BE49-F238E27FC236}">
                <a16:creationId xmlns:a16="http://schemas.microsoft.com/office/drawing/2014/main" id="{56DA9D07-3868-4D57-807B-5FDD03B1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2336453"/>
            <a:ext cx="10883529" cy="42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[18] E. Lempereur, N. Cuvelle-Magar, F. Coeurdoux, S. Mallat, E. Vanden-Eijnden. MGD: Moment Guided Diffusion for Maximum Entropy Generation. arXiv:2602.17211, 2026. (closest prior art)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8" name="Google Shape;708;p31">
            <a:extLst xmlns:a="http://schemas.openxmlformats.org/drawingml/2006/main">
              <a:ext uri="{FF2B5EF4-FFF2-40B4-BE49-F238E27FC236}">
                <a16:creationId xmlns:a16="http://schemas.microsoft.com/office/drawing/2014/main" id="{DB98AA60-2E78-48F9-808A-6A09F139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2796108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[19] I. Azangulov, L. Zhang, K. Ashouritaklimi. Variance-Tilted Diffusion Models for Diverse Sampling. arXiv:2606.22239, 2026.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9" name="Google Shape;709;p31">
            <a:extLst xmlns:a="http://schemas.openxmlformats.org/drawingml/2006/main">
              <a:ext uri="{FF2B5EF4-FFF2-40B4-BE49-F238E27FC236}">
                <a16:creationId xmlns:a16="http://schemas.microsoft.com/office/drawing/2014/main" id="{9535355D-85BC-4EAF-B767-81421D4F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3057686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[20] G. Corso, Y. Xu, V. De Bortoli, R. Barzilay, T. Jaakkola. Particle Guidance: Non-I.I.D. Diverse Sampling with Diffusion Models.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ICLR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2024.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0" name="Google Shape;710;p31">
            <a:extLst xmlns:a="http://schemas.openxmlformats.org/drawingml/2006/main">
              <a:ext uri="{FF2B5EF4-FFF2-40B4-BE49-F238E27FC236}">
                <a16:creationId xmlns:a16="http://schemas.microsoft.com/office/drawing/2014/main" id="{D2F2AEDD-12E2-4159-A9E4-7995E2F8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3319264"/>
            <a:ext cx="10883529" cy="42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[21] E. Ventura, B. Achilli, L. Ambrogioni, C. Lucibello. Negative guidance reduces means and expands variances in diffusion models. arXiv:2602.00716, 2026.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1" name="Google Shape;711;p31">
            <a:extLst xmlns:a="http://schemas.openxmlformats.org/drawingml/2006/main">
              <a:ext uri="{FF2B5EF4-FFF2-40B4-BE49-F238E27FC236}">
                <a16:creationId xmlns:a16="http://schemas.microsoft.com/office/drawing/2014/main" id="{4CAD5EAC-9911-46C9-B36E-EB6F3088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3778932"/>
            <a:ext cx="10883529" cy="42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[22] B. Boys, M. Girolami, J. Pidstrigach, S. Reich, A. Mosca, O. D. Akyildiz. Tweedie Moment Projected Diffusions for Inverse Problems.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TMLR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2024. (TMPD)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2" name="Google Shape;712;p31">
            <a:extLst xmlns:a="http://schemas.openxmlformats.org/drawingml/2006/main">
              <a:ext uri="{FF2B5EF4-FFF2-40B4-BE49-F238E27FC236}">
                <a16:creationId xmlns:a16="http://schemas.microsoft.com/office/drawing/2014/main" id="{F048B775-6D15-4C2A-84F4-B4B5A8A6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4238588"/>
            <a:ext cx="10883529" cy="42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[23] J. Song, Q. Zhang, H. Yin, M. Mardani, M.-Y. Liu, J. Kautz, Y. Chen, A. Vahdat. Loss-Guided Diffusion Models for Plug-and-Play Controllable Generation.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ICML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2023. (LGD-MC)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3" name="Google Shape;713;p31">
            <a:extLst xmlns:a="http://schemas.openxmlformats.org/drawingml/2006/main">
              <a:ext uri="{FF2B5EF4-FFF2-40B4-BE49-F238E27FC236}">
                <a16:creationId xmlns:a16="http://schemas.microsoft.com/office/drawing/2014/main" id="{4E3A85BE-A6A7-450A-A558-88FADFB5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4698256"/>
            <a:ext cx="10883529" cy="42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[24] Y. Song, J. Gong, M. Xu, Z. Cao, Y. Lan, S. Ermon, H. Zhou, W.-Y. Ma. Equivariant Flow Matching with Hybrid Probability Transport for 3D Molecule Generation.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NeurIPS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2023. (EquiFM; appendix)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4" name="Google Shape;714;p31">
            <a:extLst xmlns:a="http://schemas.openxmlformats.org/drawingml/2006/main">
              <a:ext uri="{FF2B5EF4-FFF2-40B4-BE49-F238E27FC236}">
                <a16:creationId xmlns:a16="http://schemas.microsoft.com/office/drawing/2014/main" id="{9AC880A0-91AC-4DE1-9F81-B7574EBD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5157912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[25] F. Bao, M. Zhao, Z. Hao, P. Li, C. Li, J. Zhu. Equivariant Energy-Guided SDE for Inverse Molecular Design.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ICLR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2023. (EEGSDE; appendix)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5" name="Google Shape;715;p31">
            <a:extLst xmlns:a="http://schemas.openxmlformats.org/drawingml/2006/main">
              <a:ext uri="{FF2B5EF4-FFF2-40B4-BE49-F238E27FC236}">
                <a16:creationId xmlns:a16="http://schemas.microsoft.com/office/drawing/2014/main" id="{666549E4-16C9-4475-926A-E0E5F117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6444059"/>
            <a:ext cx="1962099" cy="18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sz="900" b="0" i="0" u="none" cap="none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29 / 29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901194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620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9CB827-89B1-4FCB-A823-F4BE5465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144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rPr>
              <a:t>APPENDIX · FOR 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3D3DC-89DA-4D87-9669-1A44CCCD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09725"/>
            <a:ext cx="1057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7F6F2"/>
                </a:solidFill>
                <a:latin typeface="Source Serif 4"/>
                <a:ea typeface="Source Serif 4"/>
                <a:cs typeface="Source Serif 4"/>
              </a:defRPr>
            </a:pPr>
            <a:r>
              <a:rPr sz="3825" b="1">
                <a:solidFill>
                  <a:srgbClr val="F7F6F2"/>
                </a:solidFill>
                <a:latin typeface="Source Serif 4"/>
                <a:ea typeface="Source Serif 4"/>
                <a:cs typeface="Source Serif 4"/>
              </a:rPr>
              <a:t>Implementation and full comparisons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B3AB1-1A80-4020-9284-BEF407EF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289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rPr>
              <a:t>A1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FA95C-3C08-460D-85B8-3D371184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2289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EquiFM and its adapter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4B9EC-5710-4D8B-B43C-DDFBF719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909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rPr>
              <a:t>A2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CD01E-503C-4844-8303-758CBA2F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7909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EGNN, f_A and f_B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2B57F-AF51-455E-A69D-B2607F5C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rPr>
              <a:t>A3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2B7E1-E9EF-47CB-8F93-3F9E8FED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3529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Data split and fixed sizes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6F025-1D82-4E11-8F9B-2D18FB4B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149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rPr>
              <a:t>A4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33173-EAB0-46DD-80A7-F50097E1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9149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Guidance rules and cost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D9C6C-23F1-4A40-B691-9AE07E90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768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rPr>
              <a:t>A5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934CA-A1F4-4A1E-AF1E-55FE8EDD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4768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BDG algorithm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99F561-AA50-4396-A0EA-9C394C52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289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rPr>
              <a:t>A6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805D3-FF1B-40A0-AFDA-A16439A5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2289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DNA model architecture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BC049-8BFE-4082-8C6C-4EB30F98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909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rPr>
              <a:t>A7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D05D3E-4A0F-4F97-886E-52A2328E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7909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Point cloud to molecule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EACE4-0CB2-4591-B6EF-1120967B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52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rPr>
              <a:t>A8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AC977-BC7E-4B93-A768-20BF7FB7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3529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All molecular ablation grids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51502-F864-48A9-A663-7FE96FD6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149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rPr>
              <a:t>A9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2E32B8-7B81-4046-B5C6-6383F75B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9149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DNA at w = 1</a:t>
            </a:r>
          </a:p>
        </p:txBody>
      </p:sp>
    </p:spTree>
    <p:extLst>
      <p:ext uri="{BB962C8B-B14F-4D97-AF65-F5344CB8AC3E}">
        <p14:creationId xmlns:p14="http://schemas.microsoft.com/office/powerpoint/2010/main" val="74534521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48030-A50B-4643-8C9F-A48C9CC9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A1 · BORROWED GENERATOR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32E80-8556-4CBB-A231-5112314C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EquiFM is a separate flow-matching backend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23B74-404B-4D5C-8F8D-D420D75E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86FD1-1F2B-44D6-8CF5-9C7FA0DA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BA491-D026-4C79-BE75-9243EA8B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[24] Song et al. 2023 (EquiFM) · [2] Hoogeboom et al. 2022 · released checkpoint audit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10572750" cy="2686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52750"/>
                <a:gridCol w="7620000"/>
              </a:tblGrid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Released checkpoint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Configuration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Architecture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Equivariant GNN dynamics, 256 × 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Parameters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5,339,920 (EMA)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State per atom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 coordinates + one-hot types / 4 + charge / 10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Native time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τ = 1 at noise, τ = 0 at data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Sampling in our study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100 Euler steps, 3 seeds × 2,000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91294-7A32-4C21-8A15-35B2C8C4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Hybrid probability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2A364-EB2A-4CAC-8BA2-D3890830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53000"/>
            <a:ext cx="50958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Coordinates use aligned noise (rotation and permutation matching). Type and charge channels use a variance-preserving path. These differ from our straight Gaussian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7A2E3-E457-4B9D-A143-E4A604AB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Why include 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5EEEE-2CE3-458C-958B-4CAC7B03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50958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It tests the guidance rule on a second flow generator trained outside this project. Its 86.2% molecule stability provides a different starting operating point.</a:t>
            </a:r>
          </a:p>
        </p:txBody>
      </p:sp>
    </p:spTree>
    <p:extLst>
      <p:ext uri="{BB962C8B-B14F-4D97-AF65-F5344CB8AC3E}">
        <p14:creationId xmlns:p14="http://schemas.microsoft.com/office/powerpoint/2010/main" val="91222572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362DB-2ACE-44DB-8D7E-ABE87DE7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A1 · BACKEND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05F3B-08A5-46C1-BD91-7001AE0B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The EquiFM adapter preserves its native dynamics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3F1EF-058A-4702-9979-A7C8DE14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2081E-4DEB-47A3-AC6C-B4EA061D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F14CF-633E-4137-AA28-11C0EE3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[24] Song et al. 2023 · [15] Ye et al. 2024 · transfer_sweep.py EquiFM backend and calibration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09625" y="1552575"/>
          <a:ext xmlns:a="http://schemas.openxmlformats.org/drawingml/2006/main" cx="10572750" cy="3371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09875"/>
                <a:gridCol w="7762875"/>
              </a:tblGrid>
              <a:tr h="5619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Adapter component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Treatment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Predicted endpoint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Use EquiFM’s regression-target algebra for coordinates and features.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Plug-in / BDG / TFG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Differentiate the adapted endpoint through its native model.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TMPD / LGD-MC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Use a covariance surrogate. It is approximate for aligned coordinates.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Feature channels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Keep the model’s normalization. Hold charge fixed during guidance.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Guide / evaluator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Use TFG’s released property pair, with backend-specific calibrated bands.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7E4BE-2F10-4BE0-9955-3CDF0D90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006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Band widths differ from our predictor pair: δ = 0.157 D (μ), 0.165 Bohr³ (α), 0.0037 Ha (gap). Compare guidance arms within EquiFM.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17712-E6CB-4676-AC1C-96945C35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817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Same-seed reruns can shift coverage by up to 0.7 points. Keep this numerical variation in view for small contrasts.</a:t>
            </a:r>
          </a:p>
        </p:txBody>
      </p:sp>
    </p:spTree>
    <p:extLst>
      <p:ext uri="{BB962C8B-B14F-4D97-AF65-F5344CB8AC3E}">
        <p14:creationId xmlns:p14="http://schemas.microsoft.com/office/powerpoint/2010/main" val="106783213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38A7A-B9AC-4294-9030-6E4FF9DE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A2 · EGNN 1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5BBE0-34E6-40BF-9CF6-2C5FA38E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EGNN: the geometry built into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59281-DB1F-46C0-A059-954CE2E8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1D6E1-6058-4DFD-971D-85E5E920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F89CE-523B-4532-B9F1-45BFEE6D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[9] Satorras, Hoogeboom &amp; Welling, E(n)-Equivariant Graph Neural Networks, ICML 2021 · egnn.py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12DF7-4D91-46C0-9DBA-78DEFC48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430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EGNN = E(n)-Equivariant Graph Neural Network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E745C-5DEA-46CB-9F75-B15C7D3F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F11FD-6AE1-4275-ADD4-E7E60830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50958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Each real atom is a node. Connect every pair of distinct real atoms (at most 29). The mask excludes padding and self-pairs.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F9B05-345F-45C5-B173-E7B1E4A4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E(n): Euclidean symmetry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A7E2F-8AE5-41D9-9870-598F27AB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0958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Rotations, reflections and translations. In 3D, rotating a molecule rotates its coordinate updates. Scalar properties such as dipole magnitude remain unchanged.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E28B4-C905-4E5C-BB0B-EFB55ED4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100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How each layer preserves symmetry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13373-E2E4-4FE0-AF1B-2BB34009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91050"/>
            <a:ext cx="5095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Squared distances do not change under rotation. Difference vectors rotate with the molecule. Learned scalar weights multiply those vectors. Summing neighbours removes dependence on their order.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7964A-A5D0-4809-8054-5340295A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What we implemented and trained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BF2D7-D46B-4ED4-9813-323F4114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50958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Our plain-PyTorch EGNN and all “our” generators and predictors train from scratch on QM9. EquiFM and EDM use separate borrowed checkpoints.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25486B-5DA6-4854-9AD2-9D2A6B28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00750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A dipole vector rotates with the molecule. Our target μ is its scalar magnitude. Recentring removes translation from coordinate velocities.</a:t>
            </a:r>
          </a:p>
        </p:txBody>
      </p:sp>
    </p:spTree>
    <p:extLst>
      <p:ext uri="{BB962C8B-B14F-4D97-AF65-F5344CB8AC3E}">
        <p14:creationId xmlns:p14="http://schemas.microsoft.com/office/powerpoint/2010/main" val="44551709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818565-558B-4AF2-B6D6-C6F5DC58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A2 · EGNN 2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2EEF5-A9EA-4C1D-8B97-3B485D30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One EGNN layer, step by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6C63E-EFEF-498D-8B28-DAE90B2F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F97BD-E488-4A28-8142-824AB128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9D2B1-AE7F-4F91-8C82-E81BDC3D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[9] Satorras et al. 2021 · proj1/src/models/egnn.py:58–106 (our masked implementation)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75F15-CF67-4B5A-86CF-BBCF9E9E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95425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Atom i carries a feature vector hᵢ and a position xᵢ. Each φ is a small MLP.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3ACD6-F9FE-491A-8C7C-46FDA5F0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336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1. Messages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4E2F9-EE5F-4883-A418-57915405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33600"/>
            <a:ext cx="800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mᵢⱼ = φₑ(hᵢ, hⱼ, ‖xᵢ − xⱼ‖²)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96DA8-5811-4FD8-8272-3DF92934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2890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What atom j tells atom i, given their features and squared distance.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C8A3A-3BF1-4BD8-B740-377DF69D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623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2. Features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DA43E-A310-4AC1-A0A1-6FB64117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62325"/>
            <a:ext cx="800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hᵢ ← hᵢ + φₕ(hᵢ, Σⱼ mᵢⱼ)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6D9CF-FD2A-42EE-BC16-A0DC9E4D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57625"/>
            <a:ext cx="800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Add the messages, then update atom i’s feature vector.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E04B8-EACC-434D-BB52-DA7503C7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52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3. Coordinates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1BD6E-5955-42DA-A3CD-4790B1A9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52950"/>
            <a:ext cx="8001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xᵢ ← xᵢ + Σⱼ (xᵢ − xⱼ) φₓ(mᵢⱼ) / (dᵢⱼ + 1)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AB8E2A-384F-4267-8DD4-3531BDFE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114925"/>
            <a:ext cx="800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Move along atom-to-atom directions by learned scalar amounts.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dᵢⱼ = √(‖xᵢ − xⱼ‖² + 10⁻⁸) in code.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9E20E5-BB1D-43D2-9DCB-1B715499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9122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Mask every update. One dense layer already reaches all atoms. Stacking layers learns more complex interactions.</a:t>
            </a:r>
          </a:p>
        </p:txBody>
      </p:sp>
    </p:spTree>
    <p:extLst>
      <p:ext uri="{BB962C8B-B14F-4D97-AF65-F5344CB8AC3E}">
        <p14:creationId xmlns:p14="http://schemas.microsoft.com/office/powerpoint/2010/main" val="171667623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A2E95A-7F79-4A01-AB0B-D68102A1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A2 · EGNN 3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D6923-2A00-4D47-836A-C2D7F5CF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Two EGNN classes, two different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2FAEF-406B-4EE5-968B-C4ABF3C6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BB39D-AA97-4FB1-A55D-DB02E98C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94D4A-D8BF-46C7-AF5B-0CF713AF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[9] Satorras et al. 2021 · egnn.py: EGNNVelocity and EGNNScalar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139C2-1B3F-4CBC-9EEE-0681928D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62100"/>
            <a:ext cx="509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EGNNVelocity: the generator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F0D7A-0D78-43DE-8926-D8EFBA80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14550"/>
            <a:ext cx="5095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Input: noisy coordinates, continuous type channels, time t and atom mask.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CCFAF-A7D5-435E-AFEE-BFC28851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14650"/>
            <a:ext cx="50958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Run the EGNN stack with coordinate updates.</a:t>
            </a:r>
          </a:p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Coordinate output = final − initial positions, then recenter.</a:t>
            </a:r>
          </a:p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Type output = MLP on each final atom feature.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41887-0F76-45E8-8AAD-69042D6C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19625"/>
            <a:ext cx="5095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FM reads these outputs as velocity.</a:t>
            </a:r>
          </a:p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VP reads the same architecture’s outputs as noise ε. A 100-step FM sampler calls this generator once per step.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68F67-A805-4C47-AE96-70F06110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62100"/>
            <a:ext cx="509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EGNNScalar: one property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20AE1-4D0A-4B5A-B514-C9DE2874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50958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Input: a molecule and its atom mask.</a:t>
            </a:r>
          </a:p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Keep coordinates fixed (update_coords=False).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DE325-6616-42FA-A9D1-A137933D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57525"/>
            <a:ext cx="509587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1. Run the feature-message layers.</a:t>
            </a:r>
          </a:p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2. Average features over real atoms only.</a:t>
            </a:r>
          </a:p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3. Apply the pooling MLP: this is the embedding.</a:t>
            </a:r>
          </a:p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4. One linear head returns μ, α or gap.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47A51-9CFB-4F6B-B4D7-1A9E2831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00625"/>
            <a:ext cx="5095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pooled scalar is unchanged by atom order or rigid transformations. f_A and f_B are separately trained copies of this class.</a:t>
            </a:r>
          </a:p>
        </p:txBody>
      </p:sp>
    </p:spTree>
    <p:extLst>
      <p:ext uri="{BB962C8B-B14F-4D97-AF65-F5344CB8AC3E}">
        <p14:creationId xmlns:p14="http://schemas.microsoft.com/office/powerpoint/2010/main" val="62913989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4DCC2-9620-4441-9345-3F88130A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A2 · PROPERTY PREDICTORS 4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FF93C-CA1A-4E5A-B000-3C667415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f_A steers; f_B evaluates after decoding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571EB-24F3-40D3-865E-58E7712A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4F12A-B87A-4CBD-AD69-BC7E9505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C9E96-FB0E-4616-88DC-06544593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[9] Satorras et al. 2021 · predictor training and calibration audit · [15] Ye et al. 2024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09625" y="1533525"/>
          <a:ext xmlns:a="http://schemas.openxmlformats.org/drawingml/2006/main" cx="10572750" cy="32004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4429125"/>
                <a:gridCol w="4429125"/>
              </a:tblGrid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/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f_A: guide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f_B: evaluator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Training data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train_a, 51,527 molecules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train_b, 51,527 molecules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Architecture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EGNNScalar, width 128 × 4, 429,825 parameters per property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Same architecture, independent weights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Training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Standardized-target MSE, Adam 3 × 10⁻⁴ cosine, batch 128, 120 epochs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Best validation MAE, no EMA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Sampling role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Differentiate f_A(m) through the predicted endpoint 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Never called inside the guidance update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Evaluation role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Diagnostic guide score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Score final coordinates and decoded one-hot atom types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D773A-F1B5-4EC3-A7DA-E6633292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720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Our pair evaluates our FM, VP and borrowed EDMsecond. EquiFM uses TFG’s released predictor pair and its own bands.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C21EC-34E7-4859-B3D9-A5C6A66C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10572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Calibration MAE of f_B: μ 0.0877 D, α 0.2531 Bohr³, gap 0.00374 Ha. Band half-width δ = 2 × MAE. Independent training reduces shared bias but does not eliminate evaluator error.</a:t>
            </a:r>
          </a:p>
        </p:txBody>
      </p:sp>
    </p:spTree>
    <p:extLst>
      <p:ext uri="{BB962C8B-B14F-4D97-AF65-F5344CB8AC3E}">
        <p14:creationId xmlns:p14="http://schemas.microsoft.com/office/powerpoint/2010/main" val="115541172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F72A4-5C6A-4725-B9CD-EA750598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A3 · DATA AND SAMPLE SIZES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F0493-8D53-4E6E-BA0B-977BB29B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Data split and fixed atom-count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9E85A-F619-46AE-88FB-E370E94D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2929D-556C-4B8E-B0BD-ADD3D793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0BCF4-9D6E-420F-BA88-62CE1AEE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QM9 split seed 20260917 · transfer_sweep.py:2382–2426 · first 2,000 validation masks in data/qm9.pt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809625" y="1533525"/>
          <a:ext xmlns:a="http://schemas.openxmlformats.org/drawingml/2006/main" cx="10572750" cy="2333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6524625"/>
                <a:gridCol w="176212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Split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Used by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train_a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Our FM, VP and f_A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51,527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train_b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Our f_B only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51,527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Validation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Checkpoint selection and the 2,000 size masks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17,748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Test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Held out from training and checkpoint selection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13,083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0AF30-4722-4BA8-B159-1400985C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195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Exactly which sizes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584FC-A69E-4584-9F77-4F338BC2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00575"/>
            <a:ext cx="50958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Molecule i uses validation molecule i’s atom count for i = 0…1999. The same ordered list goes to every arm, seed and backend. Seeds change only initial noise.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99A82-4451-4903-BFF7-A0B0D9E6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95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Size and target are separate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F78DB-C534-4C7D-B784-99F2C573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00575"/>
            <a:ext cx="50958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Every molecule receives the same q50 property target, whatever its size. No histogram sampling, target-based filtering or size filtering. Min 8, median 18, mean 17.87, max 29.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45342-30CD-4A30-B172-5D34AA7F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7217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Calibration uses 3,000 molecules from train_a + train_b. Each of our predictors is scored on the half it did not train on.</a:t>
            </a:r>
          </a:p>
        </p:txBody>
      </p:sp>
    </p:spTree>
    <p:extLst>
      <p:ext uri="{BB962C8B-B14F-4D97-AF65-F5344CB8AC3E}">
        <p14:creationId xmlns:p14="http://schemas.microsoft.com/office/powerpoint/2010/main" val="165966259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03E08-9B98-4BEF-A752-94A3F26D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A4 · RULES 1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A6531-79C1-41D9-907A-94117F0E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Guidance rules in a shared endpoint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5573A-4B2A-45E4-9C14-9BFAA0D8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36456-3294-4D19-AC5D-5F9B415E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EB059-DD8C-40CD-B07E-BCA05013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[12] Chung et al. 2023 · [22] Boys et al. 2024 · [23] Song et al. 2023 · [15] Ye et al. 2024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09625" y="1628775"/>
          <a:ext xmlns:a="http://schemas.openxmlformats.org/drawingml/2006/main" cx="10572750" cy="3771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81915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Arm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What changes relative to plug-in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DPS-style plug-in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Gaussian property residual (y − f_A(m)) / s², pulled back through Jᵀ.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TMPD-inspired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Divide by s² + gᵀΣg using a local covariance surrogate, g = ∇f_A(m).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LGD-MC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Average property gradients over Monte Carlo perturbations near m, with likelihood weights.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TFG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Add direct optimization of the predicted endpoint, with four refinement steps.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Replace the residual with (y − F̄) − (1 + ηe)(Fᵢ − F̄). Same gradient and pullback.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2096A-EB95-440F-A2F3-E71C48F6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292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All are adaptations on our frozen checkpoints. Shared atom masks, guidance window and velocity-relative cap. TMPD’s scalar surrogate and our TFG sampler differ from the original full algorithms.</a:t>
            </a:r>
          </a:p>
        </p:txBody>
      </p:sp>
    </p:spTree>
    <p:extLst>
      <p:ext uri="{BB962C8B-B14F-4D97-AF65-F5344CB8AC3E}">
        <p14:creationId xmlns:p14="http://schemas.microsoft.com/office/powerpoint/2010/main" val="109154503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7B429-1CC9-46C2-9A74-7E9B0306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A4 · RECORDED SAMPLING OPERATIONS 2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E834D-3853-4AA6-A05F-D3625CB3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BDG retains plug-in’s network-call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F2DFA-C82B-4A9F-A021-5F0C73BC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5BCF1-53FD-4E6B-8755-481B4D83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A59D7-2F8E-4A85-BC18-36C83D1C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Recorded cost fields · our FM, μ, w = 1, 2,000-molecule cell · paper v8 cost table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09625" y="1666875"/>
          <a:ext xmlns:a="http://schemas.openxmlformats.org/drawingml/2006/main" cx="10572750" cy="3505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1581150"/>
                <a:gridCol w="1581150"/>
                <a:gridCol w="1581150"/>
                <a:gridCol w="1581150"/>
                <a:gridCol w="1581150"/>
              </a:tblGrid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Method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Gen. forward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Gen. VJP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Gen. JVP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Guide forward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Guide backward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Unguided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DPS-style plug-in [12]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TMPD-inspired [22]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LGD-MC [23]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TFG [15]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BDG, τₘ = 0.5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800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BDG, τₘ = 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800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346D5-6271-48FE-8940-F3EF4C0C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816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 VJP is a vector–Jacobian product. A JVP is a Jacobian–vector product. Forward and derivative calls are separate operations, not equal-cost units.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EAE18-9C73-42C3-8F49-C307BC2E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483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BDG adds scalar batch reductions only. Main-table wall-clock also includes the evaluator.</a:t>
            </a:r>
          </a:p>
        </p:txBody>
      </p:sp>
    </p:spTree>
    <p:extLst>
      <p:ext uri="{BB962C8B-B14F-4D97-AF65-F5344CB8AC3E}">
        <p14:creationId xmlns:p14="http://schemas.microsoft.com/office/powerpoint/2010/main" val="102381676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D09B2-A770-4BBA-A4BF-CFD8688C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A5 · ALGORITHM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F63A3-86FD-44AF-AA54-38A3550B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One BDG-guided Euler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A7A13-CEDF-4426-80E3-0DC7A9B7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F6605-E71D-4AC2-B85A-5048D21E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6D52B-A17A-4C5D-B57C-684A82ED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algorithm · proj1/src/guidance.py and proj1/tests/test_bdg.py · η = 0 verified on our FM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09625" y="1476375"/>
          <a:ext xmlns:a="http://schemas.openxmlformats.org/drawingml/2006/main" cx="10572750" cy="43719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09625"/>
                <a:gridCol w="9763125"/>
              </a:tblGrid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Step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Computation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Compute v = vθ(xₜ, t). Before the guidance window, use xₜ₊ₕ = Π(xₜ + hv).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Predict endpoints mᵢ = xₜ,ᵢ + (1 − t)vᵢ, with differentiation enabled.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Evaluate Fᵢ = f_A(mᵢ), mean F̄ and unbiased batch variance Vᵦ.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Set τ = τₘs &gt; 0, e = (Vᵦ − τ²) / τ² and w_eff = 1 + ηe.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Detach aᵢ = [(y − Fᵢ) − ηe(Fᵢ − F̄)] / s².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One vector–Jacobian product: G = VJPₓ(F, a).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Set Cᵢ = w(1 − t)/max(t, ε) Gᵢ and cap ‖Cᵢ‖ at ‖vᵢ‖.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Return Π{xₜ + h(v + C)}.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3B0AF-BFE2-4906-B4D1-41D3008C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19800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Π masks and recentres molecules. For DNA, Π clamps and renormalizes each position. Batch size 500 means four independent controller batches per 2,000-sample cell.</a:t>
            </a:r>
          </a:p>
        </p:txBody>
      </p:sp>
    </p:spTree>
    <p:extLst>
      <p:ext uri="{BB962C8B-B14F-4D97-AF65-F5344CB8AC3E}">
        <p14:creationId xmlns:p14="http://schemas.microsoft.com/office/powerpoint/2010/main" val="77427011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9962D-2094-42E2-A48B-C31BAEF7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A6 · SIMPLEX FM 1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DD192-2273-447C-85B7-AC5C87DE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DNA velocity network and 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7F1FE-3978-46B1-8317-B0B4BE5F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4928D-4033-4B7C-A5E0-DA3DB973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F0A5A-D516-477F-B2D1-3C022647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[4] Stark et al. 2024 · our implementation: proj1/m2/simplex_fm.py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809625" y="1495425"/>
          <a:ext xmlns:a="http://schemas.openxmlformats.org/drawingml/2006/main" cx="10572750" cy="2933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838200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Stage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Implementation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Input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500 × 4 one-hot or relaxed base channels (A, C, G, T)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Stem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Conv1d 4 → 128, kernel 5, padding 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Body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 residual blocks: dilated Conv1d, GroupNorm(8), SiLU, 1×1 Conv1d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Dilations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1, 2, 4, 8 cycling across blocks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Time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Sinusoidal embedding + MLP, added within every block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Head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1×1 Conv1d 128 → 4, zero-initialized. About 1.02M parameters.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C8111-473B-4573-9F57-98C829B2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720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Path and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E018B-50DC-4F56-88BC-11A1B578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53025"/>
            <a:ext cx="5095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Linear interpolation from Dirichlet(1,1,1,1) noise to one-hot sequences. Regress the pairwise target velocity with mean squared error.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CDC76-CDDB-489F-BA9E-4C13A241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720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Completed 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9AF13-2B4A-49C5-B064-4511C834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53025"/>
            <a:ext cx="5095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1,500 epochs, 492k updates, 539.7 minutes on RTX A6000. Validation selects epoch 1,450 (update 475,600, loss 0.0633644).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AFA1E-4D82-4B84-82F2-A564E022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1027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GC is affine in relaxed base probabilities. CpG is quadratic. Their bands and clipping also differ, so curvature alone is not an established explanation.</a:t>
            </a:r>
          </a:p>
        </p:txBody>
      </p:sp>
    </p:spTree>
    <p:extLst>
      <p:ext uri="{BB962C8B-B14F-4D97-AF65-F5344CB8AC3E}">
        <p14:creationId xmlns:p14="http://schemas.microsoft.com/office/powerpoint/2010/main" val="98415777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BD8C4-5077-47CC-80D4-D190DF3C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A6 · SIMPLEX FM 2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65995-4C6B-48A4-AC46-F4F9B088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DNA properties, targets and bands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B9CB0-6CBB-45B1-A9AC-C27D17B0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D57D8-E9A2-41B2-B95C-423147E1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C0ED4-0001-4235-8D90-A6C1C162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DNA protocol · paper v8 Appendix: Sequence Transfer and Failure Diagnostics · results/m2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58B9D-7B80-4137-8C60-1A0DD6F0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GC(p) = Σⱼ(pⱼ,C + pⱼ,G) / 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BB23E-0483-4250-AF88-41DA3A58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669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CpG(p) = Σⱼ pⱼ,C pⱼ₊₁,G / (L − 1)       L = 500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C2DB3-0FAF-40DB-8894-9AB01962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24175"/>
            <a:ext cx="1057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soft score guides an extrapolated endpoint. The final score counts C/G bases or adjacent C–G pairs after argmax. The two scores need not agree.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809625" y="3819525"/>
          <a:ext xmlns:a="http://schemas.openxmlformats.org/drawingml/2006/main" cx="10572750" cy="14001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2190750"/>
                <a:gridCol w="2381250"/>
                <a:gridCol w="2190750"/>
                <a:gridCol w="20955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Property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q50 target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Calibration SD s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Half-width δ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δ / s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GC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0.454000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0.055206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0.008833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0.160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CpG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0.046092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0.014748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0.008818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0.598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58910-49D6-4603-A2FA-615470CA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67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δ = max(0.16s, 4.4q), with count quantum q = 1/500 for GC and 1/499 for CpG. The quantum floor sets the wider relative CpG band.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E2BAC-7A71-4941-AA03-9A31D0A5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8172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Compare arms within each property. Composition and diversity metrics do not establish biological enhancer function.</a:t>
            </a:r>
          </a:p>
        </p:txBody>
      </p:sp>
    </p:spTree>
    <p:extLst>
      <p:ext uri="{BB962C8B-B14F-4D97-AF65-F5344CB8AC3E}">
        <p14:creationId xmlns:p14="http://schemas.microsoft.com/office/powerpoint/2010/main" val="165021924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486B4-AF42-4142-8E9D-BE69D4C7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A7 · MOLECULAR DECODING 1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288CB-A331-4C4D-ADDB-B0C7FD77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From atom cloud to molecule: types and bonds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DD341-3000-49E4-91A7-1DC42574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1A624-235A-4E03-86F1-E1923676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36DF1-58BA-41EF-967B-2CC1B571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evaluation.py:73–95 · [2] Hoogeboom et al. 2022 (EDM bond-length tables, picometres)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47A89-1618-43E9-B9A2-4B23D97C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1. The generator outputs a point cloud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42785-B9B8-49B3-ABBA-5B838927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14525"/>
            <a:ext cx="5095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Each real atom slot contains (x, y, z) and five continuous type numbers. There are no bonds yet. Intermediate states are noisy point clouds.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A7CF3-7BF3-43E5-A113-40685F86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335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2. Argmax decides the element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ADDC2-25A7-4431-A332-70089E07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14525"/>
            <a:ext cx="5095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H / C / N / O / F channels: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[0.02, 0.97, 0.01, 0.00, 0.03] becomes C.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Only real slots participate. Ignore padding.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9B950-C425-426F-A9A4-CFBA106A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432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3. Infer bond orders from pairwise distances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75795-4608-427D-9CAA-5F32B357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29025"/>
            <a:ext cx="10572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Convert Å to pm (×100). Compare each element pair with EDM’s single/double/triple reference lengths, using margins of 10/5/3 pm.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809625" y="4429125"/>
          <a:ext xmlns:a="http://schemas.openxmlformats.org/drawingml/2006/main" cx="10572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3143250"/>
                <a:gridCol w="42862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C–C example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Reference length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Threshold in this decoder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Single bond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154 pm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139 ≤ d &lt; 164 pm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Double bond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134 pm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123 ≤ d &lt; 139 pm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Triple bond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120 pm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 &lt; 123 pm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No bond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—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 ≥ 164 pm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E5033-A3B3-4B46-ACFE-CC398D10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1982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Geometric decoding uses strict upper thresholds. It does not calculate molecular energy.</a:t>
            </a:r>
          </a:p>
        </p:txBody>
      </p:sp>
    </p:spTree>
    <p:extLst>
      <p:ext uri="{BB962C8B-B14F-4D97-AF65-F5344CB8AC3E}">
        <p14:creationId xmlns:p14="http://schemas.microsoft.com/office/powerpoint/2010/main" val="71917821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1513E5-AA2F-4934-8E70-D5F08D40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A7 · MOLECULAR DECODING 2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E26BD-18DA-4EEB-8702-B77234B6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Chemical validity and property scoring are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3E303-9283-4AC7-9696-A88086D4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1873C-6559-4357-8A35-EC5877B1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862C6-16AC-4F0B-A6C2-D69B6547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evaluation.py: atom stability, to_smiles and evaluate_molecules · [2] Hoogeboom et al. 2022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9D518-BB5E-4EB8-BA3E-71159088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6210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4. Check atom and molecule stability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617B7-6D57-4568-9DF1-358AB8AE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43100"/>
            <a:ext cx="509587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Add bond orders at each atom. The implemented allowed valences are H:1, C:4, N:3, O:2, F:1. An atom is stable if its total matches. A molecule is stable only if every real atom passes.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A860A-F667-4B6C-A355-3C1AEE8F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6210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5. Build and sanitize with RDKit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287C4-4FDB-49C4-ACCA-20698BF8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509587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Create atoms and inferred bonds, sanitize, then form canonical SMILES. Validity is the fraction that succeeds. Uniqueness counts distinct valid SMILES. DV divides that count by all attempts.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F677B-DEAE-46D0-8E95-5F5D63E6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195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6. Evaluate the decoded property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E06D6-6127-4756-9EA5-04ECEB06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00525"/>
            <a:ext cx="50958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f_B receives the final coordinates and argmax one-hot types. It predicts μ, α or gap. Check whether the value lies in y ± δ. The property network does not read the inferred bond graph.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3700B-B4FF-4FA4-9AB8-A6AAC76A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95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Why report multiple metrics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F0F35-9471-4D97-BD30-2E276340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00525"/>
            <a:ext cx="50958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in-band calculation includes invalid molecules. Stability, validity and diversity therefore accompany coverage. Current aggregate results do not give the joint fraction that is both in-band and stable.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15163-AD84-425E-8C1E-3BF75FD9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1027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f_B is an independent learned proxy for physical properties. Its error remains part of the molecular result.</a:t>
            </a:r>
          </a:p>
        </p:txBody>
      </p:sp>
    </p:spTree>
    <p:extLst>
      <p:ext uri="{BB962C8B-B14F-4D97-AF65-F5344CB8AC3E}">
        <p14:creationId xmlns:p14="http://schemas.microsoft.com/office/powerpoint/2010/main" val="83560037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437D8D-5C8F-4E14-9C2C-25F12985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A8 · FULL MOLECULAR ABLATIONS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D7D55-0474-4E79-AA69-8C129534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Our FM: complete gain × setpoint coverage grid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43CAD-8F12-470A-AB40-A372E4DA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4FCFF-1E98-4DE1-B6DE-802FD2DB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86179-3E43-49F1-832E-37B08621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306-cell fm ablation grid · all values decoded · paper v8 appendix tables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D11C4-D0C6-42F5-B51F-AD793BEC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668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ΔIB in percentage points versus η = 0 at the same w. Each cell: mean across 3 seeds × 2,000.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BC9D0-BF19-4C5E-9C91-548F82D2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05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μ  ·  w = 1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809625" y="2257425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-0.6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-1.5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+0.5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-1.2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-1.2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-2.1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+0.6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-0.8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-1.7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-2.4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+1.3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-2.0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-3.0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1C880-7283-48FA-A060-3520188F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05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α  ·  w = 1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4429125" y="2257425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+0.4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-0.1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+1.1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+0.1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-0.4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+0.9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+0.1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-0.4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-1.0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+1.4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+0.3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-0.7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-1.4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1FC1D-3298-4509-8EEB-CA5448AE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05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gap  ·  w = 1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8048625" y="2257425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+0.6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-0.5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-1.5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-1.4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-2.3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+1.5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-0.6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-2.1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-3.6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+2.2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-0.7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-2.4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-4.5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6C75B-D540-4668-A274-7F7AA4E8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052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μ  ·  w = 4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809625" y="4457700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-0.5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-2.4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-3.7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-1.0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-2.9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-3.7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-5.3</a:t>
                      </a:r>
                    </a:p>
                  </a:txBody>
                  <a:tcPr marL="85725" marR="85725" marT="38100" marB="38100" anchor="ctr">
                    <a:solidFill>
                      <a:srgbClr val="AA3D36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+0.4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-2.5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-4.2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-5.5</a:t>
                      </a:r>
                    </a:p>
                  </a:txBody>
                  <a:tcPr marL="85725" marR="85725" marT="38100" marB="38100" anchor="ctr">
                    <a:solidFill>
                      <a:srgbClr val="AA3D36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-0.5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-2.7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-4.4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-6.4</a:t>
                      </a:r>
                    </a:p>
                  </a:txBody>
                  <a:tcPr marL="85725" marR="85725" marT="38100" marB="38100" anchor="ctr">
                    <a:solidFill>
                      <a:srgbClr val="AA3D36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41A55-6437-4E76-9975-A97005B7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052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α  ·  w = 4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4429125" y="4457700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-0.5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-1.2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-0.7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-1.4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-2.1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-0.1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-2.8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+0.5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-1.1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-2.0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-3.3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BE1FC7-9C64-4909-BA72-66063A10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052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gap  ·  w = 4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048625" y="4457700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+0.5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-1.0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-2.5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-3.2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+0.4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-2.2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-3.8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-6.0</a:t>
                      </a:r>
                    </a:p>
                  </a:txBody>
                  <a:tcPr marL="85725" marR="85725" marT="38100" marB="38100" anchor="ctr">
                    <a:solidFill>
                      <a:srgbClr val="AA3D36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+0.7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-2.6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-5.2</a:t>
                      </a:r>
                    </a:p>
                  </a:txBody>
                  <a:tcPr marL="85725" marR="85725" marT="38100" marB="38100" anchor="ctr">
                    <a:solidFill>
                      <a:srgbClr val="AA3D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-8.0</a:t>
                      </a:r>
                    </a:p>
                  </a:txBody>
                  <a:tcPr marL="85725" marR="85725" marT="38100" marB="38100" anchor="ctr">
                    <a:solidFill>
                      <a:srgbClr val="AA3D36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+0.8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-2.1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-5.2</a:t>
                      </a:r>
                    </a:p>
                  </a:txBody>
                  <a:tcPr marL="85725" marR="85725" marT="38100" marB="38100" anchor="ctr">
                    <a:solidFill>
                      <a:srgbClr val="AA3D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-9.1</a:t>
                      </a:r>
                    </a:p>
                  </a:txBody>
                  <a:tcPr marL="85725" marR="85725" marT="38100" marB="38100" anchor="ctr">
                    <a:solidFill>
                      <a:srgbClr val="AA3D3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4834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42A723-F18F-44C4-B37F-3CC1F77F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A8 · FULL MOLECULAR ABLATIONS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343F4-0BBB-4FA0-972C-29CC7871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EquiFM: complete gain × setpoint coverage grid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B822B-D256-4764-A647-9C03BE04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DD699-66BA-4332-9BA6-C98A4A16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DBE18-FAE7-4B24-95D2-63ED467A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306-cell equifm ablation grid · all values decoded · paper v8 appendix tables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B66AD-BD9D-4AA8-9074-D685BD5F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668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ΔIB in percentage points versus η = 0 at the same w. Each cell: mean across 3 seeds × 2,000.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A04E8-C7A0-456D-AF6E-0018D566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05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μ  ·  w = 1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809625" y="2257425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+0.2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-0.4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-1.7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+0.5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-0.7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-1.7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-2.0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+1.1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-0.6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-2.0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-2.9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+1.1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-2.4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-3.0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D18FA-4E91-47D3-B29B-56E45F17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05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α  ·  w = 1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4429125" y="2257425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+0.3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+0.1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+0.1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-0.1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+0.3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+0.1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-0.4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+0.5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+0.1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-0.1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-0.5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53AF5-93AB-45D0-A2A5-0F33D4BD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05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gap  ·  w = 1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8048625" y="2257425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+0.3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-0.2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-0.6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-0.8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+0.7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-0.2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-1.0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+0.8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-1.7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+1.6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-2.1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1E8C4-EC29-4EA7-9DE3-6F7618CF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052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μ  ·  w = 4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809625" y="4457700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-0.4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-1.5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-2.1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-2.8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-2.3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-3.4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-4.5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-2.2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-4.5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-5.5</a:t>
                      </a:r>
                    </a:p>
                  </a:txBody>
                  <a:tcPr marL="85725" marR="85725" marT="38100" marB="38100" anchor="ctr">
                    <a:solidFill>
                      <a:srgbClr val="AA3D36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-2.4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-5.0</a:t>
                      </a:r>
                    </a:p>
                  </a:txBody>
                  <a:tcPr marL="85725" marR="85725" marT="38100" marB="38100" anchor="ctr">
                    <a:solidFill>
                      <a:srgbClr val="AA3D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-6.2</a:t>
                      </a:r>
                    </a:p>
                  </a:txBody>
                  <a:tcPr marL="85725" marR="85725" marT="38100" marB="38100" anchor="ctr">
                    <a:solidFill>
                      <a:srgbClr val="AA3D36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43885-0AF5-4229-8178-9075268D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052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α  ·  w = 4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4429125" y="4457700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-0.1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+0.1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-0.7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+0.1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-0.4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-1.1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+0.3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-0.8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-1.2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970BB-E682-4724-8E11-25CEBC00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052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gap  ·  w = 4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048625" y="4457700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+0.3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-0.4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+0.8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-0.6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-1.5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-2.4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+0.7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-0.7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-3.3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+1.3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-0.7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-2.5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-3.9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254114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CB60B-E57B-4ACD-B43C-03688F0D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A9 · FULL W = 1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91B6C-D2C2-447F-95E8-D0CBD96E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DNA transfer at the lower strength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AED43-11BB-4E33-A968-2591FEFF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3AA5A-B610-4920-927A-75F8B386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C8C6E-FC63-4FA0-A0C4-A1609594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All four guidance adaptations on our DNA backbone · same evaluator and decoding as the w = 4 main 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E6DC4-B09A-4A69-9D27-30AB0B48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04950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w = 1, t ≥ 0.5. Hamming and JSD shown for both properties.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09625" y="2028825"/>
          <a:ext xmlns:a="http://schemas.openxmlformats.org/drawingml/2006/main" cx="10572750" cy="3276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28875"/>
                <a:gridCol w="1476375"/>
                <a:gridCol w="1476375"/>
                <a:gridCol w="1905000"/>
                <a:gridCol w="2238375"/>
                <a:gridCol w="1047750"/>
              </a:tblGrid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Method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GC IB % ↑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CpG IB % ↑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JSD GC/CpG ↓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Hamming GC/CpG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s/seq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Unguided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14.0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50.2 ± 1.6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4.53 / 4.53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0.036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DPS-style plug-in [12]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14.0 ± 0.9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50.5 ± 1.8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4.53 / 4.53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0.074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TMPD-inspired [22]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14.0 ± 0.9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50.5 ± 1.8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4.53 / 4.53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0.120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LGD-MC [23]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14.0 ± 0.9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50.5 ± 1.8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4.53 / 4.53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0.102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TFG-MC [15]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14.1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50.4 ± 1.7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4.53 / 4.54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0.089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BDG, τₘ = 0.5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14.5 ± 1.0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55.3 ± 0.8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4.95 / 5.26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0.073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BDG, τₘ = 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14.0 ± 1.0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50.2 ± 1.6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4.53 / 4.53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0.061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DED1E-7CED-4361-A7F1-58ACC600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6735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GC and CpG IB agree exactly for plug-in, TMPD and LGD-MC at both w = 1 and 4 in these runs. Other decoded metrics differ by at most 4.22 × 10⁻⁶ (GC) and 3.40 × 10⁻⁶ (CpG) in unscaled units.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A58B5-8287-4198-82D2-FF709376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8172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IB: mean ± seed SD. JSD ×10⁻⁴. Hamming: first 256 sequences. Time: CpG cells.</a:t>
            </a:r>
          </a:p>
        </p:txBody>
      </p:sp>
    </p:spTree>
    <p:extLst>
      <p:ext uri="{BB962C8B-B14F-4D97-AF65-F5344CB8AC3E}">
        <p14:creationId xmlns:p14="http://schemas.microsoft.com/office/powerpoint/2010/main" val="12308882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2026-09-29T17:53:28.7640000Z</dcterms:created>
  <dcterms:modified xsi:type="dcterms:W3CDTF">2026-09-29T17:53:28.7640000Z</dcterms:modified>
</coreProperties>
</file>
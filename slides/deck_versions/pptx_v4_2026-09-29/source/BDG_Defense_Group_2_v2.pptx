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12192000"/>
  <p:embeddedFontLst>
    <p:embeddedFont>
      <p:font typeface="IBM Plex Sans"/>
      <p:regular r:id="rId44"/>
      <p:bold r:id="rId45"/>
      <p:italic r:id="rId46"/>
      <p:boldItalic r:id="rId47"/>
    </p:embeddedFont>
    <p:embeddedFont>
      <p:font typeface="Source Serif 4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13D057-85ED-43D6-BB4A-7C92B5BC83E1}">
  <a:tblStyle styleId="{AB13D057-85ED-43D6-BB4A-7C92B5BC83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IBMPlexSans-regular.fntdata"/><Relationship Id="rId43" Type="http://schemas.openxmlformats.org/officeDocument/2006/relationships/slide" Target="slides/slide38.xml"/><Relationship Id="rId46" Type="http://schemas.openxmlformats.org/officeDocument/2006/relationships/font" Target="fonts/IBMPlexSans-italic.fntdata"/><Relationship Id="rId45" Type="http://schemas.openxmlformats.org/officeDocument/2006/relationships/font" Target="fonts/IBMPlex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Serif4-regular.fntdata"/><Relationship Id="rId47" Type="http://schemas.openxmlformats.org/officeDocument/2006/relationships/font" Target="fonts/IBMPlexSans-boldItalic.fntdata"/><Relationship Id="rId49" Type="http://schemas.openxmlformats.org/officeDocument/2006/relationships/font" Target="fonts/SourceSerif4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urceSerif4-boldItalic.fntdata"/><Relationship Id="rId50" Type="http://schemas.openxmlformats.org/officeDocument/2006/relationships/font" Target="fonts/SourceSerif4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720" y="812720"/>
            <a:ext cx="1015968" cy="50721"/>
          </a:xfrm>
          <a:prstGeom prst="roundRect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2720" y="1066598"/>
            <a:ext cx="10883529" cy="25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PROJECT 1 DEFENSE · GROUP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720" y="1500900"/>
            <a:ext cx="10883529" cy="112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4000"/>
              <a:buFont typeface="Source Serif 4"/>
              <a:buNone/>
            </a:pPr>
            <a:r>
              <a:rPr b="1" i="0" lang="en-US" sz="4000" u="none" cap="none" strike="noStrike">
                <a:solidFill>
                  <a:srgbClr val="F7F6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BDG: Batch-Dispersion Guidance for Property-Band Generation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720" y="2801270"/>
            <a:ext cx="10883529" cy="558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feedback-servoed deviation gain for property-gradient guidance, studied on QM9 3D molecules and on DeepFlyBrain DNA enhancers on the probability simplex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720" y="5781242"/>
            <a:ext cx="3607475" cy="289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Bobo Li · Henry Huang · Idea Idehpour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389167" y="5582976"/>
            <a:ext cx="1990086" cy="48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University of Pennsylvania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September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812720" y="507939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12720" y="746692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Frame the study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12720" y="1328266"/>
            <a:ext cx="6357511" cy="9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Problem.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Steer a </a:t>
            </a: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generator so a sample's property lands in a band y ± δ. We score </a:t>
            </a: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band coverage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: the share of samples inside the band.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12720" y="2402383"/>
            <a:ext cx="6357511" cy="9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catch.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Gradient guidance has one knob, the strength w. Turning it up pulls the batch toward y </a:t>
            </a:r>
            <a:r>
              <a:rPr b="0" i="1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squeezes the batch together. Spread is never set — it is a side effect.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12720" y="3476499"/>
            <a:ext cx="6357511" cy="9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Question.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Can we </a:t>
            </a:r>
            <a:r>
              <a:rPr b="1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 for a spread</a:t>
            </a:r>
            <a:r>
              <a:rPr b="0" i="0" lang="en-US" sz="16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give the sampler a setpoint τ for how wide the batch should be — and steer coverage with it, instead of only turning w up?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12720" y="4550614"/>
            <a:ext cx="6172340" cy="1053918"/>
          </a:xfrm>
          <a:prstGeom prst="roundRect">
            <a:avLst>
              <a:gd fmla="val 6025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12720" y="4550614"/>
            <a:ext cx="6172340" cy="1053918"/>
          </a:xfrm>
          <a:custGeom>
            <a:rect b="b" l="l" r="r" t="t"/>
            <a:pathLst>
              <a:path extrusionOk="0" h="1053918" w="6172340">
                <a:moveTo>
                  <a:pt x="63500" y="1053918"/>
                </a:moveTo>
                <a:lnTo>
                  <a:pt x="63500" y="1053918"/>
                </a:lnTo>
                <a:cubicBezTo>
                  <a:pt x="28430" y="1053918"/>
                  <a:pt x="0" y="1025488"/>
                  <a:pt x="0" y="990418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990418"/>
                </a:lnTo>
                <a:cubicBezTo>
                  <a:pt x="50800" y="1007259"/>
                  <a:pt x="52138" y="1023411"/>
                  <a:pt x="54520" y="1035319"/>
                </a:cubicBezTo>
                <a:cubicBezTo>
                  <a:pt x="56901" y="1047228"/>
                  <a:pt x="60132" y="1053918"/>
                  <a:pt x="63500" y="1053918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49570" y="4677599"/>
            <a:ext cx="5917363" cy="82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Hypothesis.</a:t>
            </a:r>
            <a:r>
              <a:rPr b="0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Setting dispersion separately from centring raises band coverage at comparable sample quality, with one rule in both state spaces.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267565" y="1331441"/>
            <a:ext cx="4108513" cy="1625339"/>
          </a:xfrm>
          <a:prstGeom prst="roundRect">
            <a:avLst>
              <a:gd fmla="val 527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460663" y="1486408"/>
            <a:ext cx="3833985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460663" y="1750522"/>
            <a:ext cx="3833985" cy="279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QM9 3D molecules [1]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460663" y="2055122"/>
            <a:ext cx="3833985" cy="772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Coordinates in ℝᴺˣ³ plus atom types, N ≤ 29. A Euclidean space with a symmetry group: translation, rotation, permutation [2].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267565" y="3128156"/>
            <a:ext cx="4108513" cy="1874236"/>
          </a:xfrm>
          <a:prstGeom prst="roundRect">
            <a:avLst>
              <a:gd fmla="val 457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460663" y="3283123"/>
            <a:ext cx="3833985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460663" y="3547237"/>
            <a:ext cx="3833985" cy="279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DeepFlyBrain DNA [4]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460663" y="3851837"/>
            <a:ext cx="3833985" cy="102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500-bp enhancers as points of (Δ³)⁵⁰⁰: one probability simplex per position. No rotation group; every step must land back on the simplex.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261571" y="330142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0312371" y="380942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588716" y="6455474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Ramakrishnan et al. 2014 (QM9) · [2] Hoogeboom et al. 2022 (EDM) · [4] Stark et al. 2024 (Dirichlet FM; DeepFlyBrain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DATA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12720" y="746691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Datasets, splits and leakage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12720" y="1264774"/>
            <a:ext cx="5337092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1 · QM9 [1]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12720" y="1567019"/>
            <a:ext cx="5337092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133,885 molecules, explicit hydrogens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12720" y="1893900"/>
            <a:ext cx="5337092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MoleculeNet release, pinned by SHA-256. We keep the 3,054 molecules that EDM's preprocessing drops [2].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5"/>
          <p:cNvGraphicFramePr/>
          <p:nvPr/>
        </p:nvGraphicFramePr>
        <p:xfrm>
          <a:off x="824313" y="2405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137400"/>
                <a:gridCol w="2895225"/>
                <a:gridCol w="1137400"/>
              </a:tblGrid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Used for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generator and guide f_A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51,527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train_b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evaluator f_B only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51,527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checkpoint selection; molecule sizes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17,748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held out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13,083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" name="Google Shape;58;p5"/>
          <p:cNvSpPr/>
          <p:nvPr/>
        </p:nvSpPr>
        <p:spPr>
          <a:xfrm>
            <a:off x="812720" y="4516558"/>
            <a:ext cx="5337092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leakage.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f_B, which scores every sample, never saw a molecule that trained the generator or the guide. Normalisation uses train_a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197520" y="1264774"/>
            <a:ext cx="5337185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2 · DEEPFLYBRAIN [4]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197520" y="1567019"/>
            <a:ext cx="5337185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1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Drosophila</a:t>
            </a: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enhancers, 500 bp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197520" y="1893900"/>
            <a:ext cx="5337185" cy="231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One-hot A, C, G, T; four ambiguous training sequences removed.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" name="Google Shape;62;p5"/>
          <p:cNvGraphicFramePr/>
          <p:nvPr/>
        </p:nvGraphicFramePr>
        <p:xfrm>
          <a:off x="6209113" y="2200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137425"/>
                <a:gridCol w="2895275"/>
                <a:gridCol w="1137425"/>
              </a:tblGrid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Used for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generator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83,722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checkpoint selection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10,505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held out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10,434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" name="Google Shape;63;p5"/>
          <p:cNvSpPr/>
          <p:nvPr/>
        </p:nvSpPr>
        <p:spPr>
          <a:xfrm>
            <a:off x="6197520" y="3721502"/>
            <a:ext cx="5337185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learned evaluator.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GC and CpG are counted exactly on the decoded sequence, so there is nothing for guidance to exploit and nothing to leak.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197520" y="4503787"/>
            <a:ext cx="5337185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Cell-type labels are not given to the generator. A random split says nothing about unseen sequence families.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15895" y="5340152"/>
            <a:ext cx="10560183" cy="654115"/>
          </a:xfrm>
          <a:prstGeom prst="roundRect">
            <a:avLst>
              <a:gd fmla="val 13105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96313" y="5444308"/>
            <a:ext cx="10505327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Preprocessing.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QM9: coordinates centred per molecule (Å), padded to 29 atoms with a mask; targets are dipole moment μ, polarizability α and HOMO–LUMO gap. DNA: one-hot on the simplex, decoded by per-position argmax.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261571" y="330143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0312371" y="380943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3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588716" y="6455474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Ramakrishnan et al. 2014 (QM9) · [2] Hoogeboom et al. 2022 (EDM) · [4] Stark et al. 2024 (Dirichlet FM; DeepFlyBrain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812720" y="482578"/>
            <a:ext cx="10883529" cy="230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DATA 2 OF 2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12720" y="712636"/>
            <a:ext cx="10883529" cy="40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04"/>
              <a:buFont typeface="Source Serif 4"/>
              <a:buNone/>
            </a:pPr>
            <a:r>
              <a:rPr b="1" i="0" lang="en-US" sz="2704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Representations, conditioning, and what we measure</a:t>
            </a:r>
            <a:endParaRPr b="0" i="0" sz="2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6"/>
          <p:cNvGraphicFramePr/>
          <p:nvPr/>
        </p:nvGraphicFramePr>
        <p:xfrm>
          <a:off x="824313" y="12136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688800"/>
                <a:gridCol w="4433075"/>
                <a:gridCol w="4433075"/>
              </a:tblGrid>
              <a:tr h="35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18"/>
                        <a:buFont typeface="Calibri"/>
                        <a:buNone/>
                      </a:pPr>
                      <a:r>
                        <a:t/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b="1"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QM9 molecules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b="1"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DeepFlyBrain DNA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55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Representation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 atom: 3D coordinates + a one-hot type over {H, C, N, O, F}, relaxed to continuous values while sampling, read back by argmax.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 position: a probability vector over {A, C, G, T}; a sequence is a point of (Δ³)⁵⁰⁰ [4, 5], read back by argmax.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Conditioning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None, in both. No property, no class label reaches either generator — the only extra input is QM9's atom mask. The property enters only at sampling time, through guidance, which is exactly where BDG acts.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18"/>
                        <a:buFont typeface="Calibri"/>
                        <a:buNone/>
                      </a:pPr>
                      <a:r>
                        <a:t/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Staying feasible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Noise projected to zero centre of mass; an E(3)-equivariant EGNN [9] (12/12 equivariance checks pass).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18"/>
                        <a:buFont typeface="IBM Plex Sans"/>
                        <a:buNone/>
                      </a:pPr>
                      <a:r>
                        <a:rPr lang="en-US" sz="111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After each step, clamp at zero and renormalise per position, so every position stays on the simplex.</a:t>
                      </a:r>
                      <a:endParaRPr sz="111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49675" marB="49675" marR="49675" marL="496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6"/>
          <p:cNvSpPr/>
          <p:nvPr/>
        </p:nvSpPr>
        <p:spPr>
          <a:xfrm>
            <a:off x="815895" y="3732194"/>
            <a:ext cx="5200744" cy="2124945"/>
          </a:xfrm>
          <a:prstGeom prst="roundRect">
            <a:avLst>
              <a:gd fmla="val 403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983542" y="3849029"/>
            <a:ext cx="5011413" cy="229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9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99"/>
              <a:buFont typeface="IBM Plex Sans"/>
              <a:buNone/>
            </a:pPr>
            <a:r>
              <a:rPr b="1" i="0" lang="en-US" sz="1299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we measure · QM9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83542" y="4091223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Band coverage (in-band).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share of decoded molecules with |f_B(x̂) − y| ≤ δ. This is the control score.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983542" y="4513027"/>
            <a:ext cx="5011413" cy="40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Molecule stability.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every atom's valence satisfied, EDM's rule [2]. </a:t>
            </a: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Validity: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RDKit parses and sanitises it.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83542" y="4934739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47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6"/>
              <a:buFont typeface="IBM Plex Sans"/>
              <a:buNone/>
            </a:pPr>
            <a:r>
              <a:rPr b="1" i="0" lang="en-US" sz="10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Diversity.</a:t>
            </a:r>
            <a:r>
              <a:rPr b="0" i="0" lang="en-US" sz="10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uniqueness among valid molecules; distinct-valid yield per attempt.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83542" y="5356541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Spread R.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s.d. of the property over the batch ÷ the unguided s.d. R &lt; 1 is a tighter batch.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175334" y="3732194"/>
            <a:ext cx="5200744" cy="2124945"/>
          </a:xfrm>
          <a:prstGeom prst="roundRect">
            <a:avLst>
              <a:gd fmla="val 403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342981" y="3849029"/>
            <a:ext cx="5011413" cy="229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9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99"/>
              <a:buFont typeface="IBM Plex Sans"/>
              <a:buNone/>
            </a:pPr>
            <a:r>
              <a:rPr b="1" i="0" lang="en-US" sz="1299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we measure · DNA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342981" y="4091223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GC content.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fraction of bases that are C or G. </a:t>
            </a: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CpG: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how often a C is immediately followed by a G.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342981" y="4513027"/>
            <a:ext cx="5011413" cy="40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Band coverage (in-band).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counted </a:t>
            </a: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exactly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 the decoded sequence — no learned evaluator, so nothing to exploit.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342981" y="4934739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6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093"/>
              <a:buFont typeface="IBM Plex Sans"/>
              <a:buNone/>
            </a:pPr>
            <a:r>
              <a:rPr b="1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3-mer JSD.</a:t>
            </a:r>
            <a:r>
              <a:rPr b="0" i="0" lang="en-US" sz="109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Jensen–Shannon divergence between the 3-mer histogram of generated and of training sequences. Lower = more realistic composition.</a:t>
            </a:r>
            <a:endParaRPr b="0" i="0" sz="10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342981" y="5356541"/>
            <a:ext cx="5011413" cy="40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77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3"/>
              <a:buFont typeface="IBM Plex Sans"/>
              <a:buNone/>
            </a:pPr>
            <a:r>
              <a:rPr b="1" i="0" lang="en-US" sz="110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Diversity.</a:t>
            </a:r>
            <a:r>
              <a:rPr b="0" i="0" lang="en-US" sz="1103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mean normalised Hamming distance between decoded sequences.</a:t>
            </a:r>
            <a:endParaRPr b="0" i="0" sz="11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12720" y="5974528"/>
            <a:ext cx="10883529" cy="2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91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66"/>
              <a:buFont typeface="IBM Plex Sans"/>
              <a:buNone/>
            </a:pPr>
            <a:r>
              <a:rPr b="0" i="0" lang="en-US" sz="1166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modalities are scored by the same code. Coverage is never compared </a:t>
            </a:r>
            <a:r>
              <a:rPr b="0" i="1" lang="en-US" sz="1166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across</a:t>
            </a:r>
            <a:r>
              <a:rPr b="0" i="0" lang="en-US" sz="1166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modalities: the two bands are set by different rules (1e, 3a).</a:t>
            </a:r>
            <a:endParaRPr b="0" i="0" sz="11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261571" y="330143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0312371" y="380943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4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Hoogeboom et al. 2022 (EDM) · [4] Stark et al. 2024 (Dirichlet FM) · [5] Davis et al. 2024 (Fisher Flow) · [9] Satorras et al. 2021 (EGNN)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FLOW MATCHING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12720" y="746692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Flow-matching baseline: the formulation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12720" y="1264776"/>
            <a:ext cx="10883529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 matching learns a velocity field vθ that carries noise x₀ to data x₁ along a straight line [6, 7, 8]. Time t runs from 0 (noise) to 1 (data).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15895" y="1892728"/>
            <a:ext cx="10560183" cy="3392889"/>
          </a:xfrm>
          <a:prstGeom prst="roundRect">
            <a:avLst>
              <a:gd fmla="val 252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7"/>
          <p:cNvCxnSpPr/>
          <p:nvPr/>
        </p:nvCxnSpPr>
        <p:spPr>
          <a:xfrm>
            <a:off x="1021674" y="2717484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1021674" y="2198771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Path and target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_t = t x_1 + (1 − t) x_0; u_t(x_t | x_0, x_1) = x_1 − x_0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-476" r="-476" t="0"/>
          <a:stretch/>
        </p:blipFill>
        <p:spPr>
          <a:xfrm>
            <a:off x="3129781" y="2022246"/>
            <a:ext cx="5467313" cy="31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3129781" y="2390428"/>
            <a:ext cx="828173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target is conditioned on the pair (x₀, x₁), not on any property: vθ has no condition input.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7"/>
          <p:cNvCxnSpPr/>
          <p:nvPr/>
        </p:nvCxnSpPr>
        <p:spPr>
          <a:xfrm>
            <a:off x="1021674" y="3164375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7"/>
          <p:cNvSpPr/>
          <p:nvPr/>
        </p:nvSpPr>
        <p:spPr>
          <a:xfrm>
            <a:off x="1021674" y="2822194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Noise source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129781" y="2829709"/>
            <a:ext cx="828173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Coordinate noise is projected to zero centre of mass (dimension 3(N − 1)); type noise is a masked Gaussian.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1021674" y="4460309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1021674" y="3693604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_FM(θ) = E || v_θ(x_t, t) − (x_1 − x_0) ||²_M, ||z||²_M = ||M ⊙ z^c||² / (3 ΣM) + ||M ⊙ z^f||² / (5 ΣM)" id="114" name="Google Shape;114;p7"/>
          <p:cNvPicPr preferRelativeResize="0"/>
          <p:nvPr/>
        </p:nvPicPr>
        <p:blipFill rotWithShape="1">
          <a:blip r:embed="rId4">
            <a:alphaModFix/>
          </a:blip>
          <a:srcRect b="-180" l="0" r="0" t="-180"/>
          <a:stretch/>
        </p:blipFill>
        <p:spPr>
          <a:xfrm>
            <a:off x="3129781" y="3269084"/>
            <a:ext cx="7003990" cy="590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3129781" y="3910347"/>
            <a:ext cx="8281733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M is the atom mask. Coordinate (c) and type (f) errors are averaged separately and weighted equally, so padding never dilutes the loss.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21674" y="4741543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Endpoint estimate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̂_1 = x_t + (1 − t) v_θ(x_t, t)" id="117" name="Google Shape;117;p7"/>
          <p:cNvPicPr preferRelativeResize="0"/>
          <p:nvPr/>
        </p:nvPicPr>
        <p:blipFill rotWithShape="1">
          <a:blip r:embed="rId5">
            <a:alphaModFix/>
          </a:blip>
          <a:srcRect b="0" l="-506" r="-506" t="0"/>
          <a:stretch/>
        </p:blipFill>
        <p:spPr>
          <a:xfrm>
            <a:off x="3129781" y="4565014"/>
            <a:ext cx="2590776" cy="31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3129781" y="4933200"/>
            <a:ext cx="828173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one-step estimate of the final sample at any t. Guidance differentiates it (2b).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261571" y="330141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312371" y="380941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5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[6] Lipman et al. 2022 (Flow Matching) · [7] Liu et al. 2022 (Rectified Flow) · [8] Albergo et al. 2025 (Stochastic Interpolants)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FLOW MATCHING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12720" y="746692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Flow matching: training, selection, sampling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815895" y="1305992"/>
            <a:ext cx="5194404" cy="1326626"/>
          </a:xfrm>
          <a:prstGeom prst="roundRect">
            <a:avLst>
              <a:gd fmla="val 646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008993" y="1460959"/>
            <a:ext cx="495245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 [9]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008993" y="1741829"/>
            <a:ext cx="4952453" cy="76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E(3)-equivariant graph network (EGNN): width 256, 8 layers, SiLU, 3,753,229 parameters. Time enters through the input embedding; no attention.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181674" y="1305992"/>
            <a:ext cx="5194404" cy="1326626"/>
          </a:xfrm>
          <a:prstGeom prst="roundRect">
            <a:avLst>
              <a:gd fmla="val 646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374773" y="1460959"/>
            <a:ext cx="495245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374773" y="1741829"/>
            <a:ext cx="4952453" cy="76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train_a only. Adam, learning rate 2 × 10⁻⁴ with cosine decay to 5%, batch 256, gradient clip 5, EMA 0.9999, 1,500 epochs (303k steps), seed 20260918.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15895" y="2803993"/>
            <a:ext cx="5194404" cy="1817175"/>
          </a:xfrm>
          <a:prstGeom prst="roundRect">
            <a:avLst>
              <a:gd fmla="val 471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008993" y="2958960"/>
            <a:ext cx="495245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 selection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08993" y="3239830"/>
            <a:ext cx="4952453" cy="125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trainer keeps the best validation atom stability (loss as tie-break) on one 512-sample draw every 25 epochs. </a:t>
            </a:r>
            <a:r>
              <a:rPr b="1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evaluate the recorded final-epoch EMA weights</a:t>
            </a: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epoch 1,500, MD5 e19ccc06 — and say so wherever the number appears.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181674" y="2803993"/>
            <a:ext cx="5194404" cy="1817175"/>
          </a:xfrm>
          <a:prstGeom prst="roundRect">
            <a:avLst>
              <a:gd fmla="val 471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374773" y="2958960"/>
            <a:ext cx="495245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 [6]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374773" y="3239830"/>
            <a:ext cx="4952453" cy="76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Probability-flow ODE, explicit Euler, 100 uniform steps: </a:t>
            </a:r>
            <a:r>
              <a:rPr b="1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NFE 100</a:t>
            </a: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one network evaluation per step. Unguided, that is 0.051 s per molecule (2a).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261571" y="330141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10312371" y="380941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6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[6] Lipman et al. 2022 (Flow Matching) · [9] Satorras et al. 2021 (EGNN)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DIFFUSION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12720" y="746692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Diffusion baseline: the formulation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12720" y="1239323"/>
            <a:ext cx="10883529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Variance-preserving (VP) diffusion in continuous time [2, 10, 11]. Noising time u runs from 0 (data) to 1 (noise); the network εφ predicts the added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15895" y="1841826"/>
            <a:ext cx="10560183" cy="3941857"/>
          </a:xfrm>
          <a:prstGeom prst="roundRect">
            <a:avLst>
              <a:gd fmla="val 2175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9"/>
          <p:cNvCxnSpPr/>
          <p:nvPr/>
        </p:nvCxnSpPr>
        <p:spPr>
          <a:xfrm>
            <a:off x="1021674" y="2342236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9"/>
          <p:cNvSpPr/>
          <p:nvPr/>
        </p:nvSpPr>
        <p:spPr>
          <a:xfrm>
            <a:off x="1021674" y="1979312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Noise schedule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β(u) = β_min + u (β_max − β_min) = 0.1 + 19.9 u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-505" r="-505" t="0"/>
          <a:stretch/>
        </p:blipFill>
        <p:spPr>
          <a:xfrm>
            <a:off x="3129781" y="1939640"/>
            <a:ext cx="4552879" cy="3174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9"/>
          <p:cNvCxnSpPr/>
          <p:nvPr/>
        </p:nvCxnSpPr>
        <p:spPr>
          <a:xfrm>
            <a:off x="1021674" y="2913035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9"/>
          <p:cNvSpPr/>
          <p:nvPr/>
        </p:nvSpPr>
        <p:spPr>
          <a:xfrm>
            <a:off x="1021674" y="2508898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Forward process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_u = a(u) x_1 + σ(u) ε, a(u) = exp(−½(0.1u + 9.95u²)), σ² = 1 − a²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-406" r="-406" t="0"/>
          <a:stretch/>
        </p:blipFill>
        <p:spPr>
          <a:xfrm>
            <a:off x="3129781" y="2427926"/>
            <a:ext cx="6915137" cy="399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9"/>
          <p:cNvCxnSpPr/>
          <p:nvPr/>
        </p:nvCxnSpPr>
        <p:spPr>
          <a:xfrm>
            <a:off x="1021674" y="3986788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9"/>
          <p:cNvSpPr/>
          <p:nvPr/>
        </p:nvSpPr>
        <p:spPr>
          <a:xfrm>
            <a:off x="1021674" y="3331127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_VP(φ) = E || ε_φ(x_u, u) − ε ||²_M" id="163" name="Google Shape;163;p9"/>
          <p:cNvPicPr preferRelativeResize="0"/>
          <p:nvPr/>
        </p:nvPicPr>
        <p:blipFill rotWithShape="1">
          <a:blip r:embed="rId5">
            <a:alphaModFix/>
          </a:blip>
          <a:srcRect b="0" l="-380" r="-380" t="0"/>
          <a:stretch/>
        </p:blipFill>
        <p:spPr>
          <a:xfrm>
            <a:off x="3129781" y="2998722"/>
            <a:ext cx="3124166" cy="41908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3129781" y="3455848"/>
            <a:ext cx="8281733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masked norm as flow matching; ε projected to zero centre of mass; u ~ U(10⁻³, 1) keeps σ away from zero.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9"/>
          <p:cNvCxnSpPr/>
          <p:nvPr/>
        </p:nvCxnSpPr>
        <p:spPr>
          <a:xfrm>
            <a:off x="1021674" y="4977302"/>
            <a:ext cx="1014862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9"/>
          <p:cNvSpPr/>
          <p:nvPr/>
        </p:nvSpPr>
        <p:spPr>
          <a:xfrm>
            <a:off x="1021674" y="4363309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x/du = −½ β(u) (x + s_φ(x, u)), s_φ = −ε_φ / σ" id="167" name="Google Shape;167;p9"/>
          <p:cNvPicPr preferRelativeResize="0"/>
          <p:nvPr/>
        </p:nvPicPr>
        <p:blipFill rotWithShape="1">
          <a:blip r:embed="rId6">
            <a:alphaModFix/>
          </a:blip>
          <a:srcRect b="0" l="-288" r="-288" t="0"/>
          <a:stretch/>
        </p:blipFill>
        <p:spPr>
          <a:xfrm>
            <a:off x="3129781" y="4072474"/>
            <a:ext cx="4711655" cy="5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3129781" y="4669265"/>
            <a:ext cx="828173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Integrated from u = 1 to 0 on a decreasing 100-step grid, then one denoising step to x̂₁: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NFE 101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021674" y="5255369"/>
            <a:ext cx="1962099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Endpoint estimate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̂_1 = (x_u − σ(u) ε_φ(x_u, u)) / a(u)" id="170" name="Google Shape;170;p9"/>
          <p:cNvPicPr preferRelativeResize="0"/>
          <p:nvPr/>
        </p:nvPicPr>
        <p:blipFill rotWithShape="1">
          <a:blip r:embed="rId7">
            <a:alphaModFix/>
          </a:blip>
          <a:srcRect b="0" l="-441" r="-441" t="0"/>
          <a:stretch/>
        </p:blipFill>
        <p:spPr>
          <a:xfrm>
            <a:off x="3129781" y="5062990"/>
            <a:ext cx="3352774" cy="361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3129781" y="5462966"/>
            <a:ext cx="828173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Tweedie's posterior mean: the diffusion counterpart of x_t + (1 − t)vθ, and what guidance differentiates.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12720" y="5888391"/>
            <a:ext cx="10883529" cy="231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Checked: a² + σ² = 1 to 6 decimals, a(0) = 1, a(1) = 0.0066.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261571" y="330141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0312371" y="380941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7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Hoogeboom et al. 2022 (EDM, molecules) · [10] Song et al. 2021 (Score SDE) · [11] Karras et al. 2022 (EDM design space)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DIFFUSION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12720" y="746692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Diffusion: training, selection, sampling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12720" y="1290135"/>
            <a:ext cx="10566533" cy="726222"/>
          </a:xfrm>
          <a:prstGeom prst="roundRect">
            <a:avLst>
              <a:gd fmla="val 8744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812720" y="1290135"/>
            <a:ext cx="10566533" cy="726222"/>
          </a:xfrm>
          <a:custGeom>
            <a:rect b="b" l="l" r="r" t="t"/>
            <a:pathLst>
              <a:path extrusionOk="0" h="726222" w="10566533">
                <a:moveTo>
                  <a:pt x="63500" y="726222"/>
                </a:moveTo>
                <a:lnTo>
                  <a:pt x="63500" y="726222"/>
                </a:lnTo>
                <a:cubicBezTo>
                  <a:pt x="28430" y="726222"/>
                  <a:pt x="0" y="697792"/>
                  <a:pt x="0" y="66272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662722"/>
                </a:lnTo>
                <a:cubicBezTo>
                  <a:pt x="50800" y="679563"/>
                  <a:pt x="52138" y="695715"/>
                  <a:pt x="54520" y="707623"/>
                </a:cubicBezTo>
                <a:cubicBezTo>
                  <a:pt x="56901" y="719532"/>
                  <a:pt x="60132" y="726222"/>
                  <a:pt x="63500" y="726222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049570" y="1404348"/>
            <a:ext cx="10443382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Matched by design.</a:t>
            </a:r>
            <a:r>
              <a:rPr b="0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Same representation, split (train_a), EGNN 256 × 8, optimiser, schedule, batch, EMA, clip, seed and 1,500-epoch budget as flow matching. Only the corruption process and the output head differ.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15895" y="2171877"/>
            <a:ext cx="3414264" cy="1791814"/>
          </a:xfrm>
          <a:prstGeom prst="roundRect">
            <a:avLst>
              <a:gd fmla="val 478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996313" y="2314163"/>
            <a:ext cx="3145030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 [9]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96313" y="2595032"/>
            <a:ext cx="3145030" cy="76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EGNN 256 × 8, 3,753,229 parameters, with a noise (ε) head in place of the velocity head.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388854" y="2171877"/>
            <a:ext cx="3414264" cy="1791814"/>
          </a:xfrm>
          <a:prstGeom prst="roundRect">
            <a:avLst>
              <a:gd fmla="val 478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569273" y="2314163"/>
            <a:ext cx="3145030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 selection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69273" y="2595032"/>
            <a:ext cx="3145030" cy="125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rule, same code: best validation atom stability, loss as tie-break. It selected </a:t>
            </a:r>
            <a:r>
              <a:rPr b="1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epoch 1,475</a:t>
            </a: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1,500 (EMA, MD5 8a3390a6); flow matching ships its final epoch (1c). We disclose both.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961814" y="2171877"/>
            <a:ext cx="3414264" cy="1791814"/>
          </a:xfrm>
          <a:prstGeom prst="roundRect">
            <a:avLst>
              <a:gd fmla="val 478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8142232" y="2314163"/>
            <a:ext cx="3145030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 [2, 11]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142232" y="2595032"/>
            <a:ext cx="3145030" cy="100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100-step decreasing grid plus the final denoising step: </a:t>
            </a:r>
            <a:r>
              <a:rPr b="1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NFE 101</a:t>
            </a:r>
            <a:r>
              <a:rPr b="0" i="0" lang="en-US" sz="14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against flow matching's 100. We report the extra evaluation rather than hide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12720" y="4119212"/>
            <a:ext cx="10883529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Benchmarked.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18 cells — unguided and plug-in × μ, α, gap × 3 seeds × 2,000 molecules at w = 1 — on the same protocol and the same property pair as flow matching. Results in 2a and 2b. These cells ran on a B200 MIG slice rather than the RTX A6000 used elsewhere, so their wall-clock is not hardware-matched (1e).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0261571" y="330141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0312371" y="380941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12720" y="644406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8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588716" y="6455473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[9] Satorras et al. 2021 (EGNN) · [2] Hoogeboom et al. 2022 (EDM) · [11] Karras et al. 2022 (EDM design space)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812720" y="457126"/>
            <a:ext cx="10883529" cy="22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COMPARISON PLAN 1 OF 2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12720" y="686457"/>
            <a:ext cx="10883529" cy="3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04"/>
              <a:buFont typeface="Source Serif 4"/>
              <a:buNone/>
            </a:pPr>
            <a:r>
              <a:rPr b="1" i="0" lang="en-US" sz="2704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evaluation protocol</a:t>
            </a:r>
            <a:endParaRPr b="0" i="0" sz="2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12720" y="1149114"/>
            <a:ext cx="10883529" cy="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47"/>
              <a:buFont typeface="IBM Plex Sans"/>
              <a:buNone/>
            </a:pPr>
            <a:r>
              <a:rPr b="0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protocol governs </a:t>
            </a:r>
            <a:r>
              <a:rPr b="1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number in this talk</a:t>
            </a:r>
            <a:r>
              <a:rPr b="0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both base models, every guidance arm, both modalities. It was registered before the runs.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11"/>
          <p:cNvGraphicFramePr/>
          <p:nvPr/>
        </p:nvGraphicFramePr>
        <p:xfrm>
          <a:off x="824313" y="1726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794350"/>
                <a:gridCol w="8760600"/>
              </a:tblGrid>
              <a:tr h="3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b="1"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Fixed in advance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95"/>
                        <a:buFont typeface="Calibri"/>
                        <a:buNone/>
                      </a:pPr>
                      <a:r>
                        <a:t/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Target y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property's training median (q50), fixed before any run, one per property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Band δ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× f_B's calibration MAE on 3,000 held-out molecules: μ 0.1754 D, α 0.5062 Bohr³, gap 0.00748 Ha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Samples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 seeds × 2,000 = 6,000 per arm (seeds 20261001–03), drawn as 4 batches of 500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Sampling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 Euler steps; guidance applied for t ≥ 0.5 only; headline strength w = 1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Statistic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unpaired binomial z on the pooled 6,000, bar |z| ≥ 2.99 (18 contrasts, family level 0.05)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Resolution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that bar resolves about 0.8–1.9 points; smaller differences are reported as unresolved, never as equal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Hardware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5"/>
                        <a:buFont typeface="IBM Plex Sans"/>
                        <a:buNone/>
                      </a:pPr>
                      <a:r>
                        <a:rPr lang="en-US" sz="1195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RTX A6000 for the flow-matching, EquiFM and EDMsecond cells; B200 MIG for our VP cells — so timings are not hardware-matched across families</a:t>
                      </a:r>
                      <a:endParaRPr sz="1195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125" marB="53125" marR="53125" marL="53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1"/>
          <p:cNvSpPr/>
          <p:nvPr/>
        </p:nvSpPr>
        <p:spPr>
          <a:xfrm>
            <a:off x="815895" y="4672986"/>
            <a:ext cx="5200744" cy="1521451"/>
          </a:xfrm>
          <a:prstGeom prst="roundRect">
            <a:avLst>
              <a:gd fmla="val 563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983542" y="4789822"/>
            <a:ext cx="5011413" cy="23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39"/>
              <a:buFont typeface="IBM Plex Sans"/>
              <a:buNone/>
            </a:pPr>
            <a:r>
              <a:rPr b="1" i="0" lang="en-US" sz="1339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two property networks</a:t>
            </a:r>
            <a:endParaRPr b="0" i="0" sz="13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83542" y="5038539"/>
            <a:ext cx="5011413" cy="1064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78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27"/>
              <a:buFont typeface="IBM Plex Sans"/>
              <a:buNone/>
            </a:pPr>
            <a:r>
              <a:rPr b="0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Invariant EGNN on squared distances, </a:t>
            </a:r>
            <a:r>
              <a:rPr b="1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128 × 4, 429,825 parameters each</a:t>
            </a:r>
            <a:r>
              <a:rPr b="0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Adam 3 × 10⁻⁴ cosine, batch 128, 120 epochs, no EMA. </a:t>
            </a:r>
            <a:r>
              <a:rPr b="1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f_A</a:t>
            </a:r>
            <a:r>
              <a:rPr b="0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trains on train_a and its gradient steers; </a:t>
            </a:r>
            <a:r>
              <a:rPr b="1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f_B</a:t>
            </a:r>
            <a:r>
              <a:rPr b="0" i="0" lang="en-US" sz="122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trains on train_b and only scores — disjoint halves, so guidance cannot optimise its own judge.</a:t>
            </a:r>
            <a:endParaRPr b="0" i="0" sz="12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175334" y="4672986"/>
            <a:ext cx="5200744" cy="1521451"/>
          </a:xfrm>
          <a:prstGeom prst="roundRect">
            <a:avLst>
              <a:gd fmla="val 563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342981" y="4789822"/>
            <a:ext cx="501141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in-band cannot tell 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342981" y="5050042"/>
            <a:ext cx="5011413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inherits f_B's error, and it counts invalid molecules — so it never appears without stability and validity (EDM's conventions [2]) beside it. On DNA there is no learned evaluator at all: GC and CpG are counted exactly.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0261571" y="330144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10312371" y="380944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12720" y="6444066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9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Registered protocol (this work); band calibration on 3,000 held-out molecules · [2] Hoogeboom et al. 2022 (EDM; stability and validity conventions)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/>
          <p:nvPr/>
        </p:nvSpPr>
        <p:spPr>
          <a:xfrm>
            <a:off x="812720" y="507938"/>
            <a:ext cx="10883529" cy="227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 · COMPARISON PLAN 2 OF 2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812720" y="735819"/>
            <a:ext cx="10883529" cy="396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651"/>
              <a:buFont typeface="Source Serif 4"/>
              <a:buNone/>
            </a:pPr>
            <a:r>
              <a:rPr b="1" i="0" lang="en-US" sz="2651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Flow matching vs diffusion: a matched protocol</a:t>
            </a:r>
            <a:endParaRPr b="0" i="0" sz="26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812720" y="1233977"/>
            <a:ext cx="10883529" cy="49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47"/>
              <a:buFont typeface="IBM Plex Sans"/>
              <a:buNone/>
            </a:pPr>
            <a:r>
              <a:rPr b="0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base models are ours, trained on the same half of QM9 with the same recipe. Everything except the corruption process is held fixed, so 2a compares two </a:t>
            </a:r>
            <a:r>
              <a:rPr b="1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families</a:t>
            </a:r>
            <a:r>
              <a:rPr b="0" i="0" lang="en-US" sz="1347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not two engineering efforts.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12"/>
          <p:cNvGraphicFramePr/>
          <p:nvPr/>
        </p:nvGraphicFramePr>
        <p:xfrm>
          <a:off x="824313" y="1845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794350"/>
                <a:gridCol w="4644175"/>
                <a:gridCol w="4116425"/>
              </a:tblGrid>
              <a:tr h="32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b="1"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Factor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b="1"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Identical by construction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b="1"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Necessarily different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2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 and split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train_a, 51,527 molecules; same representation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Backbone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EGNN 256 × 8, 3.75M parameters each [9]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velocity head vs noise (ε) head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Corruption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linear interpolant vs variance-preserving: the variable under test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</a:tr>
              <a:tr h="53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Training recipe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Adam 2 × 10⁻⁴ cosine, batch 256, clip 5, EMA 0.9999, seed 20260918, 1,500 epochs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Checkpoint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same selection code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FM: final epoch 1,500 EMA; VP: validation-selected epoch 1,475 EMA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Sampling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probability-flow ODE, 100 steps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adds a denoising step: NFE 101 vs 100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Evaluation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same f_A, f_B, δ, masks, seeds, 3 × 2,000 per cell, metric code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88"/>
                        <a:buFont typeface="IBM Plex Sans"/>
                        <a:buNone/>
                      </a:pPr>
                      <a:r>
                        <a:rPr lang="en-US" sz="1188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cells ran on a different accelerator: time not comparable</a:t>
                      </a:r>
                      <a:endParaRPr sz="118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2775" marB="52775" marR="52775" marL="52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12"/>
          <p:cNvSpPr/>
          <p:nvPr/>
        </p:nvSpPr>
        <p:spPr>
          <a:xfrm>
            <a:off x="812720" y="5442948"/>
            <a:ext cx="10566533" cy="678489"/>
          </a:xfrm>
          <a:prstGeom prst="roundRect">
            <a:avLst>
              <a:gd fmla="val 9359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12720" y="5442948"/>
            <a:ext cx="10566533" cy="678489"/>
          </a:xfrm>
          <a:custGeom>
            <a:rect b="b" l="l" r="r" t="t"/>
            <a:pathLst>
              <a:path extrusionOk="0" h="678489" w="10566533">
                <a:moveTo>
                  <a:pt x="63500" y="678489"/>
                </a:moveTo>
                <a:lnTo>
                  <a:pt x="63500" y="678489"/>
                </a:lnTo>
                <a:cubicBezTo>
                  <a:pt x="28430" y="678489"/>
                  <a:pt x="0" y="650059"/>
                  <a:pt x="0" y="61498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614989"/>
                </a:lnTo>
                <a:cubicBezTo>
                  <a:pt x="50800" y="631830"/>
                  <a:pt x="52138" y="647982"/>
                  <a:pt x="54520" y="659890"/>
                </a:cubicBezTo>
                <a:cubicBezTo>
                  <a:pt x="56901" y="671799"/>
                  <a:pt x="60132" y="678489"/>
                  <a:pt x="63500" y="678489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049570" y="5557162"/>
            <a:ext cx="10443382" cy="475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95"/>
              <a:buFont typeface="IBM Plex Sans"/>
              <a:buNone/>
            </a:pPr>
            <a:r>
              <a:rPr b="1" i="0" lang="en-US" sz="1295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Tested conservatively.</a:t>
            </a:r>
            <a:r>
              <a:rPr b="0" i="0" lang="en-US" sz="1295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two models share noise, seeds and atom counts, so a paired test would be stronger — but the registered statistic is the unpaired binomial z of 1e-i. Where it cannot resolve a difference, we say so.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10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protocol (this work) · [9] Satorras et al. 2021 (EGNN)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1 · SET UP THE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812720" y="746689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Study overview: one rule, two state spaces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12720" y="1257257"/>
            <a:ext cx="2158920" cy="293097"/>
          </a:xfrm>
          <a:prstGeom prst="roundRect">
            <a:avLst>
              <a:gd fmla="val 17332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780336" y="1301707"/>
            <a:ext cx="2223687" cy="229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b="1" i="0" lang="en-US" sz="115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BASELINES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3530571" y="1257257"/>
            <a:ext cx="2158920" cy="293097"/>
          </a:xfrm>
          <a:prstGeom prst="roundRect">
            <a:avLst>
              <a:gd fmla="val 17332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3498187" y="1301707"/>
            <a:ext cx="2223687" cy="229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b="1" i="0" lang="en-US" sz="115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DOES GUIDANCE WORK?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248332" y="1257257"/>
            <a:ext cx="2158920" cy="293097"/>
          </a:xfrm>
          <a:prstGeom prst="roundRect">
            <a:avLst>
              <a:gd fmla="val 17332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6215948" y="1301707"/>
            <a:ext cx="2223687" cy="229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b="1" i="0" lang="en-US" sz="115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THE INNOVATION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8966183" y="1257257"/>
            <a:ext cx="2158920" cy="293097"/>
          </a:xfrm>
          <a:prstGeom prst="roundRect">
            <a:avLst>
              <a:gd fmla="val 17332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8933799" y="1301707"/>
            <a:ext cx="2223687" cy="229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b="1" i="0" lang="en-US" sz="115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4 · 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12720" y="1600169"/>
            <a:ext cx="2223687" cy="211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b="1" i="0" lang="en-US" sz="105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1 · QM9 MOLECULES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812720" y="3416269"/>
            <a:ext cx="2616163" cy="211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b="1" i="0" lang="en-US" sz="105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MODALITY 2 · DEEPFLYBRAIN DNA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815895" y="18573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945501" y="1961468"/>
            <a:ext cx="1950158" cy="215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 two, matched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945501" y="2196325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 matching and VP diffusion, one recipe (1c–1e)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945501" y="2603729"/>
            <a:ext cx="1950158" cy="20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1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FM carried forward</a:t>
            </a: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(2a)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3533746" y="18573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3663352" y="1961468"/>
            <a:ext cx="1950158" cy="215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 FM + frozen f_A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3663352" y="2196325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Unguided vs DPS-style plug-in, w = 1, t ≥ 0.5 (2b)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969358" y="18573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098964" y="1961468"/>
            <a:ext cx="1950158" cy="19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63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102"/>
              <a:buFont typeface="IBM Plex Sans"/>
              <a:buNone/>
            </a:pPr>
            <a:r>
              <a:rPr b="1" i="0" lang="en-US" sz="1102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Ablations + comparison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098964" y="2172413"/>
            <a:ext cx="1950158" cy="342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b="0" i="0" lang="en-US" sz="96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η = 0, gain, setpoint — 612 cells (2d)</a:t>
            </a:r>
            <a:endParaRPr b="0" i="0" sz="9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9098964" y="2534258"/>
            <a:ext cx="1950158" cy="342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b="0" i="0" lang="en-US" sz="96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vs plug-in · TMPD · LGD-MC · TFG (2e)</a:t>
            </a:r>
            <a:endParaRPr b="0" i="0" sz="9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098964" y="2896102"/>
            <a:ext cx="1950158" cy="184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80"/>
              <a:buFont typeface="IBM Plex Sans"/>
              <a:buNone/>
            </a:pPr>
            <a:r>
              <a:rPr b="0" i="0" lang="en-US" sz="98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Scored by held-out f_B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815895" y="36734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945501" y="3777568"/>
            <a:ext cx="1950158" cy="215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 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45501" y="4012425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Simplex flow matching, Dirichlet → one-hot (3a)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3533746" y="36734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3663352" y="3777568"/>
            <a:ext cx="1950158" cy="406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 CNN + analytic guide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3663352" y="4202900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 GC or CpG steers; each step projected back (3a)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969358" y="3673413"/>
            <a:ext cx="2152570" cy="1301718"/>
          </a:xfrm>
          <a:prstGeom prst="roundRect">
            <a:avLst>
              <a:gd fmla="val 561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9098964" y="3777568"/>
            <a:ext cx="1950158" cy="215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Transfer comparison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9098964" y="4012425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vs plug-in · TMPD · LGD-MC · TFG-MC (3b)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9098964" y="4419829"/>
            <a:ext cx="1950158" cy="38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Scored by exact counts + 3-mer JSD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257857" y="1863663"/>
            <a:ext cx="2139870" cy="3105116"/>
          </a:xfrm>
          <a:prstGeom prst="roundRect">
            <a:avLst>
              <a:gd fmla="val 3709" name="adj"/>
            </a:avLst>
          </a:prstGeom>
          <a:solidFill>
            <a:srgbClr val="F2EEF9"/>
          </a:solidFill>
          <a:ln cap="flat" cmpd="sng" w="19050">
            <a:solidFill>
              <a:srgbClr val="5B3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418067" y="2497851"/>
            <a:ext cx="1874032" cy="253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BDG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418067" y="2802539"/>
            <a:ext cx="1874032" cy="61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b="0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 for a spread: setpoint </a:t>
            </a:r>
            <a:r>
              <a:rPr b="1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τ</a:t>
            </a:r>
            <a:r>
              <a:rPr b="0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gain </a:t>
            </a:r>
            <a:r>
              <a:rPr b="1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η</a:t>
            </a:r>
            <a:r>
              <a:rPr b="0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→ the deviation gain w_eff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418067" y="3469977"/>
            <a:ext cx="1874032" cy="222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b="0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 is exactly </a:t>
            </a:r>
            <a:r>
              <a:rPr b="1" i="0" lang="en-US" sz="11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η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418067" y="3743238"/>
            <a:ext cx="1874032" cy="61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150"/>
              <a:buFont typeface="IBM Plex Sans"/>
              <a:buNone/>
            </a:pPr>
            <a:r>
              <a:rPr b="1" i="0" lang="en-US" sz="11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rule and the same code in both modalities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nector" id="280" name="Google Shape;280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2971730" y="2457363"/>
            <a:ext cx="558750" cy="10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5689581" y="2457363"/>
            <a:ext cx="558750" cy="10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82" name="Google Shape;282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8407342" y="2457363"/>
            <a:ext cx="558750" cy="10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83" name="Google Shape;283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2971730" y="4273550"/>
            <a:ext cx="558750" cy="10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5689581" y="4273550"/>
            <a:ext cx="558750" cy="10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85" name="Google Shape;285;p13"/>
          <p:cNvPicPr preferRelativeResize="0"/>
          <p:nvPr/>
        </p:nvPicPr>
        <p:blipFill rotWithShape="1">
          <a:blip r:embed="rId3">
            <a:alphaModFix/>
          </a:blip>
          <a:srcRect b="0" l="-29" r="-29" t="0"/>
          <a:stretch/>
        </p:blipFill>
        <p:spPr>
          <a:xfrm>
            <a:off x="8407342" y="4273550"/>
            <a:ext cx="558750" cy="10153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/>
          <p:nvPr/>
        </p:nvSpPr>
        <p:spPr>
          <a:xfrm>
            <a:off x="812720" y="5181550"/>
            <a:ext cx="10621754" cy="41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50"/>
              <a:buFont typeface="IBM Plex Sans"/>
              <a:buNone/>
            </a:pPr>
            <a:r>
              <a:rPr b="0" i="0" lang="en-US" sz="11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Everything inside the boxes is trained or run by us. Borrowed checkpoints — EquiFM and TFG's predictor pair — are a separate, parallel comparison and are never pooled with ours.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261571" y="330144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0312371" y="380944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1f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12720" y="6444066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11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figure (this work)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812720" y="482575"/>
            <a:ext cx="10883529" cy="228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BUILD THE EVIDENCE FOR MODALITY 1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812720" y="711367"/>
            <a:ext cx="10883529" cy="398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04"/>
              <a:buFont typeface="Source Serif 4"/>
              <a:buNone/>
            </a:pPr>
            <a:r>
              <a:rPr b="1" i="0" lang="en-US" sz="2704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Choose the base model</a:t>
            </a:r>
            <a:endParaRPr b="0" i="0" sz="2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812720" y="1198290"/>
            <a:ext cx="10883529" cy="263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39"/>
              <a:buFont typeface="IBM Plex Sans"/>
              <a:buNone/>
            </a:pPr>
            <a:r>
              <a:rPr b="1" i="0" lang="en-US" sz="133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row is unconditional and unguided</a:t>
            </a:r>
            <a:r>
              <a:rPr b="0" i="0" lang="en-US" sz="133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: no target, no property gradient. Guidance starts in 2b.</a:t>
            </a:r>
            <a:endParaRPr b="0" i="0" sz="13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14"/>
          <p:cNvGraphicFramePr/>
          <p:nvPr/>
        </p:nvGraphicFramePr>
        <p:xfrm>
          <a:off x="824313" y="156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2322075"/>
                <a:gridCol w="1583250"/>
                <a:gridCol w="949950"/>
                <a:gridCol w="1372150"/>
                <a:gridCol w="1372150"/>
                <a:gridCol w="949950"/>
                <a:gridCol w="738850"/>
                <a:gridCol w="1266600"/>
              </a:tblGrid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Model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Trained on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Atom ↑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Molecule ↑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Validity ↑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Unique ↑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NFE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b="1"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 / sample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Flow matching (ours)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train_a (51,527)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93.6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39.7 ± 0.6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75.6 ± 1.1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99.8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0.051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</a:tr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diffusion (ours)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train_a (51,527)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90.7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28.8 ± 1.3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66.2 ± 0.7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101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0.048*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EquiFM [24], borrowed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full QM9 (100K)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98.6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86.2 ± 0.3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93.8 ± 0.6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99.7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EDMsecond [15], borrowed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full QM9 (100K)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96.4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67.2 ± 1.3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86.0 ± 1.3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99.8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101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0.087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Real QM9: the ceiling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99.4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95.6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98.2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39"/>
                        <a:buFont typeface="IBM Plex Sans"/>
                        <a:buNone/>
                      </a:pPr>
                      <a:r>
                        <a:rPr lang="en-US" sz="123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23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075" marB="55075" marR="55075" marL="55075">
                    <a:lnL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0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4"/>
          <p:cNvSpPr/>
          <p:nvPr/>
        </p:nvSpPr>
        <p:spPr>
          <a:xfrm>
            <a:off x="812720" y="3674852"/>
            <a:ext cx="10883529" cy="417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78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55"/>
              <a:buFont typeface="IBM Plex Sans"/>
              <a:buNone/>
            </a:pPr>
            <a:r>
              <a:rPr b="0" i="0" lang="en-US" sz="1155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Percent; mean ± seed s.d. over 3 seeds × 2,000. Euler probability-flow ODE; our evaluator, EDM's conventions [2]. *VP timing is on a B200 MIG slice, every other row on an RTX A6000 — not hardware-matched (1e).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812720" y="4181525"/>
            <a:ext cx="5757512" cy="1990724"/>
          </a:xfrm>
          <a:prstGeom prst="roundRect">
            <a:avLst>
              <a:gd fmla="val 3190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812720" y="4181525"/>
            <a:ext cx="5757512" cy="1990724"/>
          </a:xfrm>
          <a:custGeom>
            <a:rect b="b" l="l" r="r" t="t"/>
            <a:pathLst>
              <a:path extrusionOk="0" h="1990724" w="5757512">
                <a:moveTo>
                  <a:pt x="63500" y="1990724"/>
                </a:moveTo>
                <a:lnTo>
                  <a:pt x="63500" y="1990724"/>
                </a:lnTo>
                <a:cubicBezTo>
                  <a:pt x="28430" y="1990724"/>
                  <a:pt x="0" y="1962294"/>
                  <a:pt x="0" y="1927224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927224"/>
                </a:lnTo>
                <a:cubicBezTo>
                  <a:pt x="50800" y="1944065"/>
                  <a:pt x="52138" y="1960217"/>
                  <a:pt x="54520" y="1972125"/>
                </a:cubicBezTo>
                <a:cubicBezTo>
                  <a:pt x="56901" y="1984034"/>
                  <a:pt x="60132" y="1990724"/>
                  <a:pt x="63500" y="1990724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1049570" y="4321187"/>
            <a:ext cx="5490089" cy="25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416"/>
              <a:buFont typeface="IBM Plex Sans"/>
              <a:buNone/>
            </a:pPr>
            <a:r>
              <a:rPr b="1" i="0" lang="en-US" sz="1416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 matching is carried forward</a:t>
            </a:r>
            <a:endParaRPr b="0" i="0" sz="1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049570" y="4609393"/>
            <a:ext cx="5490089" cy="93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78"/>
              <a:buFont typeface="IBM Plex Sans"/>
              <a:buNone/>
            </a:pPr>
            <a:r>
              <a:rPr b="0" i="0" lang="en-US" sz="1278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matched data, backbone, recipe and budget, our flow model beats our diffusion model on every quality axis: </a:t>
            </a:r>
            <a:r>
              <a:rPr b="1" i="0" lang="en-US" sz="1278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+10.9 molecule-stability points</a:t>
            </a:r>
            <a:r>
              <a:rPr b="0" i="0" lang="en-US" sz="1278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+9.4 validity, +2.9 atom — with </a:t>
            </a:r>
            <a:r>
              <a:rPr b="1" i="0" lang="en-US" sz="1278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fewer network call</a:t>
            </a:r>
            <a:r>
              <a:rPr b="0" i="0" lang="en-US" sz="1278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per sample (100 vs 101).</a:t>
            </a:r>
            <a:endParaRPr b="0" i="0" sz="12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049570" y="5579349"/>
            <a:ext cx="5490089" cy="478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74"/>
              <a:buFont typeface="IBM Plex Sans"/>
              <a:buNone/>
            </a:pPr>
            <a:r>
              <a:rPr b="0" i="0" lang="en-US" sz="1274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also hands guidance an explicit endpoint, m = xₜ + (1 − t)vθ, to differentiate (2b).</a:t>
            </a:r>
            <a:endParaRPr b="0" i="0" sz="12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725751" y="4184700"/>
            <a:ext cx="4650326" cy="1984374"/>
          </a:xfrm>
          <a:prstGeom prst="roundRect">
            <a:avLst>
              <a:gd fmla="val 432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6918851" y="4326985"/>
            <a:ext cx="439205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Reading the borrowed rows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6918851" y="4607855"/>
            <a:ext cx="4392053" cy="1225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50"/>
              <a:buFont typeface="IBM Plex Sans"/>
              <a:buNone/>
            </a:pPr>
            <a:r>
              <a:rPr b="0" i="0" lang="en-US" sz="13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EquiFM and EDMsecond are external checkpoints trained on </a:t>
            </a:r>
            <a:r>
              <a:rPr b="1" i="0" lang="en-US" sz="13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twice our data</a:t>
            </a:r>
            <a:r>
              <a:rPr b="0" i="0" lang="en-US" sz="13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and they bracket us from above. They set context, not a verdict: the family decision rests only on the two rows we trained ourselves.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12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Hoogeboom et al. 2022 (EDM), Tables 1 and 10 · [24] Song et al. 2023 (EquiFM) · [15] Ye et al. 2024 (TFG; EDMsecond checkpoint) · all rows measured in this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GUIDANCE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Guidance strategy: the plug-in rule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815895" y="1280629"/>
            <a:ext cx="5968992" cy="1767449"/>
          </a:xfrm>
          <a:prstGeom prst="roundRect">
            <a:avLst>
              <a:gd fmla="val 485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996313" y="1410240"/>
            <a:ext cx="5776400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rule: DPS-style plug-in [12]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_i = (y − F_i)/s² · J_iᵀ ∇_m f_A(m_i), F_i = f_A(m_i), J_i = ∂m_i/∂x^(i)" id="322" name="Google Shape;322;p15"/>
          <p:cNvPicPr preferRelativeResize="0"/>
          <p:nvPr/>
        </p:nvPicPr>
        <p:blipFill rotWithShape="1">
          <a:blip r:embed="rId3">
            <a:alphaModFix/>
          </a:blip>
          <a:srcRect b="0" l="-48" r="-48" t="0"/>
          <a:stretch/>
        </p:blipFill>
        <p:spPr>
          <a:xfrm>
            <a:off x="996313" y="1691109"/>
            <a:ext cx="5549826" cy="50793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5"/>
          <p:cNvSpPr/>
          <p:nvPr/>
        </p:nvSpPr>
        <p:spPr>
          <a:xfrm>
            <a:off x="996313" y="2249767"/>
            <a:ext cx="5776400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mᵢ is the model's one-step estimate of the finished sample: xₜ + (1 − t)vθ for flow matching, the Tweedie mean for diffusion (1c, 1d). y is the training median q50; s is the property's s.d. over the calibration pool.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815895" y="3181412"/>
            <a:ext cx="5968992" cy="2485701"/>
          </a:xfrm>
          <a:prstGeom prst="roundRect">
            <a:avLst>
              <a:gd fmla="val 3449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996313" y="3311023"/>
            <a:ext cx="5776400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it enters each sampler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ow: dx/dt = vθ + clip_‖vθ‖( w (1 − t)/t G_i ); diffusion: dx/du = f_φ + clip_‖f_φ‖( −½ β(u) w G_i ), f_φ = −½ β(u)(x + s_φ)" id="326" name="Google Shape;326;p15"/>
          <p:cNvPicPr preferRelativeResize="0"/>
          <p:nvPr/>
        </p:nvPicPr>
        <p:blipFill rotWithShape="1">
          <a:blip r:embed="rId4">
            <a:alphaModFix/>
          </a:blip>
          <a:srcRect b="0" l="-95" r="-95" t="0"/>
          <a:stretch/>
        </p:blipFill>
        <p:spPr>
          <a:xfrm>
            <a:off x="996313" y="3591892"/>
            <a:ext cx="5988022" cy="10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5"/>
          <p:cNvSpPr/>
          <p:nvPr/>
        </p:nvSpPr>
        <p:spPr>
          <a:xfrm>
            <a:off x="996313" y="4645899"/>
            <a:ext cx="5776400" cy="91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Gᵢ, same strength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w = 1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[14], same window — guidance acts only in the second half of sampling (flow t ≥ 0.5, diffusion u ≤ 0.5) — and the same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velocity-relative clip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[13]: a correction is never allowed to exceed the model's own velocity. Identical for every arm in this talk, ours included.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956262" y="1280629"/>
            <a:ext cx="4419816" cy="2514594"/>
          </a:xfrm>
          <a:prstGeom prst="roundRect">
            <a:avLst>
              <a:gd fmla="val 3409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7136681" y="1410240"/>
            <a:ext cx="4180748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is trained, and what is frozen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7136681" y="1691109"/>
            <a:ext cx="4180748" cy="4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Generator: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ours,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no weight is updated at sampling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7136681" y="2197416"/>
            <a:ext cx="4180748" cy="4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Guide f_A: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ours, trained on train_a,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; we differentiate it, we never update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7136681" y="2703723"/>
            <a:ext cx="4180748" cy="4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Evaluator f_B: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trained on train_b,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never inside the sampler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it only scores afterwards.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7136681" y="3210030"/>
            <a:ext cx="4180748" cy="4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Nothing is retrained between arms, so any difference is the guidance rule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953087" y="3925385"/>
            <a:ext cx="4426166" cy="937349"/>
          </a:xfrm>
          <a:prstGeom prst="roundRect">
            <a:avLst>
              <a:gd fmla="val 6774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6953087" y="3925385"/>
            <a:ext cx="4426166" cy="937349"/>
          </a:xfrm>
          <a:custGeom>
            <a:rect b="b" l="l" r="r" t="t"/>
            <a:pathLst>
              <a:path extrusionOk="0" h="937349" w="4426166">
                <a:moveTo>
                  <a:pt x="63500" y="937349"/>
                </a:moveTo>
                <a:lnTo>
                  <a:pt x="63500" y="937349"/>
                </a:lnTo>
                <a:cubicBezTo>
                  <a:pt x="28430" y="937349"/>
                  <a:pt x="0" y="908919"/>
                  <a:pt x="0" y="87384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873849"/>
                </a:lnTo>
                <a:cubicBezTo>
                  <a:pt x="50800" y="890690"/>
                  <a:pt x="52138" y="906842"/>
                  <a:pt x="54520" y="918750"/>
                </a:cubicBezTo>
                <a:cubicBezTo>
                  <a:pt x="56901" y="930659"/>
                  <a:pt x="60132" y="937349"/>
                  <a:pt x="63500" y="937349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7177257" y="4052367"/>
            <a:ext cx="4144925" cy="70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rule is the baseline BDG must beat.</a:t>
            </a:r>
            <a:r>
              <a:rPr b="0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It is also the rule BDG reduces to when its gain is switched off (2c).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10261571" y="330144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10312371" y="380944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812720" y="6444066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13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et al. 2023 (DPS) · [14] Ho &amp; Salimans 2022 (CFG) · velocity-relative trust region: adopted practice [13]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812720" y="482575"/>
            <a:ext cx="10883529" cy="230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GUIDANCE 2 OF 2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812720" y="712632"/>
            <a:ext cx="10883529" cy="40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04"/>
              <a:buFont typeface="Source Serif 4"/>
              <a:buNone/>
            </a:pPr>
            <a:r>
              <a:rPr b="1" i="0" lang="en-US" sz="2704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Guided vs unguided, on both base models</a:t>
            </a:r>
            <a:endParaRPr b="0" i="0" sz="2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812720" y="1189323"/>
            <a:ext cx="10566533" cy="859728"/>
          </a:xfrm>
          <a:prstGeom prst="roundRect">
            <a:avLst>
              <a:gd fmla="val 7386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812720" y="1189323"/>
            <a:ext cx="10566533" cy="859728"/>
          </a:xfrm>
          <a:custGeom>
            <a:rect b="b" l="l" r="r" t="t"/>
            <a:pathLst>
              <a:path extrusionOk="0" h="859728" w="10566533">
                <a:moveTo>
                  <a:pt x="63500" y="859728"/>
                </a:moveTo>
                <a:lnTo>
                  <a:pt x="63500" y="859728"/>
                </a:lnTo>
                <a:cubicBezTo>
                  <a:pt x="28430" y="859728"/>
                  <a:pt x="0" y="831298"/>
                  <a:pt x="0" y="796228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796228"/>
                </a:lnTo>
                <a:cubicBezTo>
                  <a:pt x="50800" y="813069"/>
                  <a:pt x="52138" y="829221"/>
                  <a:pt x="54520" y="841129"/>
                </a:cubicBezTo>
                <a:cubicBezTo>
                  <a:pt x="56901" y="853038"/>
                  <a:pt x="60132" y="859728"/>
                  <a:pt x="63500" y="859728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049570" y="1290855"/>
            <a:ext cx="10443382" cy="682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11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47"/>
              <a:buFont typeface="IBM Plex Sans"/>
              <a:buNone/>
            </a:pPr>
            <a:r>
              <a:rPr b="1" i="0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setting, identical for all six rows.</a:t>
            </a:r>
            <a:r>
              <a:rPr b="0" i="0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guidance rule is </a:t>
            </a:r>
            <a:r>
              <a:rPr b="1" i="0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DPS-style plug-in</a:t>
            </a:r>
            <a:r>
              <a:rPr b="0" i="0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[12] (2b-i) on </a:t>
            </a:r>
            <a:r>
              <a:rPr b="0" i="1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</a:t>
            </a:r>
            <a:r>
              <a:rPr b="0" i="0" lang="en-US" sz="124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families — the only thing changing down the table is which base model it steers. QM9, y = q50, w = 1, t ≥ 0.5; frozen f_A steers, held-out f_B scores decoded molecules. Each arm: 3 seeds × 2,000, sharing noise and atom counts; registered unpaired z, bar 2.99 (1e).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6"/>
          <p:cNvGraphicFramePr/>
          <p:nvPr/>
        </p:nvGraphicFramePr>
        <p:xfrm>
          <a:off x="824313" y="2162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949950"/>
                <a:gridCol w="1794350"/>
                <a:gridCol w="2744275"/>
                <a:gridCol w="1688800"/>
                <a:gridCol w="1688800"/>
                <a:gridCol w="1688800"/>
              </a:tblGrid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Property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Base model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In-band, decoded ↑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Change (z)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Mol. stab. ↑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Validity ↑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μ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Flow matching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7.8 ± 0.1 → 10.6 ± 0.4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+2.75 (z 5.22)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39.7 → 35.6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75.6 → 72.5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μ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diffusion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8.7 ± 0.8 → 10.8 ± 0.4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+2.13 (z 3.94)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28.8 → 26.2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66.2 → 61.8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α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Flow matching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5.0 ± 0.3 → 6.1 ± 0.3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+1.07 (z 2.56)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39.7 → 37.2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75.6 → 73.7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α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diffusion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5.2 ± 0.6 → 5.4 ± 0.4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+0.15 (z 0.37)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28.8 → 25.2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66.2 → 58.7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Flow matching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10.3 ± 1.0 → 12.6 ± 0.7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+2.35 (z 4.04)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39.7 → 33.6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75.6 → 69.9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0F8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VP diffusion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9.8 ± 0.6 → 12.4 ± 1.2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+2.60 (z 4.55)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28.8 → 23.2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66.2 → 57.3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" name="Google Shape;352;p16"/>
          <p:cNvSpPr/>
          <p:nvPr/>
        </p:nvSpPr>
        <p:spPr>
          <a:xfrm>
            <a:off x="812720" y="4518552"/>
            <a:ext cx="10883529" cy="420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78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55"/>
              <a:buFont typeface="IBM Plex Sans"/>
              <a:buNone/>
            </a:pPr>
            <a:r>
              <a:rPr b="0" i="0" lang="en-US" sz="1155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cell: unguided → plug-in, percent (mean ± seed s.d.). Change: percentage points on decoded in-band, with the registered z. Uniqueness stays above 99.8 everywhere.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815895" y="5018342"/>
            <a:ext cx="5200744" cy="1150732"/>
          </a:xfrm>
          <a:prstGeom prst="roundRect">
            <a:avLst>
              <a:gd fmla="val 745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996313" y="5135178"/>
            <a:ext cx="4985105" cy="24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5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77"/>
              <a:buFont typeface="IBM Plex Sans"/>
              <a:buNone/>
            </a:pPr>
            <a:r>
              <a:rPr b="1" i="0" lang="en-US" sz="137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Guidance works, on both families</a:t>
            </a:r>
            <a:endParaRPr b="0" i="0" sz="13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996313" y="5404092"/>
            <a:ext cx="4985105" cy="673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7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35"/>
              <a:buFont typeface="IBM Plex Sans"/>
              <a:buNone/>
            </a:pPr>
            <a:r>
              <a:rPr b="0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 clears the bar on </a:t>
            </a:r>
            <a:r>
              <a:rPr b="1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μ and gap for both models</a:t>
            </a:r>
            <a:r>
              <a:rPr b="0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(z 2.6–5.2); both leave α unresolved. Same direction on both families, so this is not an artefact of one.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175334" y="5018342"/>
            <a:ext cx="5200744" cy="1150732"/>
          </a:xfrm>
          <a:prstGeom prst="roundRect">
            <a:avLst>
              <a:gd fmla="val 745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6355752" y="5135178"/>
            <a:ext cx="4985105" cy="24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5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77"/>
              <a:buFont typeface="IBM Plex Sans"/>
              <a:buNone/>
            </a:pPr>
            <a:r>
              <a:rPr b="1" i="0" lang="en-US" sz="137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it is bought, not free</a:t>
            </a:r>
            <a:endParaRPr b="0" i="0" sz="13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355752" y="5404092"/>
            <a:ext cx="4985105" cy="673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7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35"/>
              <a:buFont typeface="IBM Plex Sans"/>
              <a:buNone/>
            </a:pPr>
            <a:r>
              <a:rPr b="0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gain costs chemistry: stability falls 2.5–6.2 points on flow matching, 2.7–5.7 on diffusion. </a:t>
            </a:r>
            <a:r>
              <a:rPr b="1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 matching pays from a far higher starting point</a:t>
            </a:r>
            <a:r>
              <a:rPr b="0" i="0" lang="en-US" sz="1235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(39.7 vs 28.8) — why 2a carries it forward.</a:t>
            </a:r>
            <a:endParaRPr b="0" i="0" sz="12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14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et al. 2023 (DPS) · cells: results/v3/{fm,vp}/v3/n2000 (this work)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INNOVATION 1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Motivating the innovation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815895" y="1255179"/>
            <a:ext cx="4304153" cy="1800781"/>
          </a:xfrm>
          <a:prstGeom prst="roundRect">
            <a:avLst>
              <a:gd fmla="val 476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996313" y="1384784"/>
            <a:ext cx="4061616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limitation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 (y − F_i) = w (y − F̄) [moves the batch mean] − w (F_i − F̄) [shrinks the spread]" id="372" name="Google Shape;372;p17"/>
          <p:cNvPicPr preferRelativeResize="0"/>
          <p:nvPr/>
        </p:nvPicPr>
        <p:blipFill rotWithShape="1">
          <a:blip r:embed="rId3">
            <a:alphaModFix/>
          </a:blip>
          <a:srcRect b="0" l="-377" r="-377" t="0"/>
          <a:stretch/>
        </p:blipFill>
        <p:spPr>
          <a:xfrm>
            <a:off x="996313" y="1673535"/>
            <a:ext cx="3936976" cy="53339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/>
          <p:nvPr/>
        </p:nvSpPr>
        <p:spPr>
          <a:xfrm>
            <a:off x="996313" y="2257648"/>
            <a:ext cx="4061616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plug-in guidance [12] one strength w scales both terms, so moving the batch toward y also shrinks its spread.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822245" y="3182875"/>
            <a:ext cx="4291453" cy="1450059"/>
          </a:xfrm>
          <a:prstGeom prst="roundRect">
            <a:avLst>
              <a:gd fmla="val 5474" name="adj"/>
            </a:avLst>
          </a:prstGeom>
          <a:solidFill>
            <a:srgbClr val="F2EEF9"/>
          </a:solidFill>
          <a:ln cap="flat" cmpd="sng" w="19050">
            <a:solidFill>
              <a:srgbClr val="5B3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1007906" y="3317726"/>
            <a:ext cx="4037733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BDG's idea, and the hypothesis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1007906" y="3606471"/>
            <a:ext cx="4037733" cy="91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the centring term; set the deviation coefficient by feedback on the batch variance V_b against a requested τ².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Hypothesis: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coverage rises at comparable quality.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5288248" y="1252004"/>
            <a:ext cx="6273735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BDG SITS AMONG THE METHODS COMPARED IN 2E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8" name="Google Shape;378;p17"/>
          <p:cNvGraphicFramePr/>
          <p:nvPr/>
        </p:nvGraphicFramePr>
        <p:xfrm>
          <a:off x="5299842" y="15531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823825"/>
                <a:gridCol w="3222100"/>
                <a:gridCol w="1033500"/>
              </a:tblGrid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Method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Statistic it uses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Acts on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DPS-style plug-in [12]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residual y − Fᵢ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 sample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TMPD-inspired [22]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the covariance of its own endpoint (a second moment)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 sample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LGD-MC [23]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Monte Carlo draws around the endpoint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 sample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[15]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extra training-free steps on the endpoint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 sample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BDG (ours)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batch variance of predicted properties, V_b vs τ² (a second moment)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batch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</a:tbl>
          </a:graphicData>
        </a:graphic>
      </p:graphicFrame>
      <p:sp>
        <p:nvSpPr>
          <p:cNvPr id="379" name="Google Shape;379;p17"/>
          <p:cNvSpPr/>
          <p:nvPr/>
        </p:nvSpPr>
        <p:spPr>
          <a:xfrm>
            <a:off x="5288248" y="4045124"/>
            <a:ext cx="6091005" cy="1515120"/>
          </a:xfrm>
          <a:prstGeom prst="roundRect">
            <a:avLst>
              <a:gd fmla="val 4191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288248" y="4045124"/>
            <a:ext cx="6091005" cy="1515120"/>
          </a:xfrm>
          <a:custGeom>
            <a:rect b="b" l="l" r="r" t="t"/>
            <a:pathLst>
              <a:path extrusionOk="0" h="1515120" w="6091005">
                <a:moveTo>
                  <a:pt x="63500" y="1515120"/>
                </a:moveTo>
                <a:lnTo>
                  <a:pt x="63500" y="1515120"/>
                </a:lnTo>
                <a:cubicBezTo>
                  <a:pt x="28430" y="1515120"/>
                  <a:pt x="0" y="1486690"/>
                  <a:pt x="0" y="145162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451620"/>
                </a:lnTo>
                <a:cubicBezTo>
                  <a:pt x="50800" y="1468461"/>
                  <a:pt x="52138" y="1484613"/>
                  <a:pt x="54520" y="1496521"/>
                </a:cubicBezTo>
                <a:cubicBezTo>
                  <a:pt x="56901" y="1508430"/>
                  <a:pt x="60132" y="1515120"/>
                  <a:pt x="63500" y="1515120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5486967" y="4133974"/>
            <a:ext cx="5912139" cy="1362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different second moments.</a:t>
            </a:r>
            <a:r>
              <a:rPr b="0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TMPD weighs one sample's uncertainty about its own endpoint; BDG reads the whole batch's spread in property space. No comparator here uses a batch statistic — though batch-level ideas exist elsewhere: joint potentials [20], moment targets [18], spread targets [19], the scale as a control gain [16, 17], negative-guidance widening [21]. </a:t>
            </a: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claim only the composition</a:t>
            </a:r>
            <a:r>
              <a:rPr b="0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, from a bounded search.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0261571" y="330144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10312371" y="380944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812720" y="6444066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15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2588716" y="6306933"/>
            <a:ext cx="8790356" cy="32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2023 (DPS) · [15] Ye 2024 (TFG) · [16] Wang 2026 (CFG-Ctrl) · [17] Koulischer 2025 (Feedback Guidance) · [18] Lempereur 2026 (MGD) · [19] Azangulov 2026 (VTD) · [20] Corso 2024 (Particle Guidance) · [21] Ventura 2026 (negative guidance) · [22] Boys 2024 (TMPD) · [23] Song 2023 (LGD-MC)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/>
          <p:nvPr/>
        </p:nvSpPr>
        <p:spPr>
          <a:xfrm>
            <a:off x="812720" y="507938"/>
            <a:ext cx="10883529" cy="23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INNOVATION 2 OF 4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812720" y="742249"/>
            <a:ext cx="10883529" cy="408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b="1" i="0" lang="en-US" sz="2748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BDG: the mechanism</a:t>
            </a:r>
            <a:endParaRPr b="0" i="0" sz="2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815895" y="1255359"/>
            <a:ext cx="10560183" cy="3368887"/>
          </a:xfrm>
          <a:prstGeom prst="roundRect">
            <a:avLst>
              <a:gd fmla="val 2545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DG in four steps. 1: the frozen guide f_A scores the batch at time t, giving one predicted property F_i per sample. 2: the batch mean F-bar and variance V_b are measured and compared with the requested setpoint tau. 3: the relative error e sets the deviation coefficient w_eff = 1 + eta e; e above zero contracts more than plug-in, e below zero contracts less, and a negative w_eff expands the batch. 4: every sample is updated along its own property gradient and the batch is measured again at the " id="394" name="Google Shape;394;p18"/>
          <p:cNvPicPr preferRelativeResize="0"/>
          <p:nvPr/>
        </p:nvPicPr>
        <p:blipFill rotWithShape="1">
          <a:blip r:embed="rId3">
            <a:alphaModFix/>
          </a:blip>
          <a:srcRect b="-92" l="0" r="0" t="-92"/>
          <a:stretch/>
        </p:blipFill>
        <p:spPr>
          <a:xfrm>
            <a:off x="2444771" y="1346826"/>
            <a:ext cx="7302431" cy="3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8"/>
          <p:cNvSpPr/>
          <p:nvPr/>
        </p:nvSpPr>
        <p:spPr>
          <a:xfrm>
            <a:off x="815895" y="4757582"/>
            <a:ext cx="3422688" cy="1360682"/>
          </a:xfrm>
          <a:prstGeom prst="roundRect">
            <a:avLst>
              <a:gd fmla="val 630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970862" y="4861737"/>
            <a:ext cx="3206136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coefficient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970862" y="5150489"/>
            <a:ext cx="3206136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centring term keeps coefficient 1; η = 0 gives plug-in [12] exactly.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4384597" y="4757582"/>
            <a:ext cx="3422688" cy="1360682"/>
          </a:xfrm>
          <a:prstGeom prst="roundRect">
            <a:avLst>
              <a:gd fmla="val 630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4539564" y="4861737"/>
            <a:ext cx="3206136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network calls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4539564" y="5150489"/>
            <a:ext cx="3206136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terms share one gradient; BDG adds two batch reductions.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7953300" y="4757582"/>
            <a:ext cx="3422688" cy="1360682"/>
          </a:xfrm>
          <a:prstGeom prst="roundRect">
            <a:avLst>
              <a:gd fmla="val 630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8108267" y="4861737"/>
            <a:ext cx="3206136" cy="25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knobs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8108267" y="5144598"/>
            <a:ext cx="3206136" cy="89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72"/>
              <a:buFont typeface="IBM Plex Sans"/>
              <a:buNone/>
            </a:pPr>
            <a:r>
              <a:rPr b="0" i="0" lang="en-US" sz="1272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Gain η ≥ 0 and setpoint τ = τ_m·s — s is the calibration-pool s.d. from 2b, so τ_m is “how many s.d. wide should this batch be”.</a:t>
            </a:r>
            <a:endParaRPr b="0" i="0" sz="12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812720" y="6444066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16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2588716" y="6455476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figure and formulation (this work) · plug-in base after [12] Chung et al. 2023 (DPS)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/>
          <p:nvPr/>
        </p:nvSpPr>
        <p:spPr>
          <a:xfrm>
            <a:off x="812720" y="457126"/>
            <a:ext cx="10883529" cy="233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INNOVATION 3 OF 4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812720" y="690538"/>
            <a:ext cx="10883529" cy="406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b="1" i="0" lang="en-US" sz="2748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BDG: the reduction and its limits</a:t>
            </a:r>
            <a:endParaRPr b="0" i="0" sz="2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815895" y="1163786"/>
            <a:ext cx="5734858" cy="2729163"/>
          </a:xfrm>
          <a:prstGeom prst="roundRect">
            <a:avLst>
              <a:gd fmla="val 314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>
            <a:off x="996313" y="1293391"/>
            <a:ext cx="5535242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 reduction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_i = (y − F_i) − η e (F_i − F̄) = (y − F̄) − w_eff (F_i − F̄) = w_eff (y_eff − F_i), with y_eff = (y + η e F̄)/w_eff for w_eff ≠ 0" id="417" name="Google Shape;417;p19"/>
          <p:cNvPicPr preferRelativeResize="0"/>
          <p:nvPr/>
        </p:nvPicPr>
        <p:blipFill rotWithShape="1">
          <a:blip r:embed="rId3">
            <a:alphaModFix/>
          </a:blip>
          <a:srcRect b="-13" l="0" r="0" t="-13"/>
          <a:stretch/>
        </p:blipFill>
        <p:spPr>
          <a:xfrm>
            <a:off x="996313" y="1574267"/>
            <a:ext cx="5041887" cy="97149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9"/>
          <p:cNvSpPr/>
          <p:nvPr/>
        </p:nvSpPr>
        <p:spPr>
          <a:xfrm>
            <a:off x="996313" y="2596480"/>
            <a:ext cx="5535242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any instant BDG is the plug-in direction with a batch-dependent gain w_eff and target y_eff.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adds no new direction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a reviewer will find this, so we say it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996313" y="3315915"/>
            <a:ext cx="5535242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it adds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that the gain is </a:t>
            </a:r>
            <a:r>
              <a:rPr b="0" i="1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by the batch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and reaches where no positive plug-in strength does (2d).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6709449" y="1163786"/>
            <a:ext cx="4666629" cy="1313584"/>
          </a:xfrm>
          <a:prstGeom prst="roundRect">
            <a:avLst>
              <a:gd fmla="val 6526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6889866" y="1293391"/>
            <a:ext cx="4434967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18"/>
              <a:buFont typeface="IBM Plex Sans"/>
              <a:buNone/>
            </a:pPr>
            <a:r>
              <a:rPr b="1" i="0" lang="en-US" sz="1418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 it contracts, and when it expands</a:t>
            </a:r>
            <a:endParaRPr b="0" i="0" sz="1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6889866" y="1566292"/>
            <a:ext cx="4434967" cy="45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36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68"/>
              <a:buFont typeface="IBM Plex Sans"/>
              <a:buNone/>
            </a:pPr>
            <a:r>
              <a:rPr b="0" i="0" lang="en-US" sz="126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 &gt; 0 strengthens contraction; e &lt; 0 only weakens it. Net expansion needs a negative gain:</a:t>
            </a:r>
            <a:endParaRPr b="0" i="0" sz="12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_eff &lt; 0 ⟺ η &gt; 1 and V_b &lt; τ²(1 − 1/η)" id="423" name="Google Shape;423;p19"/>
          <p:cNvPicPr preferRelativeResize="0"/>
          <p:nvPr/>
        </p:nvPicPr>
        <p:blipFill rotWithShape="1">
          <a:blip r:embed="rId4">
            <a:alphaModFix/>
          </a:blip>
          <a:srcRect b="0" l="-1811" r="-1811" t="0"/>
          <a:stretch/>
        </p:blipFill>
        <p:spPr>
          <a:xfrm>
            <a:off x="6889866" y="2047429"/>
            <a:ext cx="4140133" cy="30034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9"/>
          <p:cNvSpPr/>
          <p:nvPr/>
        </p:nvSpPr>
        <p:spPr>
          <a:xfrm>
            <a:off x="6709449" y="2597944"/>
            <a:ext cx="4666629" cy="1295016"/>
          </a:xfrm>
          <a:prstGeom prst="roundRect">
            <a:avLst>
              <a:gd fmla="val 662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6889866" y="2727548"/>
            <a:ext cx="4434967" cy="247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18"/>
              <a:buFont typeface="IBM Plex Sans"/>
              <a:buNone/>
            </a:pPr>
            <a:r>
              <a:rPr b="1" i="0" lang="en-US" sz="1418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 bound for any batch</a:t>
            </a:r>
            <a:endParaRPr b="0" i="0" sz="1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_eff ≥ 1 − η" id="426" name="Google Shape;426;p19"/>
          <p:cNvPicPr preferRelativeResize="0"/>
          <p:nvPr/>
        </p:nvPicPr>
        <p:blipFill rotWithShape="1">
          <a:blip r:embed="rId5">
            <a:alphaModFix/>
          </a:blip>
          <a:srcRect b="0" l="-1815" r="-1815" t="0"/>
          <a:stretch/>
        </p:blipFill>
        <p:spPr>
          <a:xfrm>
            <a:off x="6889866" y="3000350"/>
            <a:ext cx="3841692" cy="28186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9"/>
          <p:cNvSpPr/>
          <p:nvPr/>
        </p:nvSpPr>
        <p:spPr>
          <a:xfrm>
            <a:off x="6889866" y="3332944"/>
            <a:ext cx="4434967" cy="45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36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68"/>
              <a:buFont typeface="IBM Plex Sans"/>
              <a:buNone/>
            </a:pPr>
            <a:r>
              <a:rPr b="0" i="0" lang="en-US" sz="126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gain can never run away below 1 − η, which is what lets BDG run two-sided with no clamp.</a:t>
            </a:r>
            <a:endParaRPr b="0" i="0" sz="12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815895" y="3988160"/>
            <a:ext cx="10560183" cy="2206280"/>
          </a:xfrm>
          <a:prstGeom prst="roundRect">
            <a:avLst>
              <a:gd fmla="val 3885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996313" y="4117764"/>
            <a:ext cx="10505327" cy="24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18"/>
              <a:buFont typeface="IBM Plex Sans"/>
              <a:buNone/>
            </a:pPr>
            <a:r>
              <a:rPr b="1" i="0" lang="en-US" sz="1418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idealised picture, not a guarantee</a:t>
            </a:r>
            <a:endParaRPr b="0" i="0" sz="1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F_i/dt = (y − F̄) − w_eff (F_i − F̄) ⇒ dV_b/dt = −2 w_eff V_b ⇒ V* = τ²(1 − 1/η) for η &gt; 1" id="430" name="Google Shape;430;p19"/>
          <p:cNvPicPr preferRelativeResize="0"/>
          <p:nvPr/>
        </p:nvPicPr>
        <p:blipFill rotWithShape="1">
          <a:blip r:embed="rId6">
            <a:alphaModFix/>
          </a:blip>
          <a:srcRect b="0" l="-423" r="-423" t="0"/>
          <a:stretch/>
        </p:blipFill>
        <p:spPr>
          <a:xfrm>
            <a:off x="996313" y="5073228"/>
            <a:ext cx="7302431" cy="31112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9"/>
          <p:cNvSpPr/>
          <p:nvPr/>
        </p:nvSpPr>
        <p:spPr>
          <a:xfrm>
            <a:off x="8476540" y="4371640"/>
            <a:ext cx="2800693" cy="1739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Assumes unit response, continuous time, no drift, cap or projection. The stationary variance sits </a:t>
            </a:r>
            <a:r>
              <a:rPr b="0" i="1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below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setpoint and a 50-step window need not reach it. So we claim a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monotone dial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not a regulated variance, and not independent control of mean and spread.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17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formulation and proofs (this work); numerical checks in proj1/tests/test_bdg.py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INNOVATION 4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BDG at work: the setpoint moves the spread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815895" y="1267954"/>
            <a:ext cx="5581607" cy="4008067"/>
          </a:xfrm>
          <a:prstGeom prst="roundRect">
            <a:avLst>
              <a:gd fmla="val 2139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ne chart, our flow-matching model at eta = 8 and w = 1: decoded property spread divided by the unguided spread, against the setpoint multiplier tau_m = 0.5, 0.75, 1 and 1.5. All three properties rise monotonically: mu from 0.68 to 1.24, alpha from 0.67 to 1.17, gap from 0.76 to 1.15, crossing the unguided level 1.0 between tau_m = 1 and 1.5." id="444" name="Google Shape;444;p20"/>
          <p:cNvPicPr preferRelativeResize="0"/>
          <p:nvPr/>
        </p:nvPicPr>
        <p:blipFill rotWithShape="1">
          <a:blip r:embed="rId3">
            <a:alphaModFix/>
          </a:blip>
          <a:srcRect b="0" l="-69" r="-69" t="0"/>
          <a:stretch/>
        </p:blipFill>
        <p:spPr>
          <a:xfrm>
            <a:off x="920050" y="1372108"/>
            <a:ext cx="5384800" cy="354325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0"/>
          <p:cNvSpPr/>
          <p:nvPr/>
        </p:nvSpPr>
        <p:spPr>
          <a:xfrm>
            <a:off x="983550" y="4966072"/>
            <a:ext cx="5403686" cy="231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FM, η = 8, w = 1; 3 × 2,000 per point. Dashed line: the unguided spread.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6565702" y="1264779"/>
            <a:ext cx="4813550" cy="1446012"/>
          </a:xfrm>
          <a:prstGeom prst="roundRect">
            <a:avLst>
              <a:gd fmla="val 4391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"/>
          <p:cNvSpPr/>
          <p:nvPr/>
        </p:nvSpPr>
        <p:spPr>
          <a:xfrm>
            <a:off x="6565702" y="1264779"/>
            <a:ext cx="4813550" cy="1446012"/>
          </a:xfrm>
          <a:custGeom>
            <a:rect b="b" l="l" r="r" t="t"/>
            <a:pathLst>
              <a:path extrusionOk="0" h="1446012" w="4813550">
                <a:moveTo>
                  <a:pt x="63500" y="1446012"/>
                </a:moveTo>
                <a:lnTo>
                  <a:pt x="63500" y="1446012"/>
                </a:lnTo>
                <a:cubicBezTo>
                  <a:pt x="28430" y="1446012"/>
                  <a:pt x="0" y="1417582"/>
                  <a:pt x="0" y="1382512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82512"/>
                </a:lnTo>
                <a:cubicBezTo>
                  <a:pt x="50800" y="1399353"/>
                  <a:pt x="52138" y="1415505"/>
                  <a:pt x="54520" y="1427413"/>
                </a:cubicBezTo>
                <a:cubicBezTo>
                  <a:pt x="56901" y="1439322"/>
                  <a:pt x="60132" y="1446012"/>
                  <a:pt x="63500" y="1446012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/>
          <p:cNvSpPr/>
          <p:nvPr/>
        </p:nvSpPr>
        <p:spPr>
          <a:xfrm>
            <a:off x="6777102" y="1391754"/>
            <a:ext cx="4570239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setpoint is a real dial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6777102" y="1672630"/>
            <a:ext cx="4570239" cy="93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 for a tighter batch (τ_m = 0.5) and the spread drops to </a:t>
            </a: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0.67–0.76×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unguided. Ask for a wider one (τ_m = 1.5) and it rises to </a:t>
            </a: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1.15–1.24×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Monotone across four setpoints, on all three properties, and again on EquiFM (up to 1.25×).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6568877" y="2828168"/>
            <a:ext cx="4807200" cy="1223463"/>
          </a:xfrm>
          <a:prstGeom prst="roundRect">
            <a:avLst>
              <a:gd fmla="val 700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6736525" y="2957785"/>
            <a:ext cx="460606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Strength alone cannot do this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6736525" y="3238649"/>
            <a:ext cx="4606063" cy="70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 (η = 0) only ever narrows: 0.78–0.87× unguided at w = 1, and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tighter still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 w = 4 (0.65–0.79×). No tested positive strength reaches the wide side.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6568877" y="4172198"/>
            <a:ext cx="4807200" cy="1223463"/>
          </a:xfrm>
          <a:prstGeom prst="roundRect">
            <a:avLst>
              <a:gd fmla="val 700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0"/>
          <p:cNvSpPr/>
          <p:nvPr/>
        </p:nvSpPr>
        <p:spPr>
          <a:xfrm>
            <a:off x="6736525" y="4301803"/>
            <a:ext cx="460606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plug-in's price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6736525" y="4582678"/>
            <a:ext cx="4606063" cy="70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η = 0 reproduces plug-in bit for bit on our FM. The dial costs two scalar reductions per step —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extra network call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 Algorithm 1: appendix A5.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18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experiment (this work); cells results/v3/{fm,equifm}/v3abl/n2000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812720" y="457126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ABLATIONS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812720" y="695871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Testing the innovation: the ablation grid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812720" y="1175829"/>
            <a:ext cx="10566533" cy="615903"/>
          </a:xfrm>
          <a:prstGeom prst="roundRect">
            <a:avLst>
              <a:gd fmla="val 10310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812720" y="1175829"/>
            <a:ext cx="10566533" cy="615903"/>
          </a:xfrm>
          <a:custGeom>
            <a:rect b="b" l="l" r="r" t="t"/>
            <a:pathLst>
              <a:path extrusionOk="0" h="615903" w="10566533">
                <a:moveTo>
                  <a:pt x="63500" y="615903"/>
                </a:moveTo>
                <a:lnTo>
                  <a:pt x="63500" y="615903"/>
                </a:lnTo>
                <a:cubicBezTo>
                  <a:pt x="28430" y="615903"/>
                  <a:pt x="0" y="587473"/>
                  <a:pt x="0" y="552403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552403"/>
                </a:lnTo>
                <a:cubicBezTo>
                  <a:pt x="50800" y="569244"/>
                  <a:pt x="52138" y="585396"/>
                  <a:pt x="54520" y="597304"/>
                </a:cubicBezTo>
                <a:cubicBezTo>
                  <a:pt x="56901" y="609213"/>
                  <a:pt x="60132" y="615903"/>
                  <a:pt x="63500" y="615903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1049570" y="1264679"/>
            <a:ext cx="10443382" cy="4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612 registered cells.</a:t>
            </a:r>
            <a:r>
              <a:rPr b="0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η ∈ {1, 2, 4, 8} × τ_m ∈ {0.5, 0.75, 1, 1.5}, plus η = 0, at w = 1 and w = 4, on our FM </a:t>
            </a:r>
            <a:r>
              <a:rPr b="0" i="1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b="0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 EquiFM; 3 seeds × 2,000 each. Every cell is read against its </a:t>
            </a: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own η = 0 control at the same strength</a:t>
            </a:r>
            <a:r>
              <a:rPr b="0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, so w never moves inside a comparison.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815895" y="1883755"/>
            <a:ext cx="5264146" cy="4140305"/>
          </a:xfrm>
          <a:prstGeom prst="roundRect">
            <a:avLst>
              <a:gd fmla="val 2070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ix heatmaps for our flow-matching model only: rows are mu, alpha and gap at w = 1 (top) and w = 4 (bottom); each grid has eta = 1, 2, 4, 8 down and tau_m = 0.5, 0.75, 1, 1.5 across. Entries are decoded in-band minus the eta = 0 control in percentage points. The tau_m = 0.5 column is positive at w = 1, up to +1.3, +1.4 and +2.2 at eta = 8, and near zero at w = 4; the tau_m = 1.5 column is negative everywhere, down to -3.0, -1.4 and -4.5 at w = 1 and -6.4, -3.3 and -9.1 at w = 4." id="471" name="Google Shape;471;p21"/>
          <p:cNvPicPr preferRelativeResize="0"/>
          <p:nvPr/>
        </p:nvPicPr>
        <p:blipFill rotWithShape="1">
          <a:blip r:embed="rId3">
            <a:alphaModFix/>
          </a:blip>
          <a:srcRect b="-9" l="0" r="0" t="-9"/>
          <a:stretch/>
        </p:blipFill>
        <p:spPr>
          <a:xfrm>
            <a:off x="894689" y="1962547"/>
            <a:ext cx="5118060" cy="332732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1"/>
          <p:cNvSpPr/>
          <p:nvPr/>
        </p:nvSpPr>
        <p:spPr>
          <a:xfrm>
            <a:off x="945489" y="5327910"/>
            <a:ext cx="5155106" cy="6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flow-matching model only</a:t>
            </a: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EquiFM has its own 306-cell grid, and it agrees. Decoded in-band minus the η = 0 control at the same w, in points.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3" name="Google Shape;473;p21"/>
          <p:cNvGraphicFramePr/>
          <p:nvPr/>
        </p:nvGraphicFramePr>
        <p:xfrm>
          <a:off x="6247154" y="1892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898875"/>
                <a:gridCol w="3233225"/>
              </a:tblGrid>
              <a:tr h="31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Control · what changes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What it isolates, and what we saw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72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Switch the gain off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η = 0 vs plug-in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implementation. Bit-for-bit identical on our FM; EquiFM agrees within its rerun noise. BDG really does contain plug-in.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Turn the setpoint down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η = 8, τ_m 0.5 at w = 1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Can we ask for a tighter batch? Yes: spread 0.67–0.77× unguided, tighter than plug-in reaches at w = 1, and coverage rises in all six tasks.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  <a:tr h="72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Turn the setpoint up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η = 8, τ_m 0.5 → 1.5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Is it a dial, or one trick? A dial: the batch widens monotonically to 1.15–1.25×, past unguided in 6 of 6 tasks.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  <a:tr h="72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Turn up strength instead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η = 0, w 1 → 4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Does w do the same job? No — it only narrows further, 0.78–0.87× → 0.65–0.79×. The wide side is unreachable by strength.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Push the gain at a wide setpoint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τ_m = 1.5, η 0 → 8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50"/>
                        <a:buFont typeface="IBM Plex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cost of widening. Coverage falls in all 12 grids: a wider batch fills a fixed band less well.</a:t>
                      </a:r>
                      <a:endParaRPr sz="11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125" marB="51125" marR="51125" marL="5112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4" name="Google Shape;474;p21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19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design (this work); cells results/v3/{fm,equifm}/v3abl/n2000, RTX A6000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2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ABLATIONS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the ablations establish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822245" y="1274304"/>
            <a:ext cx="5744711" cy="3068614"/>
          </a:xfrm>
          <a:prstGeom prst="roundRect">
            <a:avLst>
              <a:gd fmla="val 2587" name="adj"/>
            </a:avLst>
          </a:prstGeom>
          <a:solidFill>
            <a:srgbClr val="F2EEF9"/>
          </a:solidFill>
          <a:ln cap="flat" cmpd="sng" w="19050">
            <a:solidFill>
              <a:srgbClr val="5B3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1020587" y="1421829"/>
            <a:ext cx="5508468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grid establishes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1020587" y="1723355"/>
            <a:ext cx="5508468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The setpoint controls the spread.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τ_m moves decoded spread monotonically from 0.67× to 1.25× unguided, over four setpoints, six tasks, two backbones.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1020587" y="2480283"/>
            <a:ext cx="5508468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It is the dispersion term doing it, not strength.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Inside a fixed w, coverage tracks the </a:t>
            </a:r>
            <a:r>
              <a:rPr b="0" i="1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measured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gain w_eff with Spearman </a:t>
            </a: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0.92–0.99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all 12 grids — and w itself only ever narrows.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1020587" y="3237210"/>
            <a:ext cx="5508468" cy="718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Tightening is the useful direction.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 τ_m = 0.5 every one of the six tasks gains coverage over its own plug-in control, at a smaller chemistry cost per point than turning w 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6732001" y="1267954"/>
            <a:ext cx="4644077" cy="1602061"/>
          </a:xfrm>
          <a:prstGeom prst="roundRect">
            <a:avLst>
              <a:gd fmla="val 535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6899649" y="1384784"/>
            <a:ext cx="4438045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Coverage per point of chemistry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6899649" y="1657685"/>
            <a:ext cx="4438045" cy="112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In-band points gained per stability point lost, both measured from η = 0 at w = 1. Our FM: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dispersion 0.52–0.81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vs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strength 0.38–0.53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 EquiFM: 0.06–0.39 vs 0.08–0.37. Descriptive ratios, not tests — but the dispersion dial is the better buy on five of six.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6728826" y="2987402"/>
            <a:ext cx="4650427" cy="1365039"/>
          </a:xfrm>
          <a:prstGeom prst="roundRect">
            <a:avLst>
              <a:gd fmla="val 4652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6728826" y="2987402"/>
            <a:ext cx="4650427" cy="1365039"/>
          </a:xfrm>
          <a:custGeom>
            <a:rect b="b" l="l" r="r" t="t"/>
            <a:pathLst>
              <a:path extrusionOk="0" h="1365039" w="4650427">
                <a:moveTo>
                  <a:pt x="63500" y="1365039"/>
                </a:moveTo>
                <a:lnTo>
                  <a:pt x="63500" y="1365039"/>
                </a:lnTo>
                <a:cubicBezTo>
                  <a:pt x="28430" y="1365039"/>
                  <a:pt x="0" y="1336609"/>
                  <a:pt x="0" y="130153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01539"/>
                </a:lnTo>
                <a:cubicBezTo>
                  <a:pt x="50800" y="1318380"/>
                  <a:pt x="52138" y="1334532"/>
                  <a:pt x="54520" y="1346440"/>
                </a:cubicBezTo>
                <a:cubicBezTo>
                  <a:pt x="56901" y="1358349"/>
                  <a:pt x="60132" y="1365039"/>
                  <a:pt x="63500" y="1365039"/>
                </a:cubicBezTo>
                <a:close/>
              </a:path>
            </a:pathLst>
          </a:custGeom>
          <a:solidFill>
            <a:srgbClr val="A3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6940226" y="3101615"/>
            <a:ext cx="4402222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we stop short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6940226" y="3361841"/>
            <a:ext cx="4402222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Those six gains are all </a:t>
            </a: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below the registered bar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(+0.45 to +1.52 points, |z| ≤ 2.44), so we claim a controlled spread, not a coverage win, on QM9. And the loose setpoint τ_m = 1 loses on three of six. The bar is 2.99; we do not move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812720" y="4479429"/>
            <a:ext cx="10883529" cy="4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a wider batch need not mean more coverage:</a:t>
            </a:r>
            <a:r>
              <a:rPr b="0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band is fixed, so spreading the batch out fills it less; and heterogeneous gradients, the velocity clip and argmax decoding all sit between the algebra and the score.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812720" y="644407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20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2588716" y="6455482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analysis (this work); exchange ratios and spread from results/v3 cells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/>
          <p:nvPr/>
        </p:nvSpPr>
        <p:spPr>
          <a:xfrm>
            <a:off x="812720" y="482575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RECENT WORK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812720" y="721333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Position against recent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9" name="Google Shape;509;p23"/>
          <p:cNvGraphicFramePr/>
          <p:nvPr/>
        </p:nvGraphicFramePr>
        <p:xfrm>
          <a:off x="824313" y="1238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2111000"/>
                <a:gridCol w="949950"/>
                <a:gridCol w="949950"/>
                <a:gridCol w="1055500"/>
                <a:gridCol w="1688800"/>
                <a:gridCol w="844400"/>
                <a:gridCol w="1161050"/>
                <a:gridCol w="1794350"/>
              </a:tblGrid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Method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IB μ ↑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IB α ↑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IB gap ↑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Mol. stab. μ/α/gap ↑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DV μ ↑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s/sample ↓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Passes gen/guide ↓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Unguided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7.8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10.3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39.7 / 39.7 / 39.7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0.051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400 / 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DPS-style plug-in [12]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6.1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35.6 / 37.2 / 33.6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72.4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1,000 / 400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TMPD-inspired [22]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6.1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38.4 / 38.9 / 37.3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74.7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0.255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1,200 / 400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LGD-MC [23]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10.8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39.9 / 39.2 / 39.5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75.4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0.229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1,200 / 2,000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[15]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28.8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27.5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24.5 / 26.8 / 14.4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62.7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0.122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800 / 2,000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BDG, τ_m = 0.5 (ours)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35.1 / 36.4 / 30.0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71.2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1,000 / 400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BDG, τ_m = 1 (ours)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40.5 / 37.9 / 37.6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76.3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1,000 / 400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</a:tbl>
          </a:graphicData>
        </a:graphic>
      </p:graphicFrame>
      <p:sp>
        <p:nvSpPr>
          <p:cNvPr id="510" name="Google Shape;510;p23"/>
          <p:cNvSpPr/>
          <p:nvPr/>
        </p:nvSpPr>
        <p:spPr>
          <a:xfrm>
            <a:off x="812720" y="3940969"/>
            <a:ext cx="10883529" cy="6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Coverage</a:t>
            </a: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(IB, decoded, %), </a:t>
            </a:r>
            <a:r>
              <a:rPr b="1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quality</a:t>
            </a: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(molecule stability, %), </a:t>
            </a:r>
            <a:r>
              <a:rPr b="1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diversity</a:t>
            </a: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(DV = distinct valid molecules per attempt, μ cells) and </a:t>
            </a:r>
            <a:r>
              <a:rPr b="1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efficiency</a:t>
            </a: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(RTX A6000 seconds per sample; network passes per 2,000-molecule cell). Our FM, QM9, q50, w = 1, t ≥ 0.5, 3 seeds × 2,000. Every row run by us on the same frozen checkpoint, guide and evaluator.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815895" y="4675708"/>
            <a:ext cx="5183354" cy="1414121"/>
          </a:xfrm>
          <a:prstGeom prst="roundRect">
            <a:avLst>
              <a:gd fmla="val 606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996313" y="4792538"/>
            <a:ext cx="496719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these four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996313" y="5073414"/>
            <a:ext cx="4967193" cy="91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four are inference-time guidance rules from the last five years that steer a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generator with a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predictor — the same contract BDG works under. Running them on our checkpoint isolates the one thing we changed: the guidance rule.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6154769" y="4672533"/>
            <a:ext cx="5224484" cy="1420471"/>
          </a:xfrm>
          <a:prstGeom prst="roundRect">
            <a:avLst>
              <a:gd fmla="val 4470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6154769" y="4672533"/>
            <a:ext cx="5224484" cy="1420471"/>
          </a:xfrm>
          <a:custGeom>
            <a:rect b="b" l="l" r="r" t="t"/>
            <a:pathLst>
              <a:path extrusionOk="0" h="1420471" w="5224484">
                <a:moveTo>
                  <a:pt x="63500" y="1420471"/>
                </a:moveTo>
                <a:lnTo>
                  <a:pt x="63500" y="1420471"/>
                </a:lnTo>
                <a:cubicBezTo>
                  <a:pt x="28430" y="1420471"/>
                  <a:pt x="0" y="1392041"/>
                  <a:pt x="0" y="1356971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56971"/>
                </a:lnTo>
                <a:cubicBezTo>
                  <a:pt x="50800" y="1373812"/>
                  <a:pt x="52138" y="1389964"/>
                  <a:pt x="54520" y="1401872"/>
                </a:cubicBezTo>
                <a:cubicBezTo>
                  <a:pt x="56901" y="1413781"/>
                  <a:pt x="60132" y="1420471"/>
                  <a:pt x="63500" y="1420471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6378939" y="4786747"/>
            <a:ext cx="4967193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BDG is the cheap one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6378939" y="5067610"/>
            <a:ext cx="4967193" cy="93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costs </a:t>
            </a: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exactly plug-in's calls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1,000 generator and 400 guide passes, 0.119 s per sample — because the dispersion term rides the same backward pass. LGD-MC and TFG need </a:t>
            </a:r>
            <a:r>
              <a:rPr b="1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5×</a:t>
            </a: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guide passes; TMPD and LGD-MC take about twice the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21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2588716" y="6455482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et al. 2023 (DPS) · [22] Boys et al. 2024 (TMPD) · [23] Song et al. 2023 (LGD-MC) · [15] Ye et al. 2024 (TFG) · cells: results/v3/fm/v3/n2000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4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2 · EVIDENCE FOR MODALITY 1 · RECENT WORK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Fair study, and fair discussion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815895" y="1267954"/>
            <a:ext cx="5442033" cy="1610032"/>
          </a:xfrm>
          <a:prstGeom prst="roundRect">
            <a:avLst>
              <a:gd fmla="val 532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4"/>
          <p:cNvSpPr/>
          <p:nvPr/>
        </p:nvSpPr>
        <p:spPr>
          <a:xfrm>
            <a:off x="996313" y="1384784"/>
            <a:ext cx="5233632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Reproduced, not quoted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996313" y="1665647"/>
            <a:ext cx="5233632" cy="112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number in 2e is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 by us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one frozen generator, one guide, one evaluator, one target, 3 seeds × 2,000 per cell. No published score is pooled with ours. EquiFM's arms use TFG's predictor pair and a different band, so they are reported separately and never ranked against our FM's.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815895" y="2998539"/>
            <a:ext cx="5442033" cy="2368770"/>
          </a:xfrm>
          <a:prstGeom prst="roundRect">
            <a:avLst>
              <a:gd fmla="val 3619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996313" y="3115382"/>
            <a:ext cx="5233632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port caveats we disclose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996313" y="3396245"/>
            <a:ext cx="5233632" cy="4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a DPS-</a:t>
            </a:r>
            <a:r>
              <a:rPr b="0" i="1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style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Gaussian-energy field; the original differentiates the residual L2 norm [12].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996313" y="3885171"/>
            <a:ext cx="5233632" cy="4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TMPD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the local-linear scalar limit — a related-work comparison, not a faithful nonlinear port [22].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996313" y="4374083"/>
            <a:ext cx="5233632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TFG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runs at its published QM9 hyperparameters but through our deterministic ODE sampler, on features scaled unlike its released checkpoint's.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These rows must not be read against TFG's published table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[15].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6426128" y="1264779"/>
            <a:ext cx="4953125" cy="1377720"/>
          </a:xfrm>
          <a:prstGeom prst="roundRect">
            <a:avLst>
              <a:gd fmla="val 4609" name="adj"/>
            </a:avLst>
          </a:prstGeom>
          <a:solidFill>
            <a:srgbClr val="E6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6426128" y="1264779"/>
            <a:ext cx="4953125" cy="1377720"/>
          </a:xfrm>
          <a:custGeom>
            <a:rect b="b" l="l" r="r" t="t"/>
            <a:pathLst>
              <a:path extrusionOk="0" h="1377720" w="4953125">
                <a:moveTo>
                  <a:pt x="63500" y="1377720"/>
                </a:moveTo>
                <a:lnTo>
                  <a:pt x="63500" y="1377720"/>
                </a:lnTo>
                <a:cubicBezTo>
                  <a:pt x="28430" y="1377720"/>
                  <a:pt x="0" y="1349290"/>
                  <a:pt x="0" y="131422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14220"/>
                </a:lnTo>
                <a:cubicBezTo>
                  <a:pt x="50800" y="1331061"/>
                  <a:pt x="52138" y="1347213"/>
                  <a:pt x="54520" y="1359121"/>
                </a:cubicBezTo>
                <a:cubicBezTo>
                  <a:pt x="56901" y="1371030"/>
                  <a:pt x="60132" y="1377720"/>
                  <a:pt x="63500" y="1377720"/>
                </a:cubicBezTo>
                <a:close/>
              </a:path>
            </a:pathLst>
          </a:custGeom>
          <a:solidFill>
            <a:srgbClr val="2F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6637527" y="1378992"/>
            <a:ext cx="4714001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we are better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6637527" y="1651881"/>
            <a:ext cx="4714001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Cost, and quality at equal cost.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Plug-in's exact budget, a fifth of LGD-MC's and TFG's guide passes. At τ_m = 1 we hold the </a:t>
            </a: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molecule stability of any guided arm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(40.5 on μ, above unguided's 39.7) and the best DV (76.3).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6426128" y="2744031"/>
            <a:ext cx="4953125" cy="1377720"/>
          </a:xfrm>
          <a:prstGeom prst="roundRect">
            <a:avLst>
              <a:gd fmla="val 4609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6426128" y="2744031"/>
            <a:ext cx="4953125" cy="1377720"/>
          </a:xfrm>
          <a:custGeom>
            <a:rect b="b" l="l" r="r" t="t"/>
            <a:pathLst>
              <a:path extrusionOk="0" h="1377720" w="4953125">
                <a:moveTo>
                  <a:pt x="63500" y="1377720"/>
                </a:moveTo>
                <a:lnTo>
                  <a:pt x="63500" y="1377720"/>
                </a:lnTo>
                <a:cubicBezTo>
                  <a:pt x="28430" y="1377720"/>
                  <a:pt x="0" y="1349290"/>
                  <a:pt x="0" y="131422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14220"/>
                </a:lnTo>
                <a:cubicBezTo>
                  <a:pt x="50800" y="1331061"/>
                  <a:pt x="52138" y="1347213"/>
                  <a:pt x="54520" y="1359121"/>
                </a:cubicBezTo>
                <a:cubicBezTo>
                  <a:pt x="56901" y="1371030"/>
                  <a:pt x="60132" y="1377720"/>
                  <a:pt x="63500" y="1377720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6637527" y="2858244"/>
            <a:ext cx="4714001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we are competitive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6637527" y="3131133"/>
            <a:ext cx="4714001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Coverage.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τ_m = 0.5 is the best non-TFG arm on all three properties (11.2 / 7.0 / 14.2 vs plug-in's 10.6 / 6.1 / 12.6) — positive on all six tasks across both backbones, but </a:t>
            </a: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+0.45 to +1.52 points, below the 2.99 bar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We report it as unresolved.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6426128" y="4223283"/>
            <a:ext cx="4953125" cy="1365039"/>
          </a:xfrm>
          <a:prstGeom prst="roundRect">
            <a:avLst>
              <a:gd fmla="val 4652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4"/>
          <p:cNvSpPr/>
          <p:nvPr/>
        </p:nvSpPr>
        <p:spPr>
          <a:xfrm>
            <a:off x="6426128" y="4223283"/>
            <a:ext cx="4953125" cy="1365039"/>
          </a:xfrm>
          <a:custGeom>
            <a:rect b="b" l="l" r="r" t="t"/>
            <a:pathLst>
              <a:path extrusionOk="0" h="1365039" w="4953125">
                <a:moveTo>
                  <a:pt x="63500" y="1365039"/>
                </a:moveTo>
                <a:lnTo>
                  <a:pt x="63500" y="1365039"/>
                </a:lnTo>
                <a:cubicBezTo>
                  <a:pt x="28430" y="1365039"/>
                  <a:pt x="0" y="1336609"/>
                  <a:pt x="0" y="130153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01539"/>
                </a:lnTo>
                <a:cubicBezTo>
                  <a:pt x="50800" y="1318380"/>
                  <a:pt x="52138" y="1334532"/>
                  <a:pt x="54520" y="1346440"/>
                </a:cubicBezTo>
                <a:cubicBezTo>
                  <a:pt x="56901" y="1358349"/>
                  <a:pt x="60132" y="1365039"/>
                  <a:pt x="63500" y="1365039"/>
                </a:cubicBezTo>
                <a:close/>
              </a:path>
            </a:pathLst>
          </a:custGeom>
          <a:solidFill>
            <a:srgbClr val="A3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4"/>
          <p:cNvSpPr/>
          <p:nvPr/>
        </p:nvSpPr>
        <p:spPr>
          <a:xfrm>
            <a:off x="6637527" y="4337496"/>
            <a:ext cx="4714001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we are worse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6637527" y="4597710"/>
            <a:ext cx="4714001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TFG converges far harder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28.8 on μ against our 11.2 — and it is above plug-in on 5 of 6 tasks. It pays 8–27 stability points for that; we do not match its coverage. And τ_m = 1 falls </a:t>
            </a:r>
            <a:r>
              <a:rPr b="0" i="1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below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plug-in on 3 of 6.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2e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22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et al. 2023 (DPS) · [22] Boys et al. 2024 (TMPD) · [15] Ye et al. 2024 (TFG) · contrasts over our FM and EquiFM, 3 × 2,000 per cell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5"/>
          <p:cNvSpPr/>
          <p:nvPr/>
        </p:nvSpPr>
        <p:spPr>
          <a:xfrm>
            <a:off x="812720" y="482575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 · TEST TRANSFER AND CLOSE THE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812720" y="721333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transferred method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812720" y="1226641"/>
            <a:ext cx="10566533" cy="708469"/>
          </a:xfrm>
          <a:prstGeom prst="roundRect">
            <a:avLst>
              <a:gd fmla="val 8963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812720" y="1226641"/>
            <a:ext cx="10566533" cy="708469"/>
          </a:xfrm>
          <a:custGeom>
            <a:rect b="b" l="l" r="r" t="t"/>
            <a:pathLst>
              <a:path extrusionOk="0" h="708469" w="10566533">
                <a:moveTo>
                  <a:pt x="63500" y="708469"/>
                </a:moveTo>
                <a:lnTo>
                  <a:pt x="63500" y="708469"/>
                </a:lnTo>
                <a:cubicBezTo>
                  <a:pt x="28430" y="708469"/>
                  <a:pt x="0" y="680039"/>
                  <a:pt x="0" y="64496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644969"/>
                </a:lnTo>
                <a:cubicBezTo>
                  <a:pt x="50800" y="661810"/>
                  <a:pt x="52138" y="677962"/>
                  <a:pt x="54520" y="689870"/>
                </a:cubicBezTo>
                <a:cubicBezTo>
                  <a:pt x="56901" y="701779"/>
                  <a:pt x="60132" y="708469"/>
                  <a:pt x="63500" y="708469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1049570" y="1340855"/>
            <a:ext cx="10443382" cy="505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50"/>
              <a:buFont typeface="IBM Plex Sans"/>
              <a:buNone/>
            </a:pPr>
            <a:r>
              <a:rPr b="1" i="0" lang="en-US" sz="13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Unchanged: the rule itself.</a:t>
            </a:r>
            <a:r>
              <a:rPr b="0" i="0" lang="en-US" sz="13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nᵢ, F̄, V_b, e, τ = τ_m·s, η and w_eff carry over as written — one scalar per sample multiplying the plug-in step. That is what makes the transfer a test and not a reimplementation.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3" name="Google Shape;563;p25"/>
          <p:cNvGraphicFramePr/>
          <p:nvPr/>
        </p:nvGraphicFramePr>
        <p:xfrm>
          <a:off x="824313" y="2060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2005450"/>
                <a:gridCol w="3166475"/>
                <a:gridCol w="5383025"/>
              </a:tblGrid>
              <a:tr h="3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What changes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Modality 1 · QM9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Modality 2 · DeepFlyBrain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State space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ℝᴺˣ³ + a type simplex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(Δ³)⁵⁰⁰ — 500 coupled simplices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Generator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EGNN flow matching, 3.75M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dilated 1-D CNN, 128 × 10, ≈1.02M; Dirichlet(1,1,1,1) → one-hot linear path [4]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Guide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learned f_A (a network)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analytic soft GC or CpG — no predictor to train, none to exploit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Evaluator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learned f_B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exact GC or CpG count after argmax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Staying feasible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mask and re-centre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50"/>
                        <a:buFont typeface="IBM Plex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clamp at zero, renormalise each position</a:t>
                      </a:r>
                      <a:endParaRPr sz="12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5575" marB="55575" marR="55575" marL="555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4" name="Google Shape;564;p25"/>
          <p:cNvSpPr/>
          <p:nvPr/>
        </p:nvSpPr>
        <p:spPr>
          <a:xfrm>
            <a:off x="815895" y="4470003"/>
            <a:ext cx="3402671" cy="1602061"/>
          </a:xfrm>
          <a:prstGeom prst="roundRect">
            <a:avLst>
              <a:gd fmla="val 535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983542" y="4586846"/>
            <a:ext cx="3159397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the simplex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983542" y="4859734"/>
            <a:ext cx="3159397" cy="112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83,722 sequences, 1,500 epochs (492k updates), batch 256, Adam 2 × 10⁻³ cosine to zero, no EMA. Validation selected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epoch 1,450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(loss 0.0634); 539.7 min on an RTX A6000.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4377261" y="4470003"/>
            <a:ext cx="3402671" cy="1602061"/>
          </a:xfrm>
          <a:prstGeom prst="roundRect">
            <a:avLst>
              <a:gd fmla="val 535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4544908" y="4586846"/>
            <a:ext cx="3159397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4544908" y="4859734"/>
            <a:ext cx="3159397" cy="112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100-step Euler, clamp and renormalise after </a:t>
            </a:r>
            <a:r>
              <a:rPr b="0" i="1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step, argmax at the end. Guidance for t ≥ 0.5, batch 500, 3 seeds × 2,000 per cell, w ∈ {1, 4}, η = 4, τ_m ∈ {0.5, 1}.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7935452" y="4466828"/>
            <a:ext cx="3443801" cy="1365039"/>
          </a:xfrm>
          <a:prstGeom prst="roundRect">
            <a:avLst>
              <a:gd fmla="val 4652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7935452" y="4466828"/>
            <a:ext cx="3443801" cy="1365039"/>
          </a:xfrm>
          <a:custGeom>
            <a:rect b="b" l="l" r="r" t="t"/>
            <a:pathLst>
              <a:path extrusionOk="0" h="1365039" w="3443801">
                <a:moveTo>
                  <a:pt x="63500" y="1365039"/>
                </a:moveTo>
                <a:lnTo>
                  <a:pt x="63500" y="1365039"/>
                </a:lnTo>
                <a:cubicBezTo>
                  <a:pt x="28430" y="1365039"/>
                  <a:pt x="0" y="1336609"/>
                  <a:pt x="0" y="130153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301539"/>
                </a:lnTo>
                <a:cubicBezTo>
                  <a:pt x="50800" y="1318380"/>
                  <a:pt x="52138" y="1334532"/>
                  <a:pt x="54520" y="1346440"/>
                </a:cubicBezTo>
                <a:cubicBezTo>
                  <a:pt x="56901" y="1358349"/>
                  <a:pt x="60132" y="1365039"/>
                  <a:pt x="63500" y="1365039"/>
                </a:cubicBezTo>
                <a:close/>
              </a:path>
            </a:pathLst>
          </a:custGeom>
          <a:solidFill>
            <a:srgbClr val="A3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8146852" y="4581041"/>
            <a:ext cx="3159397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honest gap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8146852" y="4841267"/>
            <a:ext cx="3159397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guide reads an extrapolated endpoint that can leave the simplex; the evaluator counts </a:t>
            </a:r>
            <a:r>
              <a:rPr b="0" i="1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decoded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bases. Soft and decoded scores can therefore disagree (3d).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23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[4] Stark et al. 2024 (Dirichlet FM; DeepFlyBrain data) · GC and CpG defined in 1b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6"/>
          <p:cNvSpPr/>
          <p:nvPr/>
        </p:nvSpPr>
        <p:spPr>
          <a:xfrm>
            <a:off x="812720" y="457138"/>
            <a:ext cx="10883529" cy="233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 · TEST TRANSFER AND CLOSE THE STORY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812720" y="690637"/>
            <a:ext cx="10883529" cy="406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b="1" i="0" lang="en-US" sz="2748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Transfer results: DeepFlyBrain DNA</a:t>
            </a:r>
            <a:endParaRPr b="0" i="0" sz="2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812720" y="1161070"/>
            <a:ext cx="10883529" cy="494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29"/>
              <a:buFont typeface="IBM Plex Sans"/>
              <a:buNone/>
            </a:pPr>
            <a:r>
              <a:rPr b="0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DeepFlyBrain, 500 bp. </a:t>
            </a:r>
            <a:r>
              <a:rPr b="1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Coverage</a:t>
            </a:r>
            <a:r>
              <a:rPr b="0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the exact GC or CpG count inside the band; </a:t>
            </a:r>
            <a:r>
              <a:rPr b="1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fidelity</a:t>
            </a:r>
            <a:r>
              <a:rPr b="0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3-mer JSD against the training split; </a:t>
            </a:r>
            <a:r>
              <a:rPr b="1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efficiency</a:t>
            </a:r>
            <a:r>
              <a:rPr b="0" i="0" lang="en-US" sz="1329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seconds per sequence (definitions in 1b).</a:t>
            </a:r>
            <a:endParaRPr b="0" i="0" sz="13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6" name="Google Shape;586;p26"/>
          <p:cNvGraphicFramePr/>
          <p:nvPr/>
        </p:nvGraphicFramePr>
        <p:xfrm>
          <a:off x="824313" y="17301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2793950"/>
                <a:gridCol w="1345225"/>
                <a:gridCol w="1345225"/>
                <a:gridCol w="1345225"/>
                <a:gridCol w="1345225"/>
                <a:gridCol w="1241750"/>
                <a:gridCol w="1138275"/>
              </a:tblGrid>
              <a:tr h="3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Method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GC w=1 ↑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GC w=4 ↑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CpG w=1 ↑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CpG w=4 ↑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JSD w=4 ↓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b="1"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s/seq ↓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Unguided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14.0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14.0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50.2 ± 1.6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50.2 ± 1.6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4.53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0.021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DPS-style plug-in [12]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14.0 ± 0.9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14.1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50.5 ± 1.8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51.6 ± 1.4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4.63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0.096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TMPD / LGD-MC [22, 23]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14.0 ± 0.9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14.1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50.5 ± 1.8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51.6 ± 1.4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4.63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0.102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TFG-MC [15]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14.1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14.1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50.4 ± 1.7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51.1 ± 1.7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4.58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0.084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BDG, τ_m = 0.5 (ours)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14.5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16.4 ± 1.2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55.3 ± 0.8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68.5 ± 1.2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7.73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0.076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  <a:tr h="32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BDG, τ_m = 1 (ours)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14.0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14.1 ± 1.0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50.2 ± 1.6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50.3 ± 1.5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4.52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66"/>
                        <a:buFont typeface="IBM Plex Sans"/>
                        <a:buNone/>
                      </a:pPr>
                      <a:r>
                        <a:rPr lang="en-US" sz="1166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0.076</a:t>
                      </a:r>
                      <a:endParaRPr sz="1166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1850" marB="51850" marR="51850" marL="518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</a:tbl>
          </a:graphicData>
        </a:graphic>
      </p:graphicFrame>
      <p:sp>
        <p:nvSpPr>
          <p:cNvPr id="587" name="Google Shape;587;p26"/>
          <p:cNvSpPr/>
          <p:nvPr/>
        </p:nvSpPr>
        <p:spPr>
          <a:xfrm>
            <a:off x="812720" y="4033168"/>
            <a:ext cx="10883529" cy="427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74"/>
              <a:buFont typeface="IBM Plex Sans"/>
              <a:buNone/>
            </a:pPr>
            <a:r>
              <a:rPr b="0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Percent, mean ± seed s.d., 3 seeds × 2,000. JSD ×10⁻⁴ at w = 4 (CpG cells); unguided 4.53. BDG − plug-in: GC </a:t>
            </a:r>
            <a:r>
              <a:rPr b="1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+0.42</a:t>
            </a:r>
            <a:r>
              <a:rPr b="0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(w=1), </a:t>
            </a:r>
            <a:r>
              <a:rPr b="1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+2.32</a:t>
            </a:r>
            <a:r>
              <a:rPr b="0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(w=4); CpG </a:t>
            </a:r>
            <a:r>
              <a:rPr b="1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+4.82</a:t>
            </a:r>
            <a:r>
              <a:rPr b="0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(w=1), </a:t>
            </a:r>
            <a:r>
              <a:rPr b="1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+16.83</a:t>
            </a:r>
            <a:r>
              <a:rPr b="0" i="0" lang="en-US" sz="1174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 (w=4).</a:t>
            </a:r>
            <a:endParaRPr b="0" i="0" sz="1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815895" y="4526806"/>
            <a:ext cx="5189694" cy="1667637"/>
          </a:xfrm>
          <a:prstGeom prst="roundRect">
            <a:avLst>
              <a:gd fmla="val 514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6"/>
          <p:cNvSpPr/>
          <p:nvPr/>
        </p:nvSpPr>
        <p:spPr>
          <a:xfrm>
            <a:off x="983542" y="4630961"/>
            <a:ext cx="5000031" cy="23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56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37"/>
              <a:buFont typeface="IBM Plex Sans"/>
              <a:buNone/>
            </a:pPr>
            <a:r>
              <a:rPr b="1" i="0" lang="en-US" sz="1337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Fair study</a:t>
            </a:r>
            <a:endParaRPr b="0" i="0" sz="13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983542" y="4889996"/>
            <a:ext cx="5000031" cy="122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91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66"/>
              <a:buFont typeface="IBM Plex Sans"/>
              <a:buNone/>
            </a:pPr>
            <a:r>
              <a:rPr b="0" i="0" lang="en-US" sz="116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rows share the generator, length, target, band, decoding, reference data and sample count. Late in sampling the endpoint uncertainty nearly vanishes, so </a:t>
            </a:r>
            <a:r>
              <a:rPr b="1" i="0" lang="en-US" sz="116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plug-in, TMPD and LGD-MC collapse onto one effective comparator</a:t>
            </a:r>
            <a:r>
              <a:rPr b="0" i="0" lang="en-US" sz="116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(agreeing to 4×10⁻⁶) — we say so rather than present three. TFG-MC is a restricted port; Dirichlet FM, Fisher Flow and MOG-DFM are </a:t>
            </a:r>
            <a:r>
              <a:rPr b="1" i="0" lang="en-US" sz="116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</a:t>
            </a:r>
            <a:r>
              <a:rPr b="0" i="0" lang="en-US" sz="116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evaluated here [3, 4, 5].</a:t>
            </a:r>
            <a:endParaRPr b="0" i="0" sz="11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6148429" y="4523631"/>
            <a:ext cx="5230825" cy="1673987"/>
          </a:xfrm>
          <a:prstGeom prst="roundRect">
            <a:avLst>
              <a:gd fmla="val 3793" name="adj"/>
            </a:avLst>
          </a:prstGeom>
          <a:solidFill>
            <a:srgbClr val="F2EE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6"/>
          <p:cNvSpPr/>
          <p:nvPr/>
        </p:nvSpPr>
        <p:spPr>
          <a:xfrm>
            <a:off x="6148429" y="4523631"/>
            <a:ext cx="5230825" cy="1673987"/>
          </a:xfrm>
          <a:custGeom>
            <a:rect b="b" l="l" r="r" t="t"/>
            <a:pathLst>
              <a:path extrusionOk="0" h="1673987" w="5230825">
                <a:moveTo>
                  <a:pt x="63500" y="1673987"/>
                </a:moveTo>
                <a:lnTo>
                  <a:pt x="63500" y="1673987"/>
                </a:lnTo>
                <a:cubicBezTo>
                  <a:pt x="28430" y="1673987"/>
                  <a:pt x="0" y="1645557"/>
                  <a:pt x="0" y="1610487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610487"/>
                </a:lnTo>
                <a:cubicBezTo>
                  <a:pt x="50800" y="1627328"/>
                  <a:pt x="52138" y="1643480"/>
                  <a:pt x="54520" y="1655388"/>
                </a:cubicBezTo>
                <a:cubicBezTo>
                  <a:pt x="56901" y="1667297"/>
                  <a:pt x="60132" y="1673987"/>
                  <a:pt x="63500" y="1673987"/>
                </a:cubicBezTo>
                <a:close/>
              </a:path>
            </a:pathLst>
          </a:custGeom>
          <a:solidFill>
            <a:srgbClr val="5B3E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6"/>
          <p:cNvSpPr/>
          <p:nvPr/>
        </p:nvSpPr>
        <p:spPr>
          <a:xfrm>
            <a:off x="6359828" y="4625156"/>
            <a:ext cx="5000031" cy="239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7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350"/>
              <a:buFont typeface="IBM Plex Sans"/>
              <a:buNone/>
            </a:pPr>
            <a:r>
              <a:rPr b="1" i="0" lang="en-US" sz="13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Fair discussion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6359828" y="4890182"/>
            <a:ext cx="5000031" cy="10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contracting setpoint is the only arm that moves anything: </a:t>
            </a:r>
            <a:r>
              <a:rPr b="1" i="0" lang="en-US" sz="12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CpG +4.8 and +16.8 points</a:t>
            </a:r>
            <a:r>
              <a:rPr b="0" i="0" lang="en-US" sz="12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GC +2.3 at w = 4, where every comparator sits on top of unguided. It is also the only arm that pays — JSD 7.73 against 4.53, clipping 7.4–9.2% of steps. τ_m = 1 moves neither property: the dial behaving, not failing.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6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812720" y="644407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24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2588716" y="6455482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[3] Chen et al. 2025 (MOG-DFM) · [4] Stark et al. 2024 (Dirichlet FM) · [5] Davis et al. 2024 (Fisher Flow) · guidance ports [12] [15] [22] [23] · cells results/m2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"/>
          <p:cNvSpPr/>
          <p:nvPr/>
        </p:nvSpPr>
        <p:spPr>
          <a:xfrm>
            <a:off x="812720" y="482575"/>
            <a:ext cx="10883529" cy="232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 · TEST TRANSFER AND CLOSE THE STORY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812720" y="714635"/>
            <a:ext cx="10883529" cy="40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b="1" i="0" lang="en-US" sz="2748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Does the innovation transfer?</a:t>
            </a:r>
            <a:endParaRPr b="0" i="0" sz="27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812720" y="1194854"/>
            <a:ext cx="10566533" cy="626047"/>
          </a:xfrm>
          <a:prstGeom prst="roundRect">
            <a:avLst>
              <a:gd fmla="val 10143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812720" y="1194854"/>
            <a:ext cx="10566533" cy="626047"/>
          </a:xfrm>
          <a:custGeom>
            <a:rect b="b" l="l" r="r" t="t"/>
            <a:pathLst>
              <a:path extrusionOk="0" h="626047" w="10566533">
                <a:moveTo>
                  <a:pt x="63500" y="626047"/>
                </a:moveTo>
                <a:lnTo>
                  <a:pt x="63500" y="626047"/>
                </a:lnTo>
                <a:cubicBezTo>
                  <a:pt x="28430" y="626047"/>
                  <a:pt x="0" y="597617"/>
                  <a:pt x="0" y="562547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562547"/>
                </a:lnTo>
                <a:cubicBezTo>
                  <a:pt x="50800" y="579388"/>
                  <a:pt x="52138" y="595540"/>
                  <a:pt x="54520" y="607448"/>
                </a:cubicBezTo>
                <a:cubicBezTo>
                  <a:pt x="56901" y="619357"/>
                  <a:pt x="60132" y="626047"/>
                  <a:pt x="63500" y="626047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1049570" y="1283705"/>
            <a:ext cx="10443382" cy="47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76"/>
              <a:buFont typeface="IBM Plex Sans"/>
              <a:buNone/>
            </a:pPr>
            <a:r>
              <a:rPr b="1" i="0" lang="en-US" sz="1276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Criterion, fixed in advance.</a:t>
            </a:r>
            <a:r>
              <a:rPr b="0" i="0" lang="en-US" sz="1276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BDG transfers if its change from plug-in has the </a:t>
            </a:r>
            <a:r>
              <a:rPr b="1" i="0" lang="en-US" sz="1276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sign</a:t>
            </a:r>
            <a:r>
              <a:rPr b="0" i="0" lang="en-US" sz="1276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both modalities, in coverage and in how spread follows the setpoint, at a comparable fidelity cost. Each modality is judged against its own plug-in, never against the other.</a:t>
            </a:r>
            <a:endParaRPr b="0" i="0" sz="12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815895" y="1925613"/>
            <a:ext cx="5010086" cy="3652564"/>
          </a:xfrm>
          <a:prstGeom prst="roundRect">
            <a:avLst>
              <a:gd fmla="val 2347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ot chart, BDG minus plug-in on DNA in-band, percentage points, for GC and CpG at w = 1 and w = 4. Blue tau_m = 0.5: GC w1 +0.4, GC w4 +2.3, CpG w1 +4.8, CpG w4 +16.8, with error bars from three paired seeds. Orange tau_m = 1 sits on the zero line in every case." id="610" name="Google Shape;610;p27"/>
          <p:cNvPicPr preferRelativeResize="0"/>
          <p:nvPr/>
        </p:nvPicPr>
        <p:blipFill rotWithShape="1">
          <a:blip r:embed="rId3">
            <a:alphaModFix/>
          </a:blip>
          <a:srcRect b="0" l="-21" r="-21" t="0"/>
          <a:stretch/>
        </p:blipFill>
        <p:spPr>
          <a:xfrm>
            <a:off x="894689" y="2017080"/>
            <a:ext cx="4838639" cy="322579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7"/>
          <p:cNvSpPr/>
          <p:nvPr/>
        </p:nvSpPr>
        <p:spPr>
          <a:xfrm>
            <a:off x="945489" y="5280918"/>
            <a:ext cx="4893424" cy="231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η = 4, window t ≥ 0.5. Bars: s.d. of three paired seed differences.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2" name="Google Shape;612;p27"/>
          <p:cNvGraphicFramePr/>
          <p:nvPr/>
        </p:nvGraphicFramePr>
        <p:xfrm>
          <a:off x="5993094" y="19340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592475"/>
                <a:gridCol w="807925"/>
                <a:gridCol w="1508125"/>
                <a:gridCol w="1292675"/>
                <a:gridCol w="1184950"/>
              </a:tblGrid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Modality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Property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Coverage vs plug-in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Spread follows τ_m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Fidelity cost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QM9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μ, α, gap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+0.5 to +1.5, unresolved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yes, 6 of 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−0.5 to −3.6 stab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DNA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GC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+0.4 (w=1) · +2.3 (w=4)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JSD +0.4 to +1.4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  <a:tr h="5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DNA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CpG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+4.8 (w=1) · +16.8 (w=4)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JSD +0.7 to +3.2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BE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9"/>
                    </a:solidFill>
                  </a:tcPr>
                </a:tc>
              </a:tr>
            </a:tbl>
          </a:graphicData>
        </a:graphic>
      </p:graphicFrame>
      <p:sp>
        <p:nvSpPr>
          <p:cNvPr id="613" name="Google Shape;613;p27"/>
          <p:cNvSpPr/>
          <p:nvPr/>
        </p:nvSpPr>
        <p:spPr>
          <a:xfrm>
            <a:off x="5991026" y="4211972"/>
            <a:ext cx="5378702" cy="2109437"/>
          </a:xfrm>
          <a:prstGeom prst="roundRect">
            <a:avLst>
              <a:gd fmla="val 3763" name="adj"/>
            </a:avLst>
          </a:prstGeom>
          <a:solidFill>
            <a:srgbClr val="F2EEF9"/>
          </a:solidFill>
          <a:ln cap="flat" cmpd="sng" w="19050">
            <a:solidFill>
              <a:srgbClr val="5B3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6163917" y="4334049"/>
            <a:ext cx="5183908" cy="2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transfers — and the magnitude is property-dependent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6163917" y="4614925"/>
            <a:ext cx="5183908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sign is the same everywhere: tightening the setpoint raises coverage, loosening it does not, and the spread tracks τ_m in both state spaces. What changes is size. On QM9 the gain stays inside the noise; on DNA </a:t>
            </a: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CpG clears the bar at both strengths and GC at w = 4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6163917" y="5542037"/>
            <a:ext cx="5183908" cy="682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property that gains most is the </a:t>
            </a: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quadratic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one. GC is affine in the simplex coordinates, CpG is not — and a batch statistic has more to bite on when the property curves.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25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2588716" y="6455482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analysis (this work); contrasts from results/m2 and results/v3 cells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8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 · TEST TRANSFER AND CLOSE THE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Limitations and failure modes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812720" y="1252004"/>
            <a:ext cx="10883529" cy="265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50"/>
              <a:buFont typeface="IBM Plex Sans"/>
              <a:buNone/>
            </a:pPr>
            <a:r>
              <a:rPr b="0" i="0" lang="en-US" sz="13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Four failure modes we measured rather than guessed, each with the number that exposes it.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815895" y="1609415"/>
            <a:ext cx="5213424" cy="1545453"/>
          </a:xfrm>
          <a:prstGeom prst="roundRect">
            <a:avLst>
              <a:gd fmla="val 554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983542" y="1726245"/>
            <a:ext cx="502447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Equal strength is not equal force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983542" y="1986471"/>
            <a:ext cx="5024473" cy="107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BDG's winning DNA cells clip </a:t>
            </a:r>
            <a:r>
              <a:rPr b="1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7.4–9.2%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guided steps against plug-in's ≤ 0.21%, and apply about </a:t>
            </a:r>
            <a:r>
              <a:rPr b="1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10×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correction share. So at nominal w = 4 the two arms are not pushing equally hard: part of the CpG gain is force, not feedback. A matched-force rerun is the experiment that would separate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6162654" y="1609415"/>
            <a:ext cx="5213424" cy="1545453"/>
          </a:xfrm>
          <a:prstGeom prst="roundRect">
            <a:avLst>
              <a:gd fmla="val 554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>
            <a:off x="6330301" y="1726245"/>
            <a:ext cx="502447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What is guided is not what is scored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6330301" y="1986471"/>
            <a:ext cx="5024473" cy="86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guide reads a relaxed endpoint that can leave the simplex; the score decodes first. On GC at w = 1, opening the window to all t added </a:t>
            </a:r>
            <a:r>
              <a:rPr b="1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22.8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points before decoding against </a:t>
            </a:r>
            <a:r>
              <a:rPr b="1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4.2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in-window — a ~5.4× gap the decoded metric does not keep. We report decoded numbers only.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815895" y="3288196"/>
            <a:ext cx="5213424" cy="1335140"/>
          </a:xfrm>
          <a:prstGeom prst="roundRect">
            <a:avLst>
              <a:gd fmla="val 642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"/>
          <p:cNvSpPr/>
          <p:nvPr/>
        </p:nvSpPr>
        <p:spPr>
          <a:xfrm>
            <a:off x="983542" y="3405039"/>
            <a:ext cx="502447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The evaluator bounds the molecular claim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983542" y="3665252"/>
            <a:ext cx="5024473" cy="86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QM9 coverage inherits f_B's error, and guidance is an optimiser that can find its blind spots. Disjoint training halves reduce that risk without removing it. DNA sidesteps it entirely — exact counts — which is part of why the transfer is the cleaner evidence.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6162654" y="3288196"/>
            <a:ext cx="5213424" cy="1335140"/>
          </a:xfrm>
          <a:prstGeom prst="roundRect">
            <a:avLst>
              <a:gd fmla="val 642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8"/>
          <p:cNvSpPr/>
          <p:nvPr/>
        </p:nvSpPr>
        <p:spPr>
          <a:xfrm>
            <a:off x="6330301" y="3405039"/>
            <a:ext cx="502447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4 · The batch is the estimator, and the test ignores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6330301" y="3665252"/>
            <a:ext cx="5024473" cy="86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F̄ and V_b couple 500 samples, so the honest unit of uncertainty is the batch, not the molecule; our registered z is unpaired and assumes independence. EquiFM reruns move coverage by up to 0.7 points — the same size as its BDG-vs-plug differences.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812720" y="4740734"/>
            <a:ext cx="10566533" cy="641263"/>
          </a:xfrm>
          <a:prstGeom prst="roundRect">
            <a:avLst>
              <a:gd fmla="val 9902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8"/>
          <p:cNvSpPr/>
          <p:nvPr/>
        </p:nvSpPr>
        <p:spPr>
          <a:xfrm>
            <a:off x="812720" y="4740734"/>
            <a:ext cx="10566533" cy="641263"/>
          </a:xfrm>
          <a:custGeom>
            <a:rect b="b" l="l" r="r" t="t"/>
            <a:pathLst>
              <a:path extrusionOk="0" h="641263" w="10566533">
                <a:moveTo>
                  <a:pt x="63500" y="641263"/>
                </a:moveTo>
                <a:lnTo>
                  <a:pt x="63500" y="641263"/>
                </a:lnTo>
                <a:cubicBezTo>
                  <a:pt x="28430" y="641263"/>
                  <a:pt x="0" y="612833"/>
                  <a:pt x="0" y="577763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577763"/>
                </a:lnTo>
                <a:cubicBezTo>
                  <a:pt x="50800" y="594604"/>
                  <a:pt x="52138" y="610756"/>
                  <a:pt x="54520" y="622664"/>
                </a:cubicBezTo>
                <a:cubicBezTo>
                  <a:pt x="56901" y="634573"/>
                  <a:pt x="60132" y="641263"/>
                  <a:pt x="63500" y="641263"/>
                </a:cubicBezTo>
                <a:close/>
              </a:path>
            </a:pathLst>
          </a:custGeom>
          <a:solidFill>
            <a:srgbClr val="A3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8"/>
          <p:cNvSpPr/>
          <p:nvPr/>
        </p:nvSpPr>
        <p:spPr>
          <a:xfrm>
            <a:off x="1049570" y="4842259"/>
            <a:ext cx="10443382" cy="4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things we did not run, and will not claim around: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 open-loop replay of w_eff(t), which is what would show the </a:t>
            </a:r>
            <a:r>
              <a:rPr b="0" i="1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feedback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matters rather than the schedule it produces; and a joint in-band-</a:t>
            </a:r>
            <a:r>
              <a:rPr b="0" i="1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-stable yield, which needs sample-level records the aggregates do not carry.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26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analysis (this work); diagnostics in results/v3 and results/m2 (M2_WINDOW_DOMINATES, M2_SHARE)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9"/>
          <p:cNvSpPr/>
          <p:nvPr/>
        </p:nvSpPr>
        <p:spPr>
          <a:xfrm>
            <a:off x="812720" y="507938"/>
            <a:ext cx="10883529" cy="237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 3 · TEST TRANSFER AND CLOSE THE STORY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812720" y="745778"/>
            <a:ext cx="10883529" cy="414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91"/>
              <a:buFont typeface="Source Serif 4"/>
              <a:buNone/>
            </a:pPr>
            <a:r>
              <a:rPr b="1" i="0" lang="en-US" sz="2791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Conclusion and future directions</a:t>
            </a:r>
            <a:endParaRPr b="0" i="0" sz="27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812720" y="1262236"/>
            <a:ext cx="2984410" cy="2977164"/>
          </a:xfrm>
          <a:prstGeom prst="roundRect">
            <a:avLst>
              <a:gd fmla="val 2986" name="adj"/>
            </a:avLst>
          </a:prstGeom>
          <a:solidFill>
            <a:srgbClr val="16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9"/>
          <p:cNvSpPr/>
          <p:nvPr/>
        </p:nvSpPr>
        <p:spPr>
          <a:xfrm>
            <a:off x="1015877" y="1487215"/>
            <a:ext cx="2655439" cy="644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we set dispersion separately from centring, and does it buy coverage?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1015877" y="2182378"/>
            <a:ext cx="2655439" cy="752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F7F6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Yes to the dial.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F7F6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Yes on CpG.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1015877" y="2985492"/>
            <a:ext cx="2655439" cy="10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setpoint controls spread in both state spaces. On DNA CpG that converts into coverage well past the bar; on QM9 it points the right way but stays inside the noise.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3959000" y="1271761"/>
            <a:ext cx="7410728" cy="2958114"/>
          </a:xfrm>
          <a:prstGeom prst="roundRect">
            <a:avLst>
              <a:gd fmla="val 2683" name="adj"/>
            </a:avLst>
          </a:prstGeom>
          <a:solidFill>
            <a:srgbClr val="F2EEF9"/>
          </a:solidFill>
          <a:ln cap="flat" cmpd="sng" w="19050">
            <a:solidFill>
              <a:srgbClr val="5B3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4157342" y="1419287"/>
            <a:ext cx="7224464" cy="2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4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450"/>
              <a:buFont typeface="IBM Plex Sans"/>
              <a:buNone/>
            </a:pPr>
            <a:r>
              <a:rPr b="1" i="0" lang="en-US" sz="1450" u="none" cap="none" strike="noStrike">
                <a:solidFill>
                  <a:srgbClr val="5B3E9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evidence supports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157342" y="1711747"/>
            <a:ext cx="7224464" cy="679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41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46"/>
              <a:buFont typeface="IBM Plex Sans"/>
              <a:buNone/>
            </a:pPr>
            <a:r>
              <a:rPr b="1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knob that did not exist.</a:t>
            </a:r>
            <a:r>
              <a:rPr b="0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τ_m moves decoded spread from 0.67× to 1.25× unguided, monotonically, on two backbones — and </a:t>
            </a:r>
            <a:r>
              <a:rPr b="1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tested plug-in strength reaches the wide side at all</a:t>
            </a:r>
            <a:r>
              <a:rPr b="0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. Inside a fixed w, coverage tracks the measured gain with Spearman 0.92–0.99.</a:t>
            </a:r>
            <a:endParaRPr b="0" i="0" sz="12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157342" y="2429284"/>
            <a:ext cx="7224464" cy="679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41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46"/>
              <a:buFont typeface="IBM Plex Sans"/>
              <a:buNone/>
            </a:pPr>
            <a:r>
              <a:rPr b="1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is the better buy per point of chemistry.</a:t>
            </a:r>
            <a:r>
              <a:rPr b="0" i="0" lang="en-US" sz="1246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0.52–0.81 coverage points per stability point against strength's 0.38–0.53; at τ_m = 1 we hold the highest molecule stability and diversity of any guided arm.</a:t>
            </a:r>
            <a:endParaRPr b="0" i="0" sz="12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157342" y="3146809"/>
            <a:ext cx="7224464" cy="46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transfers, at plug-in's price.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same scalar rule, the same code, the same network calls — and on CpG, +4.8 and +16.8 points over plug-in.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4157342" y="3646326"/>
            <a:ext cx="7224464" cy="46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Where we yield:</a:t>
            </a:r>
            <a:r>
              <a:rPr b="0" i="0" lang="en-US" sz="125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TFG converges harder than we do on QM9 (28.8 vs 11.2 on μ) — but it spends 8–27 stability points to get there, and we do not.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815895" y="4369557"/>
            <a:ext cx="5200744" cy="1748701"/>
          </a:xfrm>
          <a:prstGeom prst="roundRect">
            <a:avLst>
              <a:gd fmla="val 490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983542" y="4486399"/>
            <a:ext cx="5011413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experiment that would settle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983542" y="4746613"/>
            <a:ext cx="5011413" cy="107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Replay BDG's own w_eff(t) open-loop on fresh noise. If a fixed schedule reproduces the effect, the feedback is decoration and we say so; if it does not, the loop is the mechanism. Paired with a matched-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force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comparison, that also removes the clipping confound behind the CpG gain (3d).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6175334" y="4369557"/>
            <a:ext cx="5200744" cy="1748701"/>
          </a:xfrm>
          <a:prstGeom prst="roundRect">
            <a:avLst>
              <a:gd fmla="val 490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9"/>
          <p:cNvSpPr/>
          <p:nvPr/>
        </p:nvSpPr>
        <p:spPr>
          <a:xfrm>
            <a:off x="6342981" y="4486399"/>
            <a:ext cx="5011413" cy="246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Then, in order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6342981" y="4745521"/>
            <a:ext cx="5011413" cy="12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</a:t>
            </a:r>
            <a:r>
              <a:rPr b="0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Batch-aware paired intervals and joint in-band-and-stable yield, from sample-level records.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</a:t>
            </a:r>
            <a:r>
              <a:rPr b="0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CpG-side ablation on DeepFlyBrain: the gain is largest there, and we do not yet know how much of it is the curvature.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</a:t>
            </a:r>
            <a:r>
              <a:rPr b="0" i="0" lang="en-US" sz="1196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External simplex generators (Dirichlet FM, Fisher Flow, MOG-DFM) as independent backbones.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3e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27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conclusions (this work)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0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·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Bibliography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812720" y="1290141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R. Ramakrishnan, P. Dral, M. Rupp, O. von Lilienfeld. Quantum chemistry structures and properties of 134 kilo molecules.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Scientific Data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2014. (QM9)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812720" y="1551719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E. Hoogeboom, V. Satorras, C. Vignac, M. Welling. Equivariant Diffusion for Molecule Generation in 3D.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ICML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2022. (EDM; our stability and validity conventions)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/>
          <p:nvPr/>
        </p:nvSpPr>
        <p:spPr>
          <a:xfrm>
            <a:off x="812720" y="2011375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[3] T. Chen, Y. Zhang, S. Tang, P. Chatterjee. Multi-Objective-Guided Discrete Flow Matching for Controllable Biological Sequence Design. arXiv:2505.07086, 2025. (MOG-DFM)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812720" y="2471043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[4] H. Stark, B. Jing, C. Wang, G. Corso, B. Berger, R. Barzilay, T. Jaakkola. Dirichlet Flow Matching with Applications to DNA Sequence Design.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ICML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2024. (Dirichlet FM; DeepFlyBrain data)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812720" y="2930711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 O. Davis, S. Kessler, M. Petrache, I. Ceylan, M. Bronstein, A. Bose. Fisher Flow Matching for Generative Modeling over Discrete Data.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NeurIPS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812720" y="3192289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[6] Y. Lipman, R. Chen, H. Ben-Hamu, M. Nickel, M. Le. Flow Matching for Generative Modeling. arXiv:2210.02747, 2022.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812720" y="3453867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[7] X. Liu, C. Gong, Q. Liu. Flow Straight and Fast: Learning to Generate and Transfer Data with Rectified Flow. arXiv:2209.03003, 2022.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/>
          <p:nvPr/>
        </p:nvSpPr>
        <p:spPr>
          <a:xfrm>
            <a:off x="812720" y="3715432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[8] M. Albergo, N. Boffi, E. Vanden-Eijnden. Stochastic Interpolants: A Unifying Framework for Flows and Diffusions.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JMLR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812720" y="3977010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[9] V. Satorras, E. Hoogeboom, M. Welling. E(n) Equivariant Graph Neural Networks.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ICML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2021. (our backbone)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12720" y="4238588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[10] Y. Song, J. Sohl-Dickstein, D. Kingma, A. Kumar, S. Ermon, B. Poole. Score-Based Generative Modeling through Stochastic Differential Equations.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812720" y="4698256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[11] T. Karras, M. Aittala, T. Aila, S. Laine. Elucidating the Design Space of Diffusion-Based Generative Models.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NeurIPS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812720" y="4959834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H. Chung, J. Kim, M. McCann, M. Klasky, J. Ye. Diffusion Posterior Sampling for General Noisy Inverse Problems.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2023. (DPS; our plug-in arm's ancestor)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812720" y="5419489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[13] Velocity-relative trust region: adopted prior practice, described on slide 2b; not claimed as ours.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812720" y="6444072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28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1"/>
          <p:cNvSpPr/>
          <p:nvPr/>
        </p:nvSpPr>
        <p:spPr>
          <a:xfrm>
            <a:off x="812720" y="507938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·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Bibliography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812720" y="1290141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[14] J. Ho, T. Salimans. Classifier-Free Diffusion Guidance. arXiv:2207.12598, 2022.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812720" y="1551719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[15] H. Ye, H. Lin, J. Han, M. Xu, S. Liu, Y. Liang, J. Ma, J. Zou, S. Ermon. TFG: Unified Training-Free Guidance for Diffusion Models.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NeurIPS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812720" y="1813297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[16] H. Wang, Y. Liu, J. Chi, F. Liu, R. Xue, Y. Duan. CFG-Ctrl: Control-Based Classifier-Free Diffusion Guidance. arXiv:2603.03281, 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812720" y="2074875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[17] F. Koulischer, F. Handke, J. Deleu, T. Demeester, L. Ambrogioni. Feedback Guidance of Diffusion Models.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NeurIPS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2025. arXiv:2506.06085.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812720" y="2336453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[18] E. Lempereur, N. Cuvelle-Magar, F. Coeurdoux, S. Mallat, E. Vanden-Eijnden. MGD: Moment Guided Diffusion for Maximum Entropy Generation. arXiv:2602.17211, 2026. (closest prior art)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812720" y="2796108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[19] I. Azangulov, L. Zhang, K. Ashouritaklimi. Variance-Tilted Diffusion Models for Diverse Sampling. arXiv:2606.22239, 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812720" y="3057686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[20] G. Corso, Y. Xu, V. De Bortoli, R. Barzilay, T. Jaakkola. Particle Guidance: Non-I.I.D. Diverse Sampling with Diffusion Models.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812720" y="3319264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[21] E. Ventura, B. Achilli, L. Ambrogioni, C. Lucibello. Negative guidance reduces means and expands variances in diffusion models. arXiv:2602.00716, 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812720" y="3778932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[22] B. Boys, M. Girolami, J. Pidstrigach, S. Reich, A. Mosca, O. D. Akyildiz. Tweedie Moment Projected Diffusions for Inverse Problems.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TMLR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2024. (TMPD)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812720" y="4238588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[23] J. Song, Q. Zhang, H. Yin, M. Mardani, M.-Y. Liu, J. Kautz, Y. Chen, A. Vahdat. Loss-Guided Diffusion Models for Plug-and-Play Controllable Generation.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ICML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2023. (LGD-MC)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812720" y="4698256"/>
            <a:ext cx="10883529" cy="42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[24] Y. Song, J. Gong, M. Xu, Z. Cao, Y. Lan, S. Ermon, H. Zhou, W.-Y. Ma. Equivariant Flow Matching with Hybrid Probability Transport for 3D Molecule Generation.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NeurIPS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2023. (EquiFM; appendix)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812720" y="5157912"/>
            <a:ext cx="10883529" cy="223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[25] F. Bao, M. Zhao, Z. Hao, P. Li, C. Li, J. Zhu. Equivariant Energy-Guided SDE for Inverse Molecular Design. </a:t>
            </a:r>
            <a:r>
              <a:rPr b="0" i="1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ICLR</a:t>
            </a: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2023. (EEGSDE; appendix)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29 / 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C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2"/>
          <p:cNvSpPr/>
          <p:nvPr/>
        </p:nvSpPr>
        <p:spPr>
          <a:xfrm>
            <a:off x="812720" y="812713"/>
            <a:ext cx="1015968" cy="50721"/>
          </a:xfrm>
          <a:prstGeom prst="roundRect">
            <a:avLst>
              <a:gd fmla="val 5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/>
          <p:nvPr/>
        </p:nvSpPr>
        <p:spPr>
          <a:xfrm>
            <a:off x="812720" y="1015789"/>
            <a:ext cx="10883529" cy="25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· NOT PART OF THE 15-MINUTE TALK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2"/>
          <p:cNvSpPr/>
          <p:nvPr/>
        </p:nvSpPr>
        <p:spPr>
          <a:xfrm>
            <a:off x="812720" y="1399282"/>
            <a:ext cx="10883529" cy="574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4000"/>
              <a:buFont typeface="Source Serif 4"/>
              <a:buNone/>
            </a:pPr>
            <a:r>
              <a:rPr b="1" i="0" lang="en-US" sz="4000" u="none" cap="none" strike="noStrike">
                <a:solidFill>
                  <a:srgbClr val="F7F6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Q&amp;A backup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812720" y="2100225"/>
            <a:ext cx="10883529" cy="29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Six topics, one or two slides each.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815895" y="3266194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996313" y="3421162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2"/>
          <p:cNvSpPr/>
          <p:nvPr/>
        </p:nvSpPr>
        <p:spPr>
          <a:xfrm>
            <a:off x="996313" y="3685270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EquiFM, the borrowed generator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2"/>
          <p:cNvSpPr/>
          <p:nvPr/>
        </p:nvSpPr>
        <p:spPr>
          <a:xfrm>
            <a:off x="996313" y="3974021"/>
            <a:ext cx="3145030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Architecture, path, and how our arms run on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2"/>
          <p:cNvSpPr/>
          <p:nvPr/>
        </p:nvSpPr>
        <p:spPr>
          <a:xfrm>
            <a:off x="4388854" y="3266194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2"/>
          <p:cNvSpPr/>
          <p:nvPr/>
        </p:nvSpPr>
        <p:spPr>
          <a:xfrm>
            <a:off x="4569273" y="3421162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2"/>
          <p:cNvSpPr/>
          <p:nvPr/>
        </p:nvSpPr>
        <p:spPr>
          <a:xfrm>
            <a:off x="4569273" y="3685270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Property predictors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2"/>
          <p:cNvSpPr/>
          <p:nvPr/>
        </p:nvSpPr>
        <p:spPr>
          <a:xfrm>
            <a:off x="4569273" y="3974021"/>
            <a:ext cx="3145030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Ours vs TFG's: architecture, training,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/>
          <p:nvPr/>
        </p:nvSpPr>
        <p:spPr>
          <a:xfrm>
            <a:off x="7961814" y="3266194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2"/>
          <p:cNvSpPr/>
          <p:nvPr/>
        </p:nvSpPr>
        <p:spPr>
          <a:xfrm>
            <a:off x="8142232" y="3421162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2"/>
          <p:cNvSpPr/>
          <p:nvPr/>
        </p:nvSpPr>
        <p:spPr>
          <a:xfrm>
            <a:off x="8142232" y="3685270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2"/>
          <p:cNvSpPr/>
          <p:nvPr/>
        </p:nvSpPr>
        <p:spPr>
          <a:xfrm>
            <a:off x="8142232" y="3974021"/>
            <a:ext cx="3145030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Who trains on which half, and why halves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2"/>
          <p:cNvSpPr/>
          <p:nvPr/>
        </p:nvSpPr>
        <p:spPr>
          <a:xfrm>
            <a:off x="815895" y="4733491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2"/>
          <p:cNvSpPr/>
          <p:nvPr/>
        </p:nvSpPr>
        <p:spPr>
          <a:xfrm>
            <a:off x="996313" y="4888458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996313" y="5152566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guidance arms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2"/>
          <p:cNvSpPr/>
          <p:nvPr/>
        </p:nvSpPr>
        <p:spPr>
          <a:xfrm>
            <a:off x="996313" y="5441317"/>
            <a:ext cx="3145030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arm's correction, what it changes, what it costs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4388854" y="4733491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4569273" y="4888458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4569273" y="5152566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2"/>
          <p:cNvSpPr/>
          <p:nvPr/>
        </p:nvSpPr>
        <p:spPr>
          <a:xfrm>
            <a:off x="4569273" y="5441317"/>
            <a:ext cx="3145030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BDG-guided Euler step, line by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7961814" y="4733491"/>
            <a:ext cx="3414264" cy="1308602"/>
          </a:xfrm>
          <a:prstGeom prst="roundRect">
            <a:avLst>
              <a:gd fmla="val 6551" name="adj"/>
            </a:avLst>
          </a:prstGeom>
          <a:solidFill>
            <a:srgbClr val="1F2B3A"/>
          </a:solidFill>
          <a:ln cap="flat" cmpd="sng" w="9525">
            <a:solidFill>
              <a:srgbClr val="334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/>
          <p:nvPr/>
        </p:nvSpPr>
        <p:spPr>
          <a:xfrm>
            <a:off x="8142232" y="4888458"/>
            <a:ext cx="3145030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8FB4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8142232" y="5152566"/>
            <a:ext cx="314503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Simplex FM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/>
          <p:nvPr/>
        </p:nvSpPr>
        <p:spPr>
          <a:xfrm>
            <a:off x="8142232" y="5441317"/>
            <a:ext cx="3145030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C3CDD9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Modality 2 generator, layer by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3"/>
          <p:cNvSpPr/>
          <p:nvPr/>
        </p:nvSpPr>
        <p:spPr>
          <a:xfrm>
            <a:off x="812720" y="507938"/>
            <a:ext cx="10883529" cy="236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b="1" i="0" lang="en-US" sz="1196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A1 · EQUIFM 1 OF 2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812720" y="744699"/>
            <a:ext cx="10883529" cy="412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91"/>
              <a:buFont typeface="Source Serif 4"/>
              <a:buNone/>
            </a:pPr>
            <a:r>
              <a:rPr b="1" i="0" lang="en-US" sz="2791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EquiFM: the borrowed generator</a:t>
            </a:r>
            <a:endParaRPr b="0" i="0" sz="27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6" name="Google Shape;756;p33"/>
          <p:cNvGraphicFramePr/>
          <p:nvPr/>
        </p:nvGraphicFramePr>
        <p:xfrm>
          <a:off x="824313" y="1283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536425"/>
                <a:gridCol w="3585000"/>
              </a:tblGrid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Released checkpoint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Paper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Song et al., NeurIPS 2023 [24]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Backbone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EDM-style equivariant GNN dynamics [2, 9], 256 × 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Parameters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5,339,920 (EMA)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State per atom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 coordinates (Å) + 5 one-hot ÷ 4 + charge ÷ 10; explicit H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Training data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full 100K QM9 partition, unconditional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7" name="Google Shape;757;p33"/>
          <p:cNvSpPr/>
          <p:nvPr/>
        </p:nvSpPr>
        <p:spPr>
          <a:xfrm>
            <a:off x="6126696" y="1275097"/>
            <a:ext cx="5249382" cy="2025132"/>
          </a:xfrm>
          <a:prstGeom prst="roundRect">
            <a:avLst>
              <a:gd fmla="val 4233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/>
          <p:nvPr/>
        </p:nvSpPr>
        <p:spPr>
          <a:xfrm>
            <a:off x="6307114" y="1404702"/>
            <a:ext cx="5035202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 probability path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6307114" y="1706228"/>
            <a:ext cx="5035202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Native time τ: 1 = noise, 0 =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6307114" y="1992623"/>
            <a:ext cx="5035202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Coordinates: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almost linear — but the noise is rotated (Kabsch) and permuted (Hungarian) onto the molecule first, an equivariant optimal-transport coupling, plus an angle penalty.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3"/>
          <p:cNvSpPr/>
          <p:nvPr/>
        </p:nvSpPr>
        <p:spPr>
          <a:xfrm>
            <a:off x="6307114" y="2724832"/>
            <a:ext cx="5035202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Types and charge: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variance-preserving, β from 0.1 to 20.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Sampling: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Euler, τ = 1 → 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815895" y="4243673"/>
            <a:ext cx="10560183" cy="547962"/>
          </a:xfrm>
          <a:prstGeom prst="roundRect">
            <a:avLst>
              <a:gd fmla="val 15644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_τ = (1 − τ) x_0 + s_x(τ) z, s_x = ε + (1 − ε)τ; h_τ = a h_0 + sqrt(1 − a²) z′, a = exp(−T(τ)/2)" id="763" name="Google Shape;763;p33"/>
          <p:cNvPicPr preferRelativeResize="0"/>
          <p:nvPr/>
        </p:nvPicPr>
        <p:blipFill rotWithShape="1">
          <a:blip r:embed="rId3">
            <a:alphaModFix/>
          </a:blip>
          <a:srcRect b="0" l="-930" r="-930" t="0"/>
          <a:stretch/>
        </p:blipFill>
        <p:spPr>
          <a:xfrm>
            <a:off x="996313" y="4335128"/>
            <a:ext cx="8889919" cy="365013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3"/>
          <p:cNvSpPr/>
          <p:nvPr/>
        </p:nvSpPr>
        <p:spPr>
          <a:xfrm>
            <a:off x="815895" y="4937633"/>
            <a:ext cx="5200744" cy="1180621"/>
          </a:xfrm>
          <a:prstGeom prst="roundRect">
            <a:avLst>
              <a:gd fmla="val 726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996313" y="5054464"/>
            <a:ext cx="4985105" cy="26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Unguided, same protocol as 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996313" y="5340511"/>
            <a:ext cx="4985105" cy="68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1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88"/>
              <a:buFont typeface="IBM Plex Sans"/>
              <a:buNone/>
            </a:pPr>
            <a:r>
              <a:rPr b="0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3 seeds × 2,000, 100 Euler steps: atom </a:t>
            </a:r>
            <a:r>
              <a:rPr b="1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98.6%</a:t>
            </a:r>
            <a:r>
              <a:rPr b="0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molecule </a:t>
            </a:r>
            <a:r>
              <a:rPr b="1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86.2 ± 0.3%</a:t>
            </a:r>
            <a:r>
              <a:rPr b="0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validity </a:t>
            </a:r>
            <a:r>
              <a:rPr b="1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93.8 ± 0.6%</a:t>
            </a:r>
            <a:r>
              <a:rPr b="0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uniqueness 99.7%; 0.086 s per sample on an RTX A6000.</a:t>
            </a:r>
            <a:endParaRPr b="0" i="0" sz="12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6175334" y="4937633"/>
            <a:ext cx="5200744" cy="1180621"/>
          </a:xfrm>
          <a:prstGeom prst="roundRect">
            <a:avLst>
              <a:gd fmla="val 726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3"/>
          <p:cNvSpPr/>
          <p:nvPr/>
        </p:nvSpPr>
        <p:spPr>
          <a:xfrm>
            <a:off x="6355752" y="5054464"/>
            <a:ext cx="4985105" cy="26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its chemistry beats 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3"/>
          <p:cNvSpPr/>
          <p:nvPr/>
        </p:nvSpPr>
        <p:spPr>
          <a:xfrm>
            <a:off x="6355752" y="5340511"/>
            <a:ext cx="4985105" cy="68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1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88"/>
              <a:buFont typeface="IBM Plex Sans"/>
              <a:buNone/>
            </a:pPr>
            <a:r>
              <a:rPr b="0" i="0" lang="en-US" sz="1288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Four candidates, none isolated by us: ~2× the training data, 5.34M vs 3.75M parameters, one-hot scaled by ¼ (our leading suspect in 2a), and the aligned coordinate path.</a:t>
            </a:r>
            <a:endParaRPr b="0" i="0" sz="12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3"/>
          <p:cNvSpPr/>
          <p:nvPr/>
        </p:nvSpPr>
        <p:spPr>
          <a:xfrm>
            <a:off x="10261571" y="330138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3"/>
          <p:cNvSpPr/>
          <p:nvPr/>
        </p:nvSpPr>
        <p:spPr>
          <a:xfrm>
            <a:off x="10312371" y="380938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812720" y="6444047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3"/>
          <p:cNvSpPr/>
          <p:nvPr/>
        </p:nvSpPr>
        <p:spPr>
          <a:xfrm>
            <a:off x="2588716" y="6455482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[24] Song et al. 2023 (EquiFM) · [2] Hoogeboom et al. 2022 · [9] Satorras et al. 2021 · checkpoint SHA-256 47b40ae6…, audited in this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4"/>
          <p:cNvSpPr/>
          <p:nvPr/>
        </p:nvSpPr>
        <p:spPr>
          <a:xfrm>
            <a:off x="812720" y="507926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A1 · EQUIFM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4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Running our guidance arms on EquiFM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4"/>
          <p:cNvSpPr/>
          <p:nvPr/>
        </p:nvSpPr>
        <p:spPr>
          <a:xfrm>
            <a:off x="812720" y="1277441"/>
            <a:ext cx="10883529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is in the study: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second, external flow-matching generator asks whether the comparison survives on a model we did not train. Backend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equifm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all seven arms [24].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4"/>
          <p:cNvSpPr/>
          <p:nvPr/>
        </p:nvSpPr>
        <p:spPr>
          <a:xfrm>
            <a:off x="815895" y="1866081"/>
            <a:ext cx="10560183" cy="2027215"/>
          </a:xfrm>
          <a:prstGeom prst="roundRect">
            <a:avLst>
              <a:gd fmla="val 4229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3" name="Google Shape;783;p34"/>
          <p:cNvCxnSpPr/>
          <p:nvPr/>
        </p:nvCxnSpPr>
        <p:spPr>
          <a:xfrm>
            <a:off x="996313" y="2341063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34"/>
          <p:cNvSpPr/>
          <p:nvPr/>
        </p:nvSpPr>
        <p:spPr>
          <a:xfrm>
            <a:off x="996313" y="1997249"/>
            <a:ext cx="2092893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Endpoint estimate 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_x = (1 − ε) x_τ − s_x q_x, m_h = a h_τ + q_h / a" id="785" name="Google Shape;785;p34"/>
          <p:cNvPicPr preferRelativeResize="0"/>
          <p:nvPr/>
        </p:nvPicPr>
        <p:blipFill rotWithShape="1">
          <a:blip r:embed="rId3">
            <a:alphaModFix/>
          </a:blip>
          <a:srcRect b="0" l="-142" r="-142" t="0"/>
          <a:stretch/>
        </p:blipFill>
        <p:spPr>
          <a:xfrm>
            <a:off x="3180593" y="1982936"/>
            <a:ext cx="3936976" cy="2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34"/>
          <p:cNvSpPr/>
          <p:nvPr/>
        </p:nvSpPr>
        <p:spPr>
          <a:xfrm>
            <a:off x="7523884" y="2004764"/>
            <a:ext cx="3781929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algebra from its own regression targets.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34"/>
          <p:cNvCxnSpPr/>
          <p:nvPr/>
        </p:nvCxnSpPr>
        <p:spPr>
          <a:xfrm>
            <a:off x="996313" y="3238629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34"/>
          <p:cNvSpPr/>
          <p:nvPr/>
        </p:nvSpPr>
        <p:spPr>
          <a:xfrm>
            <a:off x="996313" y="2433092"/>
            <a:ext cx="2092893" cy="7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Covariance 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TMPD and LGD-MC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Σ = K J, k_x = s_x² / (1 − τ), k_h = (1 − a²) / a" id="789" name="Google Shape;789;p34"/>
          <p:cNvPicPr preferRelativeResize="0"/>
          <p:nvPr/>
        </p:nvPicPr>
        <p:blipFill rotWithShape="1">
          <a:blip r:embed="rId4">
            <a:alphaModFix/>
          </a:blip>
          <a:srcRect b="-62" l="0" r="0" t="-62"/>
          <a:stretch/>
        </p:blipFill>
        <p:spPr>
          <a:xfrm>
            <a:off x="3180593" y="2536155"/>
            <a:ext cx="3428947" cy="507938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4"/>
          <p:cNvSpPr/>
          <p:nvPr/>
        </p:nvSpPr>
        <p:spPr>
          <a:xfrm>
            <a:off x="7523884" y="2455714"/>
            <a:ext cx="3781929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 for types, approximate for coordinates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whose aligned noise is not an independent Gaussian channel.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996313" y="3434556"/>
            <a:ext cx="2092893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Guided velocity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Δv_x = −s_x/(1 − τ) G_x, Δv_h ≈ −β(τ)/2 G_h" id="792" name="Google Shape;792;p34"/>
          <p:cNvPicPr preferRelativeResize="0"/>
          <p:nvPr/>
        </p:nvPicPr>
        <p:blipFill rotWithShape="1">
          <a:blip r:embed="rId5">
            <a:alphaModFix/>
          </a:blip>
          <a:srcRect b="-211" l="0" r="0" t="-211"/>
          <a:stretch/>
        </p:blipFill>
        <p:spPr>
          <a:xfrm>
            <a:off x="3180593" y="3334469"/>
            <a:ext cx="3428947" cy="43810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4"/>
          <p:cNvSpPr/>
          <p:nvPr/>
        </p:nvSpPr>
        <p:spPr>
          <a:xfrm>
            <a:off x="7523884" y="3330674"/>
            <a:ext cx="3781929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model's own velocity map at the guided mean m + K·G.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4"/>
          <p:cNvSpPr/>
          <p:nvPr/>
        </p:nvSpPr>
        <p:spPr>
          <a:xfrm>
            <a:off x="815895" y="4039319"/>
            <a:ext cx="5183354" cy="1625339"/>
          </a:xfrm>
          <a:prstGeom prst="roundRect">
            <a:avLst>
              <a:gd fmla="val 527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4"/>
          <p:cNvSpPr/>
          <p:nvPr/>
        </p:nvSpPr>
        <p:spPr>
          <a:xfrm>
            <a:off x="996313" y="4156149"/>
            <a:ext cx="4967193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Property pair 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4"/>
          <p:cNvSpPr/>
          <p:nvPr/>
        </p:nvSpPr>
        <p:spPr>
          <a:xfrm>
            <a:off x="996313" y="4444901"/>
            <a:ext cx="4967193" cy="91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TFG's released guide (tf_predict at time 0) and oracle (evaluate) [15]. Its band is narrower than ours — δ 0.157 vs 0.175 (μ), 0.165 vs 0.506 (α), 0.0037 vs 0.0075 (gap) — so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in-band never crosses backends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4"/>
          <p:cNvSpPr/>
          <p:nvPr/>
        </p:nvSpPr>
        <p:spPr>
          <a:xfrm>
            <a:off x="6154769" y="4036144"/>
            <a:ext cx="5224484" cy="1631689"/>
          </a:xfrm>
          <a:prstGeom prst="roundRect">
            <a:avLst>
              <a:gd fmla="val 3892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6154769" y="4036144"/>
            <a:ext cx="5224484" cy="1631689"/>
          </a:xfrm>
          <a:custGeom>
            <a:rect b="b" l="l" r="r" t="t"/>
            <a:pathLst>
              <a:path extrusionOk="0" h="1631689" w="5224484">
                <a:moveTo>
                  <a:pt x="63500" y="1631689"/>
                </a:moveTo>
                <a:lnTo>
                  <a:pt x="63500" y="1631689"/>
                </a:lnTo>
                <a:cubicBezTo>
                  <a:pt x="28430" y="1631689"/>
                  <a:pt x="0" y="1603259"/>
                  <a:pt x="0" y="1568189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1568189"/>
                </a:lnTo>
                <a:cubicBezTo>
                  <a:pt x="50800" y="1585030"/>
                  <a:pt x="52138" y="1601182"/>
                  <a:pt x="54520" y="1613090"/>
                </a:cubicBezTo>
                <a:cubicBezTo>
                  <a:pt x="56901" y="1624999"/>
                  <a:pt x="60132" y="1631689"/>
                  <a:pt x="63500" y="1631689"/>
                </a:cubicBezTo>
                <a:close/>
              </a:path>
            </a:pathLst>
          </a:custGeom>
          <a:solidFill>
            <a:srgbClr val="A3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4"/>
          <p:cNvSpPr/>
          <p:nvPr/>
        </p:nvSpPr>
        <p:spPr>
          <a:xfrm>
            <a:off x="6378939" y="4150370"/>
            <a:ext cx="4967193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Disclosed limits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4"/>
          <p:cNvSpPr/>
          <p:nvPr/>
        </p:nvSpPr>
        <p:spPr>
          <a:xfrm>
            <a:off x="6378939" y="4439121"/>
            <a:ext cx="4967193" cy="11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B3440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2B34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Trained on the full 100K, so it saw both halves. Only TMPD and LGD-MC touch the Σ surrogate; plug-in, TFG and BDG do not. The charge channel is held fixed during guidance. Same-seed reruns move coverage by up to 0.7 points; about 1.8× our peak memory at batch 500.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4"/>
          <p:cNvSpPr/>
          <p:nvPr/>
        </p:nvSpPr>
        <p:spPr>
          <a:xfrm>
            <a:off x="10261571" y="330126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10312371" y="380926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4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4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[24] Song et al. 2023 (EquiFM) · [15] Ye et al. 2024 (TFG) · adapter derivation and δ values: this work (v3 protocol, pair calibration)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5"/>
          <p:cNvSpPr/>
          <p:nvPr/>
        </p:nvSpPr>
        <p:spPr>
          <a:xfrm>
            <a:off x="812720" y="507950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A2 · PROPERTY PREDICTORS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5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Property predictors: our pair and TFG's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5"/>
          <p:cNvSpPr/>
          <p:nvPr/>
        </p:nvSpPr>
        <p:spPr>
          <a:xfrm>
            <a:off x="812720" y="1290141"/>
            <a:ext cx="10883529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Ours score the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fm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EDMsecond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backends; TFG's score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EquiFM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 f_A's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gradient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steers sampling; f_B only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scores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3" name="Google Shape;813;p35"/>
          <p:cNvGraphicFramePr/>
          <p:nvPr/>
        </p:nvGraphicFramePr>
        <p:xfrm>
          <a:off x="824313" y="1676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688800"/>
                <a:gridCol w="3166475"/>
                <a:gridCol w="2849825"/>
                <a:gridCol w="2849825"/>
              </a:tblGrid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Ours — f_A and f_B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guide (tf_predict)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oracle (evaluate)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Network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invariant EGNN on squared distances, mean-pool, linear head [9]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EDM dynamics EGNN with an energy head [2, 15]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EDM property-classifier EGNN [2]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Width × layers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128 × 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192 × 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128 × 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Edge attention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— equal-weight sum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Parameters (μ)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429,825 each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1,671,566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743,944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Inputs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coordinates + unscaled one-hot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one-hot ÷ 8; time fixed at 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nuclear-charge powers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Training data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f_A: train_a · f_B: train_b (51,527 each)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QM9 second half (~50K)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QM9 first half (~50K)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Recipe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clean molecules, MSE on a standardised target; Adam 3e-4 cosine, batch 128, 120 epochs (~23 min); best validation MAE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clean molecules; EMA at epoch 2,000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best-validation checkpoint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4" name="Google Shape;814;p35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5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[9] Satorras et al. 2021 (EGNN) · [2] Hoogeboom et al. 2022 (EDM) · [15] Ye et al. 2024 (TFG); TFG checkpoints inspected in this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6"/>
          <p:cNvSpPr/>
          <p:nvPr/>
        </p:nvSpPr>
        <p:spPr>
          <a:xfrm>
            <a:off x="812720" y="507926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A2 · PROPERTY PREDICTORS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6"/>
          <p:cNvSpPr/>
          <p:nvPr/>
        </p:nvSpPr>
        <p:spPr>
          <a:xfrm>
            <a:off x="812720" y="746671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Theirs are better; ours are disjoint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5" name="Google Shape;825;p36"/>
          <p:cNvGraphicFramePr/>
          <p:nvPr/>
        </p:nvGraphicFramePr>
        <p:xfrm>
          <a:off x="824313" y="1289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606650"/>
                <a:gridCol w="1088375"/>
                <a:gridCol w="1295675"/>
                <a:gridCol w="1192025"/>
              </a:tblGrid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μ (D)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α (Bohr³)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 (Ha)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our f_A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0.0872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0.2325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0.00402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our f_B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0.0877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0.2531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0.00374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guide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0.0417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0.0925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0.00185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TFG oracle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0.0784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0.0824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0.00187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6" name="Google Shape;826;p36"/>
          <p:cNvSpPr/>
          <p:nvPr/>
        </p:nvSpPr>
        <p:spPr>
          <a:xfrm>
            <a:off x="812720" y="3155851"/>
            <a:ext cx="5350153" cy="6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3,000 calibration molecules. Ours are scored only on the half each did not train on; TFG's on the whole pool, which overlaps their training halves and flatters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6"/>
          <p:cNvSpPr/>
          <p:nvPr/>
        </p:nvSpPr>
        <p:spPr>
          <a:xfrm>
            <a:off x="812720" y="3849390"/>
            <a:ext cx="5194323" cy="871774"/>
          </a:xfrm>
          <a:prstGeom prst="roundRect">
            <a:avLst>
              <a:gd fmla="val 7284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6"/>
          <p:cNvSpPr/>
          <p:nvPr/>
        </p:nvSpPr>
        <p:spPr>
          <a:xfrm>
            <a:off x="812720" y="3849390"/>
            <a:ext cx="5194323" cy="871774"/>
          </a:xfrm>
          <a:custGeom>
            <a:rect b="b" l="l" r="r" t="t"/>
            <a:pathLst>
              <a:path extrusionOk="0" h="871774" w="5194323">
                <a:moveTo>
                  <a:pt x="63500" y="871774"/>
                </a:moveTo>
                <a:lnTo>
                  <a:pt x="63500" y="871774"/>
                </a:lnTo>
                <a:cubicBezTo>
                  <a:pt x="28430" y="871774"/>
                  <a:pt x="0" y="843344"/>
                  <a:pt x="0" y="808274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808274"/>
                </a:lnTo>
                <a:cubicBezTo>
                  <a:pt x="50800" y="825115"/>
                  <a:pt x="52138" y="841267"/>
                  <a:pt x="54520" y="853175"/>
                </a:cubicBezTo>
                <a:cubicBezTo>
                  <a:pt x="56901" y="865084"/>
                  <a:pt x="60132" y="871774"/>
                  <a:pt x="63500" y="871774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6"/>
          <p:cNvSpPr/>
          <p:nvPr/>
        </p:nvSpPr>
        <p:spPr>
          <a:xfrm>
            <a:off x="1011439" y="3950915"/>
            <a:ext cx="4988556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honest gap on μ.</a:t>
            </a:r>
            <a:r>
              <a:rPr b="0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 molecules neither TFG net trained on: guide 0.0659 D, oracle 0.0728 D, our f_B 0.0840 D. </a:t>
            </a: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~20% better, not 2×.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6"/>
          <p:cNvSpPr/>
          <p:nvPr/>
        </p:nvSpPr>
        <p:spPr>
          <a:xfrm>
            <a:off x="6188014" y="1280616"/>
            <a:ext cx="5188064" cy="2011999"/>
          </a:xfrm>
          <a:prstGeom prst="roundRect">
            <a:avLst>
              <a:gd fmla="val 4261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6355662" y="1397446"/>
            <a:ext cx="4998352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theirs are more accurate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6"/>
          <p:cNvSpPr/>
          <p:nvPr/>
        </p:nvSpPr>
        <p:spPr>
          <a:xfrm>
            <a:off x="6355662" y="1686198"/>
            <a:ext cx="4998352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Capacity: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2–4× the parameters, 7 layers not 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6"/>
          <p:cNvSpPr/>
          <p:nvPr/>
        </p:nvSpPr>
        <p:spPr>
          <a:xfrm>
            <a:off x="6355662" y="1959818"/>
            <a:ext cx="4998352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Attention: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learned weight per neighbour; ours sums neighbours equally.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6"/>
          <p:cNvSpPr/>
          <p:nvPr/>
        </p:nvSpPr>
        <p:spPr>
          <a:xfrm>
            <a:off x="6355662" y="2456359"/>
            <a:ext cx="4998352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guide is an EMA at epoch 2,000 [15]; ours stop at 120.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6"/>
          <p:cNvSpPr/>
          <p:nvPr/>
        </p:nvSpPr>
        <p:spPr>
          <a:xfrm>
            <a:off x="6355662" y="2952874"/>
            <a:ext cx="4998352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Inputs: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oracle also reads nuclear-charge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6"/>
          <p:cNvSpPr/>
          <p:nvPr/>
        </p:nvSpPr>
        <p:spPr>
          <a:xfrm>
            <a:off x="6188014" y="3413175"/>
            <a:ext cx="5188064" cy="1636932"/>
          </a:xfrm>
          <a:prstGeom prst="roundRect">
            <a:avLst>
              <a:gd fmla="val 523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6355662" y="3530005"/>
            <a:ext cx="4998352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we keep ours on our FM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6355662" y="3818756"/>
            <a:ext cx="4998352" cy="11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Ours is disjoint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construction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; TFG's only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inference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its saved arguments are overwritten by its own training script, and the oracle's training IDs are unknown. The price is a wider band (ours / TFG δ: 1.12× μ, 3.07× α, 2.00× gap), which is exactly why in-band never crosses backends.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812720" y="5192961"/>
            <a:ext cx="10883529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Disjointness test (μ, 3,000 molecules): guide wins by &gt;2× on 30.9%, oracle on 40.9%, neither on 28.2% — against 37.4 / 37.4 / 25.3% predicted for disjoint halves. Replicated on α and gap.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6"/>
          <p:cNvSpPr/>
          <p:nvPr/>
        </p:nvSpPr>
        <p:spPr>
          <a:xfrm>
            <a:off x="10261571" y="330126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6"/>
          <p:cNvSpPr/>
          <p:nvPr/>
        </p:nvSpPr>
        <p:spPr>
          <a:xfrm>
            <a:off x="10312371" y="380926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6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[15] Ye et al. 2024 (TFG) · accuracy and disjointness measurements: this work (pair calibration; predictor audit)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7"/>
          <p:cNvSpPr/>
          <p:nvPr/>
        </p:nvSpPr>
        <p:spPr>
          <a:xfrm>
            <a:off x="812720" y="507926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A3 · DATA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7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data split, and why it has this shape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1" name="Google Shape;851;p37"/>
          <p:cNvGraphicFramePr/>
          <p:nvPr/>
        </p:nvGraphicFramePr>
        <p:xfrm>
          <a:off x="824313" y="13017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964075"/>
                <a:gridCol w="2892200"/>
                <a:gridCol w="964075"/>
              </a:tblGrid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Trains or supplies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generator (FM and VP) and guide f_A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51,527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train_b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evaluator f_B only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51,527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checkpoint selection; molecule sizes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17,748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never trained or selected 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13,083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37"/>
          <p:cNvSpPr/>
          <p:nvPr/>
        </p:nvSpPr>
        <p:spPr>
          <a:xfrm>
            <a:off x="812720" y="3643511"/>
            <a:ext cx="4976895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δ calibration: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3,000 molecules from train_a + train_b; each of our nets is scored only on the half it did not train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7"/>
          <p:cNvSpPr/>
          <p:nvPr/>
        </p:nvSpPr>
        <p:spPr>
          <a:xfrm>
            <a:off x="812720" y="4178176"/>
            <a:ext cx="4976895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QM9 [1], 133,885 molecules, pinned by SHA-256; split fixed by seed 20260917.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7"/>
          <p:cNvSpPr/>
          <p:nvPr/>
        </p:nvSpPr>
        <p:spPr>
          <a:xfrm>
            <a:off x="5825628" y="1293316"/>
            <a:ext cx="5550450" cy="1153087"/>
          </a:xfrm>
          <a:prstGeom prst="roundRect">
            <a:avLst>
              <a:gd fmla="val 7434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7"/>
          <p:cNvSpPr/>
          <p:nvPr/>
        </p:nvSpPr>
        <p:spPr>
          <a:xfrm>
            <a:off x="5993276" y="1397471"/>
            <a:ext cx="537161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f_A and f_B never share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7"/>
          <p:cNvSpPr/>
          <p:nvPr/>
        </p:nvSpPr>
        <p:spPr>
          <a:xfrm>
            <a:off x="5993276" y="1673523"/>
            <a:ext cx="5371610" cy="6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Guidance is an optimiser aimed at f_A; pushed hard it finds inputs that fool it. The checker needs different blind spots, so the guide–evaluator gap stays a usable reward-hacking signal.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7"/>
          <p:cNvSpPr/>
          <p:nvPr/>
        </p:nvSpPr>
        <p:spPr>
          <a:xfrm>
            <a:off x="5825628" y="2554288"/>
            <a:ext cx="5550450" cy="930184"/>
          </a:xfrm>
          <a:prstGeom prst="roundRect">
            <a:avLst>
              <a:gd fmla="val 9216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7"/>
          <p:cNvSpPr/>
          <p:nvPr/>
        </p:nvSpPr>
        <p:spPr>
          <a:xfrm>
            <a:off x="5993276" y="2658442"/>
            <a:ext cx="537161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The generator may share with f_A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7"/>
          <p:cNvSpPr/>
          <p:nvPr/>
        </p:nvSpPr>
        <p:spPr>
          <a:xfrm>
            <a:off x="5993276" y="2934494"/>
            <a:ext cx="5371610" cy="47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judges nothing. This keeps the claim to one sentence: </a:t>
            </a: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f_B never saw a molecule the generator or the guide trained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5825628" y="3592339"/>
            <a:ext cx="5550450" cy="1375989"/>
          </a:xfrm>
          <a:prstGeom prst="roundRect">
            <a:avLst>
              <a:gd fmla="val 6230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7"/>
          <p:cNvSpPr/>
          <p:nvPr/>
        </p:nvSpPr>
        <p:spPr>
          <a:xfrm>
            <a:off x="5993276" y="3696494"/>
            <a:ext cx="5371610" cy="26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Halves, as the literature does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7"/>
          <p:cNvSpPr/>
          <p:nvPr/>
        </p:nvSpPr>
        <p:spPr>
          <a:xfrm>
            <a:off x="5993276" y="3972570"/>
            <a:ext cx="5371610" cy="91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EDM's conditional protocol and TFG's EDMsecond train on one ~50K half; TFG shipped a full-data EDMfull and </a:t>
            </a:r>
            <a:r>
              <a:rPr b="0" i="1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chose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EDMsecond [2, 15]. Using both halves would set twice the data beside every number we compare to. 70/30 was rejected for the same reason.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7"/>
          <p:cNvSpPr/>
          <p:nvPr/>
        </p:nvSpPr>
        <p:spPr>
          <a:xfrm>
            <a:off x="812720" y="5123855"/>
            <a:ext cx="10566533" cy="683108"/>
          </a:xfrm>
          <a:prstGeom prst="roundRect">
            <a:avLst>
              <a:gd fmla="val 9296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7"/>
          <p:cNvSpPr/>
          <p:nvPr/>
        </p:nvSpPr>
        <p:spPr>
          <a:xfrm>
            <a:off x="812720" y="5123855"/>
            <a:ext cx="10566533" cy="683108"/>
          </a:xfrm>
          <a:custGeom>
            <a:rect b="b" l="l" r="r" t="t"/>
            <a:pathLst>
              <a:path extrusionOk="0" h="683108" w="10566533">
                <a:moveTo>
                  <a:pt x="63500" y="683108"/>
                </a:moveTo>
                <a:lnTo>
                  <a:pt x="63500" y="683108"/>
                </a:lnTo>
                <a:cubicBezTo>
                  <a:pt x="28430" y="683108"/>
                  <a:pt x="0" y="654678"/>
                  <a:pt x="0" y="619608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619608"/>
                </a:lnTo>
                <a:cubicBezTo>
                  <a:pt x="50800" y="636449"/>
                  <a:pt x="52138" y="652601"/>
                  <a:pt x="54520" y="664509"/>
                </a:cubicBezTo>
                <a:cubicBezTo>
                  <a:pt x="56901" y="676418"/>
                  <a:pt x="60132" y="683108"/>
                  <a:pt x="63500" y="683108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7"/>
          <p:cNvSpPr/>
          <p:nvPr/>
        </p:nvSpPr>
        <p:spPr>
          <a:xfrm>
            <a:off x="1036890" y="5225380"/>
            <a:ext cx="10469503" cy="505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cost we accept:</a:t>
            </a:r>
            <a:r>
              <a:rPr b="0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half the data. A published half-data EDM loses only ~0.3 atom-stability points [2, 25] — so the split does not explain our gap in 2a.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7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7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7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7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Ramakrishnan et al. 2014 (QM9) · [2] Hoogeboom et al. 2022 (EDM) · [15] Ye et al. 2024 (TFG) · [25] Bao et al. 2023 (EEGSDE)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8"/>
          <p:cNvSpPr/>
          <p:nvPr/>
        </p:nvSpPr>
        <p:spPr>
          <a:xfrm>
            <a:off x="812720" y="507950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A4 · GUIDANCE ARMS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812720" y="746696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guidance arms, side by side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812720" y="1252017"/>
            <a:ext cx="10883529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Shared frame.</a:t>
            </a:r>
            <a:r>
              <a:rPr b="0" i="0" lang="en-US" sz="13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m = xₜ + (1 − t)vθ → frozen f_A → pull back through J = ∂m/∂xₜ → clip → add to the velocity (t ≥ 0.5, w = 1).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815895" y="1592312"/>
            <a:ext cx="10560183" cy="3665516"/>
          </a:xfrm>
          <a:prstGeom prst="roundRect">
            <a:avLst>
              <a:gd fmla="val 2339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8"/>
          <p:cNvCxnSpPr/>
          <p:nvPr/>
        </p:nvCxnSpPr>
        <p:spPr>
          <a:xfrm>
            <a:off x="996313" y="2118172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0" name="Google Shape;880;p38"/>
          <p:cNvSpPr/>
          <p:nvPr/>
        </p:nvSpPr>
        <p:spPr>
          <a:xfrm>
            <a:off x="996313" y="1756767"/>
            <a:ext cx="1574797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Arm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8"/>
          <p:cNvSpPr/>
          <p:nvPr/>
        </p:nvSpPr>
        <p:spPr>
          <a:xfrm>
            <a:off x="2647294" y="1756767"/>
            <a:ext cx="5101532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8"/>
          <p:cNvSpPr/>
          <p:nvPr/>
        </p:nvSpPr>
        <p:spPr>
          <a:xfrm>
            <a:off x="7727222" y="1756767"/>
            <a:ext cx="2485369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it changes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10216386" y="1645642"/>
            <a:ext cx="979273" cy="4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Passes per cell (2e)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38"/>
          <p:cNvCxnSpPr/>
          <p:nvPr/>
        </p:nvCxnSpPr>
        <p:spPr>
          <a:xfrm>
            <a:off x="996313" y="2701649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38"/>
          <p:cNvSpPr/>
          <p:nvPr/>
        </p:nvSpPr>
        <p:spPr>
          <a:xfrm>
            <a:off x="996313" y="2187897"/>
            <a:ext cx="1574797" cy="4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DPS-style plug-in [12]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 = (y − f_A(m))/s² · Jᵀ ∇f_A(m)" id="886" name="Google Shape;886;p38"/>
          <p:cNvPicPr preferRelativeResize="0"/>
          <p:nvPr/>
        </p:nvPicPr>
        <p:blipFill rotWithShape="1">
          <a:blip r:embed="rId3">
            <a:alphaModFix/>
          </a:blip>
          <a:srcRect b="0" l="-234" r="-234" t="0"/>
          <a:stretch/>
        </p:blipFill>
        <p:spPr>
          <a:xfrm>
            <a:off x="2647294" y="2153047"/>
            <a:ext cx="2546304" cy="51427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8"/>
          <p:cNvSpPr/>
          <p:nvPr/>
        </p:nvSpPr>
        <p:spPr>
          <a:xfrm>
            <a:off x="7727222" y="2203847"/>
            <a:ext cx="2485369" cy="4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property at the endpoint; the baseline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8"/>
          <p:cNvSpPr/>
          <p:nvPr/>
        </p:nvSpPr>
        <p:spPr>
          <a:xfrm>
            <a:off x="10216386" y="2299047"/>
            <a:ext cx="979273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1,000 / 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p38"/>
          <p:cNvCxnSpPr/>
          <p:nvPr/>
        </p:nvCxnSpPr>
        <p:spPr>
          <a:xfrm>
            <a:off x="996313" y="3323261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38"/>
          <p:cNvSpPr/>
          <p:nvPr/>
        </p:nvSpPr>
        <p:spPr>
          <a:xfrm>
            <a:off x="996313" y="2901553"/>
            <a:ext cx="1574797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TMPD-inspired [22]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 = (y − f_A(m))/(s² + gᵀΣg) · Jᵀ g, Σ = k J, g = ∇f_A(m)" id="891" name="Google Shape;891;p38"/>
          <p:cNvPicPr preferRelativeResize="0"/>
          <p:nvPr/>
        </p:nvPicPr>
        <p:blipFill rotWithShape="1">
          <a:blip r:embed="rId4">
            <a:alphaModFix/>
          </a:blip>
          <a:srcRect b="0" l="-438" r="-438" t="0"/>
          <a:stretch/>
        </p:blipFill>
        <p:spPr>
          <a:xfrm>
            <a:off x="2647294" y="2736528"/>
            <a:ext cx="4546538" cy="55241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8"/>
          <p:cNvSpPr/>
          <p:nvPr/>
        </p:nvSpPr>
        <p:spPr>
          <a:xfrm>
            <a:off x="7727222" y="2806353"/>
            <a:ext cx="2485369" cy="4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shrinks the step where the endpoint is uncertain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8"/>
          <p:cNvSpPr/>
          <p:nvPr/>
        </p:nvSpPr>
        <p:spPr>
          <a:xfrm>
            <a:off x="10216386" y="2901553"/>
            <a:ext cx="979273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1,200 / 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4" name="Google Shape;894;p38"/>
          <p:cNvCxnSpPr/>
          <p:nvPr/>
        </p:nvCxnSpPr>
        <p:spPr>
          <a:xfrm>
            <a:off x="996313" y="3944866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p38"/>
          <p:cNvSpPr/>
          <p:nvPr/>
        </p:nvSpPr>
        <p:spPr>
          <a:xfrm>
            <a:off x="996313" y="3523159"/>
            <a:ext cx="1574797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LGD-MC [23]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 = Jᵀ Σ_k ω_k (y − f_A(m + r z_k))/s² ∇f_A(m + r z_k), r² = tr(Σ)/d" id="896" name="Google Shape;896;p38"/>
          <p:cNvPicPr preferRelativeResize="0"/>
          <p:nvPr/>
        </p:nvPicPr>
        <p:blipFill rotWithShape="1">
          <a:blip r:embed="rId5">
            <a:alphaModFix/>
          </a:blip>
          <a:srcRect b="0" l="-208" r="-208" t="0"/>
          <a:stretch/>
        </p:blipFill>
        <p:spPr>
          <a:xfrm>
            <a:off x="2647294" y="3358133"/>
            <a:ext cx="4952943" cy="55241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38"/>
          <p:cNvSpPr/>
          <p:nvPr/>
        </p:nvSpPr>
        <p:spPr>
          <a:xfrm>
            <a:off x="7727222" y="3427958"/>
            <a:ext cx="2485369" cy="4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averages the likelihood over K draws around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8"/>
          <p:cNvSpPr/>
          <p:nvPr/>
        </p:nvSpPr>
        <p:spPr>
          <a:xfrm>
            <a:off x="10216386" y="3412009"/>
            <a:ext cx="979273" cy="4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1,200 / 2,000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38"/>
          <p:cNvCxnSpPr/>
          <p:nvPr/>
        </p:nvCxnSpPr>
        <p:spPr>
          <a:xfrm>
            <a:off x="996313" y="4750609"/>
            <a:ext cx="10199346" cy="0"/>
          </a:xfrm>
          <a:prstGeom prst="straightConnector1">
            <a:avLst/>
          </a:prstGeom>
          <a:noFill/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38"/>
          <p:cNvSpPr/>
          <p:nvPr/>
        </p:nvSpPr>
        <p:spPr>
          <a:xfrm>
            <a:off x="996313" y="4236864"/>
            <a:ext cx="1574797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TFG [15]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(x) = log (1/K) Σ_k exp[−((f_A(x + ε_k) − y)/MAD)²]; Δ_t = ρ ∇_{x_t} L(m); Δ_0: m ← m + μ ∇_m L(m), 4 steps, no J" id="901" name="Google Shape;901;p38"/>
          <p:cNvPicPr preferRelativeResize="0"/>
          <p:nvPr/>
        </p:nvPicPr>
        <p:blipFill rotWithShape="1">
          <a:blip r:embed="rId6">
            <a:alphaModFix/>
          </a:blip>
          <a:srcRect b="0" l="-215" r="-215" t="0"/>
          <a:stretch/>
        </p:blipFill>
        <p:spPr>
          <a:xfrm>
            <a:off x="2647294" y="3979738"/>
            <a:ext cx="4952943" cy="736547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8"/>
          <p:cNvSpPr/>
          <p:nvPr/>
        </p:nvSpPr>
        <p:spPr>
          <a:xfrm>
            <a:off x="7727222" y="4141688"/>
            <a:ext cx="2485369" cy="4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adds steps on the predicted molecule itself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8"/>
          <p:cNvSpPr/>
          <p:nvPr/>
        </p:nvSpPr>
        <p:spPr>
          <a:xfrm>
            <a:off x="10216386" y="4236864"/>
            <a:ext cx="979273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800 / 2,000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996313" y="4880670"/>
            <a:ext cx="1574797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50"/>
              <a:buFont typeface="IBM Plex Sans"/>
              <a:buNone/>
            </a:pPr>
            <a:r>
              <a:rPr b="1" i="0" lang="en-US" sz="1250" u="none" cap="none" strike="noStrike">
                <a:solidFill>
                  <a:srgbClr val="B3261E"/>
                </a:solidFill>
                <a:latin typeface="IBM Plex Sans"/>
                <a:ea typeface="IBM Plex Sans"/>
                <a:cs typeface="IBM Plex Sans"/>
                <a:sym typeface="IBM Plex Sans"/>
              </a:rPr>
              <a:t>BDG (ours)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um_i = (y − F̄) − w_eff (F_i − F̄), w_eff = 1 + η e" id="905" name="Google Shape;905;p38"/>
          <p:cNvPicPr preferRelativeResize="0"/>
          <p:nvPr/>
        </p:nvPicPr>
        <p:blipFill rotWithShape="1">
          <a:blip r:embed="rId7">
            <a:alphaModFix/>
          </a:blip>
          <a:srcRect b="-284" l="0" r="0" t="-284"/>
          <a:stretch/>
        </p:blipFill>
        <p:spPr>
          <a:xfrm>
            <a:off x="2647294" y="4839370"/>
            <a:ext cx="4597350" cy="30478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38"/>
          <p:cNvSpPr/>
          <p:nvPr/>
        </p:nvSpPr>
        <p:spPr>
          <a:xfrm>
            <a:off x="7727222" y="4785469"/>
            <a:ext cx="2485369" cy="43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 with a servoed deviation gain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8"/>
          <p:cNvSpPr/>
          <p:nvPr/>
        </p:nvSpPr>
        <p:spPr>
          <a:xfrm>
            <a:off x="10216386" y="4880670"/>
            <a:ext cx="979273" cy="24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1,000 / 400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8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8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8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8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[12] Chung et al. 2023 (DPS) · [22] Boys et al. 2024 (TMPD) · [23] Song et al. 2023 (LGD-MC) · [15] Ye et al. 2024 (TFG)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9"/>
          <p:cNvSpPr/>
          <p:nvPr/>
        </p:nvSpPr>
        <p:spPr>
          <a:xfrm>
            <a:off x="812720" y="507926"/>
            <a:ext cx="10883529" cy="23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A5 · THE ALGORITHM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812720" y="746671"/>
            <a:ext cx="10883529" cy="41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BDG in the sampler: Algorithm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9"/>
          <p:cNvSpPr/>
          <p:nvPr/>
        </p:nvSpPr>
        <p:spPr>
          <a:xfrm>
            <a:off x="815895" y="1280616"/>
            <a:ext cx="7486648" cy="3808714"/>
          </a:xfrm>
          <a:prstGeom prst="roundRect">
            <a:avLst>
              <a:gd fmla="val 2251" name="adj"/>
            </a:avLst>
          </a:prstGeom>
          <a:solidFill>
            <a:srgbClr val="FFFFFF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lgorithm 1, one BDG-guided Euler step. Require: batch x_t of size B; frozen v_theta and f_A; target y; scale s &gt; 0; gain eta &gt;= 0; setpoint tau &gt; 0; strength w; step h; start t_min. 1: v = v_theta(x_t, t; M). 2: if t &lt; t_min return Pi(x_t + h v). 3: m = x_t + (1 - t) v_theta(x_t, t; M), with gradients enabled. 4: F_i = f_A(m_i); F-bar = batch mean of F_i. 5: V_b = sample variance of F_i if B &gt; 1, else tau squared. 6: e = (V_b - tau^2)/tau^2. 7: a_i = stopgrad{[(y - F_i) - eta e (F_i - F-bar)]/s" id="920" name="Google Shape;920;p39"/>
          <p:cNvPicPr preferRelativeResize="0"/>
          <p:nvPr/>
        </p:nvPicPr>
        <p:blipFill rotWithShape="1">
          <a:blip r:embed="rId3">
            <a:alphaModFix/>
          </a:blip>
          <a:srcRect b="-95" l="0" r="0" t="-95"/>
          <a:stretch/>
        </p:blipFill>
        <p:spPr>
          <a:xfrm>
            <a:off x="932730" y="1372096"/>
            <a:ext cx="7252977" cy="3625764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39"/>
          <p:cNvSpPr/>
          <p:nvPr/>
        </p:nvSpPr>
        <p:spPr>
          <a:xfrm>
            <a:off x="8461239" y="1280616"/>
            <a:ext cx="2914840" cy="1098561"/>
          </a:xfrm>
          <a:prstGeom prst="roundRect">
            <a:avLst>
              <a:gd fmla="val 7803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9"/>
          <p:cNvSpPr/>
          <p:nvPr/>
        </p:nvSpPr>
        <p:spPr>
          <a:xfrm>
            <a:off x="8603525" y="1384771"/>
            <a:ext cx="2709174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Checked in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8603525" y="1657672"/>
            <a:ext cx="2709174" cy="6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η = 0 gives plug-in's field bit for bit; the reduction and the bound hold numerically.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9"/>
          <p:cNvSpPr/>
          <p:nvPr/>
        </p:nvSpPr>
        <p:spPr>
          <a:xfrm>
            <a:off x="8461239" y="2487067"/>
            <a:ext cx="2914840" cy="892777"/>
          </a:xfrm>
          <a:prstGeom prst="roundRect">
            <a:avLst>
              <a:gd fmla="val 960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9"/>
          <p:cNvSpPr/>
          <p:nvPr/>
        </p:nvSpPr>
        <p:spPr>
          <a:xfrm>
            <a:off x="8603525" y="2591222"/>
            <a:ext cx="2709174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9"/>
          <p:cNvSpPr/>
          <p:nvPr/>
        </p:nvSpPr>
        <p:spPr>
          <a:xfrm>
            <a:off x="8603525" y="2864123"/>
            <a:ext cx="2709174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Plug-in's network calls; the red lines are scalar batch reductions.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9"/>
          <p:cNvSpPr/>
          <p:nvPr/>
        </p:nvSpPr>
        <p:spPr>
          <a:xfrm>
            <a:off x="8461239" y="3487738"/>
            <a:ext cx="2914840" cy="892777"/>
          </a:xfrm>
          <a:prstGeom prst="roundRect">
            <a:avLst>
              <a:gd fmla="val 9602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9"/>
          <p:cNvSpPr/>
          <p:nvPr/>
        </p:nvSpPr>
        <p:spPr>
          <a:xfrm>
            <a:off x="8603525" y="3591892"/>
            <a:ext cx="2709174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batch is the unit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9"/>
          <p:cNvSpPr/>
          <p:nvPr/>
        </p:nvSpPr>
        <p:spPr>
          <a:xfrm>
            <a:off x="8603525" y="3864769"/>
            <a:ext cx="2709174" cy="43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B = 500, so each 2,000-sample cell runs four independent controllers.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9"/>
          <p:cNvSpPr/>
          <p:nvPr/>
        </p:nvSpPr>
        <p:spPr>
          <a:xfrm>
            <a:off x="812720" y="5232177"/>
            <a:ext cx="10566533" cy="400608"/>
          </a:xfrm>
          <a:prstGeom prst="roundRect">
            <a:avLst>
              <a:gd fmla="val 15851" name="adj"/>
            </a:avLst>
          </a:prstGeom>
          <a:solidFill>
            <a:srgbClr val="E4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9"/>
          <p:cNvSpPr/>
          <p:nvPr/>
        </p:nvSpPr>
        <p:spPr>
          <a:xfrm>
            <a:off x="812720" y="5232177"/>
            <a:ext cx="10566533" cy="400608"/>
          </a:xfrm>
          <a:custGeom>
            <a:rect b="b" l="l" r="r" t="t"/>
            <a:pathLst>
              <a:path extrusionOk="0" h="400608" w="10566533">
                <a:moveTo>
                  <a:pt x="63500" y="400608"/>
                </a:moveTo>
                <a:lnTo>
                  <a:pt x="63500" y="400608"/>
                </a:lnTo>
                <a:cubicBezTo>
                  <a:pt x="28430" y="400608"/>
                  <a:pt x="0" y="372178"/>
                  <a:pt x="0" y="337108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63500" y="0"/>
                </a:lnTo>
                <a:cubicBezTo>
                  <a:pt x="56486" y="0"/>
                  <a:pt x="50800" y="28430"/>
                  <a:pt x="50800" y="63500"/>
                </a:cubicBezTo>
                <a:lnTo>
                  <a:pt x="50800" y="337108"/>
                </a:lnTo>
                <a:cubicBezTo>
                  <a:pt x="50800" y="353949"/>
                  <a:pt x="52138" y="370101"/>
                  <a:pt x="54520" y="382009"/>
                </a:cubicBezTo>
                <a:cubicBezTo>
                  <a:pt x="56901" y="393918"/>
                  <a:pt x="60132" y="400608"/>
                  <a:pt x="63500" y="400608"/>
                </a:cubicBezTo>
                <a:close/>
              </a:path>
            </a:pathLst>
          </a:custGeom>
          <a:solidFill>
            <a:srgbClr val="1F5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9"/>
          <p:cNvSpPr/>
          <p:nvPr/>
        </p:nvSpPr>
        <p:spPr>
          <a:xfrm>
            <a:off x="1036890" y="5321027"/>
            <a:ext cx="10469503" cy="2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On DNA</a:t>
            </a:r>
            <a:r>
              <a:rPr b="0" i="0" lang="en-US" sz="13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only Π changes: clamp at zero and renormalise each position; decode by argmax at the end (3a).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9"/>
          <p:cNvSpPr/>
          <p:nvPr/>
        </p:nvSpPr>
        <p:spPr>
          <a:xfrm>
            <a:off x="10261571" y="330126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9"/>
          <p:cNvSpPr/>
          <p:nvPr/>
        </p:nvSpPr>
        <p:spPr>
          <a:xfrm>
            <a:off x="10312371" y="380926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9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9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algorithm (this work), as in the paper's appendix; checks in proj1/tests/test_bdg.py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0"/>
          <p:cNvSpPr/>
          <p:nvPr/>
        </p:nvSpPr>
        <p:spPr>
          <a:xfrm>
            <a:off x="812720" y="457126"/>
            <a:ext cx="10883529" cy="23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59"/>
              <a:buFont typeface="IBM Plex Sans"/>
              <a:buNone/>
            </a:pPr>
            <a:r>
              <a:rPr b="1" i="0" lang="en-US" sz="1159" u="none" cap="none" strike="noStrike">
                <a:solidFill>
                  <a:srgbClr val="1F5FA9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 A6 · MODALITY 2 ARCHITECTURE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0"/>
          <p:cNvSpPr/>
          <p:nvPr/>
        </p:nvSpPr>
        <p:spPr>
          <a:xfrm>
            <a:off x="812720" y="687090"/>
            <a:ext cx="10883529" cy="400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5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04"/>
              <a:buFont typeface="Source Serif 4"/>
              <a:buNone/>
            </a:pPr>
            <a:r>
              <a:rPr b="1" i="0" lang="en-US" sz="2704" u="none" cap="none" strike="noStrike">
                <a:solidFill>
                  <a:srgbClr val="16202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simplex flow-matching model</a:t>
            </a:r>
            <a:endParaRPr b="0" i="0" sz="2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0"/>
          <p:cNvSpPr/>
          <p:nvPr/>
        </p:nvSpPr>
        <p:spPr>
          <a:xfrm>
            <a:off x="812720" y="1150913"/>
            <a:ext cx="10883529" cy="486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12"/>
              <a:buFont typeface="IBM Plex Sans"/>
              <a:buNone/>
            </a:pPr>
            <a:r>
              <a:rPr b="0" i="0" lang="en-US" sz="1312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Modality 2 generator: a dilated 1-D convolutional velocity field on the simplex. No equivariance is needed — a sequence has no rotation group — so the architecture is chosen for </a:t>
            </a:r>
            <a:r>
              <a:rPr b="1" i="0" lang="en-US" sz="1312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receptive field</a:t>
            </a:r>
            <a:r>
              <a:rPr b="0" i="0" lang="en-US" sz="1312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5" name="Google Shape;945;p40"/>
          <p:cNvGraphicFramePr/>
          <p:nvPr/>
        </p:nvGraphicFramePr>
        <p:xfrm>
          <a:off x="824313" y="1712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{AB13D057-85ED-43D6-BB4A-7C92B5BC83E1}</a:tableStyleId>
              </a:tblPr>
              <a:tblGrid>
                <a:gridCol w="1899900"/>
                <a:gridCol w="8655050"/>
              </a:tblGrid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b="1"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Stage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99"/>
                        <a:buFont typeface="Calibri"/>
                        <a:buNone/>
                      </a:pPr>
                      <a:r>
                        <a:t/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3"/>
                    </a:solidFill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Input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one-hot / relaxed sequence, 500 × 4 channels (A, C, G, T)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Stem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Conv1d 4 → 128, kernel 5, padding 2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Body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 residual blocks. Each: Conv1d 128 → 128, kernel 5, dilation 1, 2, 4, 8 cycling → GroupNorm(8) → SiLU → Conv1d 128 → 128, kernel 1; added back to the input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sinusoidal embedding → MLP → 128, added to the features inside every block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Head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Conv1d 128 → 4, kernel 1, zero-initialised so the field starts at zero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Size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≈1.02M parameters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Receptive field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440"/>
                        </a:buClr>
                        <a:buSzPts val="1199"/>
                        <a:buFont typeface="IBM Plex Sans"/>
                        <a:buNone/>
                      </a:pPr>
                      <a:r>
                        <a:rPr lang="en-US" sz="1199" u="none" cap="none" strike="noStrike">
                          <a:solidFill>
                            <a:srgbClr val="2B34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≈100 bp — wide enough for the 3-mer structure the fidelity metric scores</a:t>
                      </a:r>
                      <a:endParaRPr sz="1199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00" marB="53300" marR="53300" marL="53300">
                    <a:lnL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6" name="Google Shape;946;p40"/>
          <p:cNvSpPr/>
          <p:nvPr/>
        </p:nvSpPr>
        <p:spPr>
          <a:xfrm>
            <a:off x="815895" y="4668193"/>
            <a:ext cx="3414264" cy="1526251"/>
          </a:xfrm>
          <a:prstGeom prst="roundRect">
            <a:avLst>
              <a:gd fmla="val 561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0"/>
          <p:cNvSpPr/>
          <p:nvPr/>
        </p:nvSpPr>
        <p:spPr>
          <a:xfrm>
            <a:off x="983542" y="4785023"/>
            <a:ext cx="3171339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Path and objective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0"/>
          <p:cNvSpPr/>
          <p:nvPr/>
        </p:nvSpPr>
        <p:spPr>
          <a:xfrm>
            <a:off x="983542" y="5045249"/>
            <a:ext cx="3171339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Linear path from a Dirichlet(1,1,1,1) source to the one-hot sequence, velocity MSE — the same objective as the molecular model, on a different state space [4].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4388854" y="4668193"/>
            <a:ext cx="3414264" cy="1526251"/>
          </a:xfrm>
          <a:prstGeom prst="roundRect">
            <a:avLst>
              <a:gd fmla="val 561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0"/>
          <p:cNvSpPr/>
          <p:nvPr/>
        </p:nvSpPr>
        <p:spPr>
          <a:xfrm>
            <a:off x="4556502" y="4785023"/>
            <a:ext cx="3171339" cy="2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43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339"/>
              <a:buFont typeface="IBM Plex Sans"/>
              <a:buNone/>
            </a:pPr>
            <a:r>
              <a:rPr b="1" i="0" lang="en-US" sz="1339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</a:t>
            </a:r>
            <a:endParaRPr b="0" i="0" sz="13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0"/>
          <p:cNvSpPr/>
          <p:nvPr/>
        </p:nvSpPr>
        <p:spPr>
          <a:xfrm>
            <a:off x="4556502" y="5034558"/>
            <a:ext cx="3171339" cy="1068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35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91"/>
              <a:buFont typeface="IBM Plex Sans"/>
              <a:buNone/>
            </a:pPr>
            <a:r>
              <a:rPr b="0" i="0" lang="en-US" sz="1191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83,722 sequences, 1,500 epochs = 492k updates, batch 256, Adam 2 × 10⁻³ cosine to zero, no EMA, seed 20260921. Validation selected epoch 1,450 (loss 0.0634); 539.7 min on an RTX A6000.</a:t>
            </a:r>
            <a:endParaRPr b="0" i="0" sz="1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0"/>
          <p:cNvSpPr/>
          <p:nvPr/>
        </p:nvSpPr>
        <p:spPr>
          <a:xfrm>
            <a:off x="7961814" y="4668193"/>
            <a:ext cx="3414264" cy="1526251"/>
          </a:xfrm>
          <a:prstGeom prst="roundRect">
            <a:avLst>
              <a:gd fmla="val 5617" name="adj"/>
            </a:avLst>
          </a:prstGeom>
          <a:solidFill>
            <a:srgbClr val="FDFCFA"/>
          </a:solidFill>
          <a:ln cap="flat" cmpd="sng" w="9525">
            <a:solidFill>
              <a:srgbClr val="DD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0"/>
          <p:cNvSpPr/>
          <p:nvPr/>
        </p:nvSpPr>
        <p:spPr>
          <a:xfrm>
            <a:off x="8129461" y="4785023"/>
            <a:ext cx="3171339" cy="24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6202C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CpG is the interesting target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0"/>
          <p:cNvSpPr/>
          <p:nvPr/>
        </p:nvSpPr>
        <p:spPr>
          <a:xfrm>
            <a:off x="8129461" y="5045249"/>
            <a:ext cx="3171339" cy="90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50"/>
              <a:buFont typeface="IBM Plex Sans"/>
              <a:buNone/>
            </a:pP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GC is affine in the relaxed sequence; </a:t>
            </a:r>
            <a:r>
              <a:rPr b="1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CpG is quadratic</a:t>
            </a:r>
            <a:r>
              <a:rPr b="0" i="0" lang="en-US" sz="1250" u="none" cap="none" strike="noStrike">
                <a:solidFill>
                  <a:srgbClr val="3A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so its Hessian is non-zero and second-moment behaviour survives. CpG islands also mark regulatory DNA.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0"/>
          <p:cNvSpPr/>
          <p:nvPr/>
        </p:nvSpPr>
        <p:spPr>
          <a:xfrm>
            <a:off x="10261571" y="330150"/>
            <a:ext cx="1117591" cy="451873"/>
          </a:xfrm>
          <a:prstGeom prst="roundRect">
            <a:avLst>
              <a:gd fmla="val 19674" name="adj"/>
            </a:avLst>
          </a:prstGeom>
          <a:solidFill>
            <a:srgbClr val="4A5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0"/>
          <p:cNvSpPr/>
          <p:nvPr/>
        </p:nvSpPr>
        <p:spPr>
          <a:xfrm>
            <a:off x="10312371" y="380950"/>
            <a:ext cx="1015991" cy="375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b="1" i="0" lang="en-US" sz="2400" u="none" cap="none" strike="noStrike">
                <a:solidFill>
                  <a:srgbClr val="F7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0"/>
          <p:cNvSpPr/>
          <p:nvPr/>
        </p:nvSpPr>
        <p:spPr>
          <a:xfrm>
            <a:off x="812720" y="6444059"/>
            <a:ext cx="1962099" cy="18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CIS 6270 · Group 2 · Appendix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0"/>
          <p:cNvSpPr/>
          <p:nvPr/>
        </p:nvSpPr>
        <p:spPr>
          <a:xfrm>
            <a:off x="2588716" y="6455470"/>
            <a:ext cx="8790356" cy="173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b="0" i="0" lang="en-US" sz="900" u="none" cap="none" strike="noStrike">
                <a:solidFill>
                  <a:srgbClr val="5F6A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 architecture (this work): proj1/m2/simplex_fm.py · [4] Stark et al. 2024 (Dirichlet FM; DeepFlyBrain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
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8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abee3323e74da6" /><Relationship Type="http://schemas.openxmlformats.org/officeDocument/2006/relationships/extended-properties" Target="/docProps/app.xml" Id="Rd518442dfff945e1" /><Relationship Type="http://schemas.openxmlformats.org/officeDocument/2006/relationships/officeDocument" Target="/ppt/presentation.xml" Id="Rfc073a1e073f4ff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ab155c6fc334141"/>
  </p:sldMasterIdLst>
  <p:notesMasterIdLst>
    <p:notesMasterId xmlns:r="http://schemas.openxmlformats.org/officeDocument/2006/relationships" r:id="R0be03e42f02f4d8b"/>
  </p:notesMasterIdLst>
  <p:sldIdLst>
    <p:sldId xmlns:r="http://schemas.openxmlformats.org/officeDocument/2006/relationships" id="256" r:id="Rbc1481a3d1e04a91"/>
    <p:sldId xmlns:r="http://schemas.openxmlformats.org/officeDocument/2006/relationships" id="257" r:id="Re1b110181ccc46b7"/>
    <p:sldId xmlns:r="http://schemas.openxmlformats.org/officeDocument/2006/relationships" id="258" r:id="R71abc05323ae4f75"/>
    <p:sldId xmlns:r="http://schemas.openxmlformats.org/officeDocument/2006/relationships" id="259" r:id="R84f63d589020406c"/>
    <p:sldId xmlns:r="http://schemas.openxmlformats.org/officeDocument/2006/relationships" id="260" r:id="Rc8d8d22a74b243f7"/>
    <p:sldId xmlns:r="http://schemas.openxmlformats.org/officeDocument/2006/relationships" id="261" r:id="Rc25eb51136924d4c"/>
    <p:sldId xmlns:r="http://schemas.openxmlformats.org/officeDocument/2006/relationships" id="262" r:id="R84ada6e68a444a9d"/>
    <p:sldId xmlns:r="http://schemas.openxmlformats.org/officeDocument/2006/relationships" id="263" r:id="R3dcedd28bad3418c"/>
    <p:sldId xmlns:r="http://schemas.openxmlformats.org/officeDocument/2006/relationships" id="264" r:id="R76091b8b5ac24ff5"/>
    <p:sldId xmlns:r="http://schemas.openxmlformats.org/officeDocument/2006/relationships" id="265" r:id="Racf095aae76a45f0"/>
    <p:sldId xmlns:r="http://schemas.openxmlformats.org/officeDocument/2006/relationships" id="266" r:id="R36cf0f22b9f74ce2"/>
    <p:sldId xmlns:r="http://schemas.openxmlformats.org/officeDocument/2006/relationships" id="267" r:id="R5d1a8f8cae724fea"/>
    <p:sldId xmlns:r="http://schemas.openxmlformats.org/officeDocument/2006/relationships" id="268" r:id="Rf50c86401b7f4881"/>
    <p:sldId xmlns:r="http://schemas.openxmlformats.org/officeDocument/2006/relationships" id="269" r:id="R506c91911a1841c5"/>
    <p:sldId xmlns:r="http://schemas.openxmlformats.org/officeDocument/2006/relationships" id="270" r:id="R42402e0bafce481f"/>
    <p:sldId xmlns:r="http://schemas.openxmlformats.org/officeDocument/2006/relationships" id="271" r:id="Rcf4a23d355ee4302"/>
    <p:sldId xmlns:r="http://schemas.openxmlformats.org/officeDocument/2006/relationships" id="272" r:id="R2c0331d925554ddd"/>
    <p:sldId xmlns:r="http://schemas.openxmlformats.org/officeDocument/2006/relationships" id="273" r:id="R2db0d55c4c1c4ca2"/>
    <p:sldId xmlns:r="http://schemas.openxmlformats.org/officeDocument/2006/relationships" id="274" r:id="R3d3dcd8ecb394280"/>
    <p:sldId xmlns:r="http://schemas.openxmlformats.org/officeDocument/2006/relationships" id="275" r:id="Rbdd2a6d75ea7460a"/>
    <p:sldId xmlns:r="http://schemas.openxmlformats.org/officeDocument/2006/relationships" id="276" r:id="R49ac925a801c42f3"/>
    <p:sldId xmlns:r="http://schemas.openxmlformats.org/officeDocument/2006/relationships" id="277" r:id="R023577c3e3ff40d8"/>
    <p:sldId xmlns:r="http://schemas.openxmlformats.org/officeDocument/2006/relationships" id="278" r:id="R93c946ea83714371"/>
    <p:sldId xmlns:r="http://schemas.openxmlformats.org/officeDocument/2006/relationships" id="279" r:id="Rd719cb848a75463f"/>
    <p:sldId xmlns:r="http://schemas.openxmlformats.org/officeDocument/2006/relationships" id="280" r:id="Rfe7c63b6cd744dc2"/>
    <p:sldId xmlns:r="http://schemas.openxmlformats.org/officeDocument/2006/relationships" id="281" r:id="R2a302dda586a4a34"/>
    <p:sldId xmlns:r="http://schemas.openxmlformats.org/officeDocument/2006/relationships" id="282" r:id="Rd33e11addbb84d01"/>
    <p:sldId xmlns:r="http://schemas.openxmlformats.org/officeDocument/2006/relationships" id="283" r:id="R30128e5d40084b0b"/>
    <p:sldId xmlns:r="http://schemas.openxmlformats.org/officeDocument/2006/relationships" id="284" r:id="R4ce2fa9ed23644f2"/>
    <p:sldId xmlns:r="http://schemas.openxmlformats.org/officeDocument/2006/relationships" id="285" r:id="R4670c72cc4804a1b"/>
    <p:sldId xmlns:r="http://schemas.openxmlformats.org/officeDocument/2006/relationships" id="286" r:id="R81b31d6ff22e44b8"/>
    <p:sldId xmlns:r="http://schemas.openxmlformats.org/officeDocument/2006/relationships" id="287" r:id="R637a830510af4d87"/>
    <p:sldId xmlns:r="http://schemas.openxmlformats.org/officeDocument/2006/relationships" id="288" r:id="R8ecbe5ce0b664818"/>
    <p:sldId xmlns:r="http://schemas.openxmlformats.org/officeDocument/2006/relationships" id="289" r:id="R8baa3a1f6b89465f"/>
    <p:sldId xmlns:r="http://schemas.openxmlformats.org/officeDocument/2006/relationships" id="290" r:id="Re677e7e71196401e"/>
    <p:sldId xmlns:r="http://schemas.openxmlformats.org/officeDocument/2006/relationships" id="291" r:id="Rb14eed0df6b04af4"/>
    <p:sldId xmlns:r="http://schemas.openxmlformats.org/officeDocument/2006/relationships" id="292" r:id="R3694643ebaf34c35"/>
    <p:sldId xmlns:r="http://schemas.openxmlformats.org/officeDocument/2006/relationships" id="293" r:id="R3cd6ba8bb91c4858"/>
    <p:sldId xmlns:r="http://schemas.openxmlformats.org/officeDocument/2006/relationships" id="294" r:id="R2088b592208c4eff"/>
    <p:sldId xmlns:r="http://schemas.openxmlformats.org/officeDocument/2006/relationships" id="295" r:id="R0f6f455e03324163"/>
    <p:sldId xmlns:r="http://schemas.openxmlformats.org/officeDocument/2006/relationships" id="296" r:id="Rb49fdb6317c843d0"/>
    <p:sldId xmlns:r="http://schemas.openxmlformats.org/officeDocument/2006/relationships" id="297" r:id="R9f5f3c05658148e1"/>
    <p:sldId xmlns:r="http://schemas.openxmlformats.org/officeDocument/2006/relationships" id="298" r:id="Re8a366850e944731"/>
    <p:sldId xmlns:r="http://schemas.openxmlformats.org/officeDocument/2006/relationships" id="299" r:id="Rc80c0fcecad44e96"/>
    <p:sldId xmlns:r="http://schemas.openxmlformats.org/officeDocument/2006/relationships" id="300" r:id="Rc87f9df2a0294124"/>
    <p:sldId xmlns:r="http://schemas.openxmlformats.org/officeDocument/2006/relationships" id="301" r:id="R648f506be2ce4fb2"/>
    <p:sldId xmlns:r="http://schemas.openxmlformats.org/officeDocument/2006/relationships" id="302" r:id="Ra7c46731a823456d"/>
    <p:sldId xmlns:r="http://schemas.openxmlformats.org/officeDocument/2006/relationships" id="303" r:id="R7d854c99816d4ea1"/>
    <p:sldId xmlns:r="http://schemas.openxmlformats.org/officeDocument/2006/relationships" id="304" r:id="R5003a7352bb84f88"/>
    <p:sldId xmlns:r="http://schemas.openxmlformats.org/officeDocument/2006/relationships" id="305" r:id="R4e446142f3504a2a"/>
    <p:sldId xmlns:r="http://schemas.openxmlformats.org/officeDocument/2006/relationships" id="306" r:id="R687020d34fc34766"/>
  </p:sldIdLst>
  <p:sldSz cx="12192000" cy="6858000"/>
  <p:notesSz cx="6858000" cy="9144000"/>
  <p:embeddedFontLst>
    <p:embeddedFont>
      <p:font typeface="IBM Plex Sans"/>
      <p:regular xmlns:r="http://schemas.openxmlformats.org/officeDocument/2006/relationships" r:id="R8c711a7184034ca8"/>
      <p:bold xmlns:r="http://schemas.openxmlformats.org/officeDocument/2006/relationships" r:id="Rf532706ef5f5441d"/>
      <p:italic xmlns:r="http://schemas.openxmlformats.org/officeDocument/2006/relationships" r:id="R3a52cc6b72644d2b"/>
      <p:boldItalic xmlns:r="http://schemas.openxmlformats.org/officeDocument/2006/relationships" r:id="R3fa6e611074b4667"/>
    </p:embeddedFont>
    <p:embeddedFont>
      <p:font typeface="Source Serif 4"/>
      <p:regular xmlns:r="http://schemas.openxmlformats.org/officeDocument/2006/relationships" r:id="R54435b03f7624501"/>
      <p:bold xmlns:r="http://schemas.openxmlformats.org/officeDocument/2006/relationships" r:id="R32d52ef0055140e4"/>
      <p:italic xmlns:r="http://schemas.openxmlformats.org/officeDocument/2006/relationships" r:id="R1f1ab079dfa9450f"/>
      <p:boldItalic xmlns:r="http://schemas.openxmlformats.org/officeDocument/2006/relationships" r:id="R361fd48242154191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AB13D057-85ED-43D6-BB4A-7C92B5BC83E1}">
  <a:tblStyle styleId="{AB13D057-85ED-43D6-BB4A-7C92B5BC83E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a51f8a562c4c1e" /><Relationship Type="http://schemas.openxmlformats.org/officeDocument/2006/relationships/slideMaster" Target="/ppt/slideMasters/slideMaster1.xml" Id="R5ab155c6fc334141" /><Relationship Type="http://schemas.openxmlformats.org/officeDocument/2006/relationships/notesMaster" Target="/ppt/notesMasters/notesMaster1.xml" Id="R0be03e42f02f4d8b" /><Relationship Type="http://schemas.openxmlformats.org/officeDocument/2006/relationships/presProps" Target="/ppt/presProps.xml" Id="Raca3e5f8d98a4f3d" /><Relationship Type="http://schemas.openxmlformats.org/officeDocument/2006/relationships/tableStyles" Target="/ppt/tableStyles.xml" Id="Rd131b18c33844842" /><Relationship Type="http://schemas.openxmlformats.org/officeDocument/2006/relationships/font" Target="/ppt/fonts/font.dat" Id="R8c711a7184034ca8" /><Relationship Type="http://schemas.openxmlformats.org/officeDocument/2006/relationships/font" Target="/ppt/fonts/font2.dat" Id="Rf532706ef5f5441d" /><Relationship Type="http://schemas.openxmlformats.org/officeDocument/2006/relationships/font" Target="/ppt/fonts/font3.dat" Id="R3a52cc6b72644d2b" /><Relationship Type="http://schemas.openxmlformats.org/officeDocument/2006/relationships/font" Target="/ppt/fonts/font4.dat" Id="R3fa6e611074b4667" /><Relationship Type="http://schemas.openxmlformats.org/officeDocument/2006/relationships/font" Target="/ppt/fonts/font5.dat" Id="R54435b03f7624501" /><Relationship Type="http://schemas.openxmlformats.org/officeDocument/2006/relationships/font" Target="/ppt/fonts/font6.dat" Id="R32d52ef0055140e4" /><Relationship Type="http://schemas.openxmlformats.org/officeDocument/2006/relationships/font" Target="/ppt/fonts/font7.dat" Id="R1f1ab079dfa9450f" /><Relationship Type="http://schemas.openxmlformats.org/officeDocument/2006/relationships/font" Target="/ppt/fonts/font8.dat" Id="R361fd48242154191" /><Relationship Type="http://schemas.openxmlformats.org/officeDocument/2006/relationships/slide" Target="/ppt/slides/slide1.xml" Id="Rbc1481a3d1e04a91" /><Relationship Type="http://schemas.openxmlformats.org/officeDocument/2006/relationships/slide" Target="/ppt/slides/slide2.xml" Id="Re1b110181ccc46b7" /><Relationship Type="http://schemas.openxmlformats.org/officeDocument/2006/relationships/slide" Target="/ppt/slides/slide3.xml" Id="R71abc05323ae4f75" /><Relationship Type="http://schemas.openxmlformats.org/officeDocument/2006/relationships/slide" Target="/ppt/slides/slide4.xml" Id="R84f63d589020406c" /><Relationship Type="http://schemas.openxmlformats.org/officeDocument/2006/relationships/slide" Target="/ppt/slides/slide5.xml" Id="Rc8d8d22a74b243f7" /><Relationship Type="http://schemas.openxmlformats.org/officeDocument/2006/relationships/slide" Target="/ppt/slides/slide6.xml" Id="Rc25eb51136924d4c" /><Relationship Type="http://schemas.openxmlformats.org/officeDocument/2006/relationships/slide" Target="/ppt/slides/slide7.xml" Id="R84ada6e68a444a9d" /><Relationship Type="http://schemas.openxmlformats.org/officeDocument/2006/relationships/slide" Target="/ppt/slides/slide8.xml" Id="R3dcedd28bad3418c" /><Relationship Type="http://schemas.openxmlformats.org/officeDocument/2006/relationships/slide" Target="/ppt/slides/slide9.xml" Id="R76091b8b5ac24ff5" /><Relationship Type="http://schemas.openxmlformats.org/officeDocument/2006/relationships/slide" Target="/ppt/slides/slide10.xml" Id="Racf095aae76a45f0" /><Relationship Type="http://schemas.openxmlformats.org/officeDocument/2006/relationships/slide" Target="/ppt/slides/slide11.xml" Id="R36cf0f22b9f74ce2" /><Relationship Type="http://schemas.openxmlformats.org/officeDocument/2006/relationships/slide" Target="/ppt/slides/slide12.xml" Id="R5d1a8f8cae724fea" /><Relationship Type="http://schemas.openxmlformats.org/officeDocument/2006/relationships/slide" Target="/ppt/slides/slide13.xml" Id="Rf50c86401b7f4881" /><Relationship Type="http://schemas.openxmlformats.org/officeDocument/2006/relationships/slide" Target="/ppt/slides/slide14.xml" Id="R506c91911a1841c5" /><Relationship Type="http://schemas.openxmlformats.org/officeDocument/2006/relationships/slide" Target="/ppt/slides/slide15.xml" Id="R42402e0bafce481f" /><Relationship Type="http://schemas.openxmlformats.org/officeDocument/2006/relationships/slide" Target="/ppt/slides/slide16.xml" Id="Rcf4a23d355ee4302" /><Relationship Type="http://schemas.openxmlformats.org/officeDocument/2006/relationships/slide" Target="/ppt/slides/slide17.xml" Id="R2c0331d925554ddd" /><Relationship Type="http://schemas.openxmlformats.org/officeDocument/2006/relationships/slide" Target="/ppt/slides/slide18.xml" Id="R2db0d55c4c1c4ca2" /><Relationship Type="http://schemas.openxmlformats.org/officeDocument/2006/relationships/slide" Target="/ppt/slides/slide19.xml" Id="R3d3dcd8ecb394280" /><Relationship Type="http://schemas.openxmlformats.org/officeDocument/2006/relationships/slide" Target="/ppt/slides/slide20.xml" Id="Rbdd2a6d75ea7460a" /><Relationship Type="http://schemas.openxmlformats.org/officeDocument/2006/relationships/slide" Target="/ppt/slides/slide21.xml" Id="R49ac925a801c42f3" /><Relationship Type="http://schemas.openxmlformats.org/officeDocument/2006/relationships/slide" Target="/ppt/slides/slide22.xml" Id="R023577c3e3ff40d8" /><Relationship Type="http://schemas.openxmlformats.org/officeDocument/2006/relationships/slide" Target="/ppt/slides/slide23.xml" Id="R93c946ea83714371" /><Relationship Type="http://schemas.openxmlformats.org/officeDocument/2006/relationships/slide" Target="/ppt/slides/slide24.xml" Id="Rd719cb848a75463f" /><Relationship Type="http://schemas.openxmlformats.org/officeDocument/2006/relationships/slide" Target="/ppt/slides/slide25.xml" Id="Rfe7c63b6cd744dc2" /><Relationship Type="http://schemas.openxmlformats.org/officeDocument/2006/relationships/slide" Target="/ppt/slides/slide26.xml" Id="R2a302dda586a4a34" /><Relationship Type="http://schemas.openxmlformats.org/officeDocument/2006/relationships/slide" Target="/ppt/slides/slide27.xml" Id="Rd33e11addbb84d01" /><Relationship Type="http://schemas.openxmlformats.org/officeDocument/2006/relationships/slide" Target="/ppt/slides/slide28.xml" Id="R30128e5d40084b0b" /><Relationship Type="http://schemas.openxmlformats.org/officeDocument/2006/relationships/slide" Target="/ppt/slides/slide29.xml" Id="R4ce2fa9ed23644f2" /><Relationship Type="http://schemas.openxmlformats.org/officeDocument/2006/relationships/slide" Target="/ppt/slides/slide30.xml" Id="R4670c72cc4804a1b" /><Relationship Type="http://schemas.openxmlformats.org/officeDocument/2006/relationships/slide" Target="/ppt/slides/slide31.xml" Id="R81b31d6ff22e44b8" /><Relationship Type="http://schemas.openxmlformats.org/officeDocument/2006/relationships/slide" Target="/ppt/slides/slide32.xml" Id="R637a830510af4d87" /><Relationship Type="http://schemas.openxmlformats.org/officeDocument/2006/relationships/slide" Target="/ppt/slides/slide33.xml" Id="R8ecbe5ce0b664818" /><Relationship Type="http://schemas.openxmlformats.org/officeDocument/2006/relationships/slide" Target="/ppt/slides/slide34.xml" Id="R8baa3a1f6b89465f" /><Relationship Type="http://schemas.openxmlformats.org/officeDocument/2006/relationships/slide" Target="/ppt/slides/slide35.xml" Id="Re677e7e71196401e" /><Relationship Type="http://schemas.openxmlformats.org/officeDocument/2006/relationships/slide" Target="/ppt/slides/slide36.xml" Id="Rb14eed0df6b04af4" /><Relationship Type="http://schemas.openxmlformats.org/officeDocument/2006/relationships/slide" Target="/ppt/slides/slide37.xml" Id="R3694643ebaf34c35" /><Relationship Type="http://schemas.openxmlformats.org/officeDocument/2006/relationships/slide" Target="/ppt/slides/slide38.xml" Id="R3cd6ba8bb91c4858" /><Relationship Type="http://schemas.openxmlformats.org/officeDocument/2006/relationships/slide" Target="/ppt/slides/slide39.xml" Id="R2088b592208c4eff" /><Relationship Type="http://schemas.openxmlformats.org/officeDocument/2006/relationships/slide" Target="/ppt/slides/slide40.xml" Id="R0f6f455e03324163" /><Relationship Type="http://schemas.openxmlformats.org/officeDocument/2006/relationships/slide" Target="/ppt/slides/slide41.xml" Id="Rb49fdb6317c843d0" /><Relationship Type="http://schemas.openxmlformats.org/officeDocument/2006/relationships/slide" Target="/ppt/slides/slide42.xml" Id="R9f5f3c05658148e1" /><Relationship Type="http://schemas.openxmlformats.org/officeDocument/2006/relationships/slide" Target="/ppt/slides/slide43.xml" Id="Re8a366850e944731" /><Relationship Type="http://schemas.openxmlformats.org/officeDocument/2006/relationships/slide" Target="/ppt/slides/slide44.xml" Id="Rc80c0fcecad44e96" /><Relationship Type="http://schemas.openxmlformats.org/officeDocument/2006/relationships/slide" Target="/ppt/slides/slide45.xml" Id="Rc87f9df2a0294124" /><Relationship Type="http://schemas.openxmlformats.org/officeDocument/2006/relationships/slide" Target="/ppt/slides/slide46.xml" Id="R648f506be2ce4fb2" /><Relationship Type="http://schemas.openxmlformats.org/officeDocument/2006/relationships/slide" Target="/ppt/slides/slide47.xml" Id="Ra7c46731a823456d" /><Relationship Type="http://schemas.openxmlformats.org/officeDocument/2006/relationships/slide" Target="/ppt/slides/slide48.xml" Id="R7d854c99816d4ea1" /><Relationship Type="http://schemas.openxmlformats.org/officeDocument/2006/relationships/slide" Target="/ppt/slides/slide49.xml" Id="R5003a7352bb84f88" /><Relationship Type="http://schemas.openxmlformats.org/officeDocument/2006/relationships/slide" Target="/ppt/slides/slide50.xml" Id="R4e446142f3504a2a" /><Relationship Type="http://schemas.openxmlformats.org/officeDocument/2006/relationships/slide" Target="/ppt/slides/slide51.xml" Id="R687020d34fc347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5b39b8f60c47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5cbe659d4942e7" /><Relationship Type="http://schemas.openxmlformats.org/officeDocument/2006/relationships/notesMaster" Target="/ppt/notesMasters/notesMaster1.xml" Id="R8ca082c7170248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53f2167b9b41c9" /><Relationship Type="http://schemas.openxmlformats.org/officeDocument/2006/relationships/notesMaster" Target="/ppt/notesMasters/notesMaster1.xml" Id="Rab60f4401a1643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c0ffb7c0ec4225" /><Relationship Type="http://schemas.openxmlformats.org/officeDocument/2006/relationships/notesMaster" Target="/ppt/notesMasters/notesMaster1.xml" Id="Rba9daad222c345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5062a9639f4420" /><Relationship Type="http://schemas.openxmlformats.org/officeDocument/2006/relationships/notesMaster" Target="/ppt/notesMasters/notesMaster1.xml" Id="Rbdafe249457549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402a9f34fd48e0" /><Relationship Type="http://schemas.openxmlformats.org/officeDocument/2006/relationships/notesMaster" Target="/ppt/notesMasters/notesMaster1.xml" Id="Raf001cb0232c44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754cb68a424f80" /><Relationship Type="http://schemas.openxmlformats.org/officeDocument/2006/relationships/notesMaster" Target="/ppt/notesMasters/notesMaster1.xml" Id="R63d1236cda1e4a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54e11c5e0044b6" /><Relationship Type="http://schemas.openxmlformats.org/officeDocument/2006/relationships/notesMaster" Target="/ppt/notesMasters/notesMaster1.xml" Id="Raab07a0635fc45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239164985548a2" /><Relationship Type="http://schemas.openxmlformats.org/officeDocument/2006/relationships/notesMaster" Target="/ppt/notesMasters/notesMaster1.xml" Id="Rc72e11ea98d449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e4b1fd2fda4d2a" /><Relationship Type="http://schemas.openxmlformats.org/officeDocument/2006/relationships/notesMaster" Target="/ppt/notesMasters/notesMaster1.xml" Id="R25a59906286042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2d2bcbeabe4476" /><Relationship Type="http://schemas.openxmlformats.org/officeDocument/2006/relationships/notesMaster" Target="/ppt/notesMasters/notesMaster1.xml" Id="Rb160feb260f44d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404f38d9c74590" /><Relationship Type="http://schemas.openxmlformats.org/officeDocument/2006/relationships/notesMaster" Target="/ppt/notesMasters/notesMaster1.xml" Id="Rdfd9343bde9a49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c0185812d44e87" /><Relationship Type="http://schemas.openxmlformats.org/officeDocument/2006/relationships/notesMaster" Target="/ppt/notesMasters/notesMaster1.xml" Id="R122e28761a804d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a0e7d306d04681" /><Relationship Type="http://schemas.openxmlformats.org/officeDocument/2006/relationships/notesMaster" Target="/ppt/notesMasters/notesMaster1.xml" Id="Rede3f6911f4448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ab60eee2354e76" /><Relationship Type="http://schemas.openxmlformats.org/officeDocument/2006/relationships/notesMaster" Target="/ppt/notesMasters/notesMaster1.xml" Id="Rc07f827445864e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d0d7f4050f40f6" /><Relationship Type="http://schemas.openxmlformats.org/officeDocument/2006/relationships/notesMaster" Target="/ppt/notesMasters/notesMaster1.xml" Id="Rff745f33d6de4d9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fcd426b7cd4e66" /><Relationship Type="http://schemas.openxmlformats.org/officeDocument/2006/relationships/notesMaster" Target="/ppt/notesMasters/notesMaster1.xml" Id="Rb4939c5503dc450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1301e2ae4bc4ced" /><Relationship Type="http://schemas.openxmlformats.org/officeDocument/2006/relationships/notesMaster" Target="/ppt/notesMasters/notesMaster1.xml" Id="R41012bab5ed044b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4f962cf53b48e5" /><Relationship Type="http://schemas.openxmlformats.org/officeDocument/2006/relationships/notesMaster" Target="/ppt/notesMasters/notesMaster1.xml" Id="Rb540db8eeda14ba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da4ee01d6064a51" /><Relationship Type="http://schemas.openxmlformats.org/officeDocument/2006/relationships/notesMaster" Target="/ppt/notesMasters/notesMaster1.xml" Id="R7ec5017e91a0409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f7f2195ad4741cf" /><Relationship Type="http://schemas.openxmlformats.org/officeDocument/2006/relationships/notesMaster" Target="/ppt/notesMasters/notesMaster1.xml" Id="Rb2153a1d59e644f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657b76cb661453c" /><Relationship Type="http://schemas.openxmlformats.org/officeDocument/2006/relationships/notesMaster" Target="/ppt/notesMasters/notesMaster1.xml" Id="R7c76b23e7de24fb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73017e8f3a44e2d" /><Relationship Type="http://schemas.openxmlformats.org/officeDocument/2006/relationships/notesMaster" Target="/ppt/notesMasters/notesMaster1.xml" Id="R9e892f28db49408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46c3dbb31cc4ec2" /><Relationship Type="http://schemas.openxmlformats.org/officeDocument/2006/relationships/notesMaster" Target="/ppt/notesMasters/notesMaster1.xml" Id="R182ee99eedd6401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95ababbde48403b" /><Relationship Type="http://schemas.openxmlformats.org/officeDocument/2006/relationships/notesMaster" Target="/ppt/notesMasters/notesMaster1.xml" Id="R46c7a080f20b436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764dbd771834e2d" /><Relationship Type="http://schemas.openxmlformats.org/officeDocument/2006/relationships/notesMaster" Target="/ppt/notesMasters/notesMaster1.xml" Id="Raeaed862f12c433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b9d56678d3d415c" /><Relationship Type="http://schemas.openxmlformats.org/officeDocument/2006/relationships/notesMaster" Target="/ppt/notesMasters/notesMaster1.xml" Id="Ra73244dd22614be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c379fe5f1be45d2" /><Relationship Type="http://schemas.openxmlformats.org/officeDocument/2006/relationships/notesMaster" Target="/ppt/notesMasters/notesMaster1.xml" Id="Rd04e11af057d406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7d575bfe7d04667" /><Relationship Type="http://schemas.openxmlformats.org/officeDocument/2006/relationships/notesMaster" Target="/ppt/notesMasters/notesMaster1.xml" Id="R6bef07672fd541a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33eeb31ad374a1f" /><Relationship Type="http://schemas.openxmlformats.org/officeDocument/2006/relationships/notesMaster" Target="/ppt/notesMasters/notesMaster1.xml" Id="R881ef29f2c4745a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29a945470f54b11" /><Relationship Type="http://schemas.openxmlformats.org/officeDocument/2006/relationships/notesMaster" Target="/ppt/notesMasters/notesMaster1.xml" Id="Rce745c20224a47d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1341496f54d447c" /><Relationship Type="http://schemas.openxmlformats.org/officeDocument/2006/relationships/notesMaster" Target="/ppt/notesMasters/notesMaster1.xml" Id="Ra466159872244d9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9bc4859396a4bf5" /><Relationship Type="http://schemas.openxmlformats.org/officeDocument/2006/relationships/notesMaster" Target="/ppt/notesMasters/notesMaster1.xml" Id="Reb70809b2b894d5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e9148c8f4084240" /><Relationship Type="http://schemas.openxmlformats.org/officeDocument/2006/relationships/notesMaster" Target="/ppt/notesMasters/notesMaster1.xml" Id="Re4f2bb63a004407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d5f8afa18cc4fe1" /><Relationship Type="http://schemas.openxmlformats.org/officeDocument/2006/relationships/notesMaster" Target="/ppt/notesMasters/notesMaster1.xml" Id="Rb25806c26afc410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0faae0e1c3c4064" /><Relationship Type="http://schemas.openxmlformats.org/officeDocument/2006/relationships/notesMaster" Target="/ppt/notesMasters/notesMaster1.xml" Id="Rac7282b8d32643b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b9f99e3b64d4352" /><Relationship Type="http://schemas.openxmlformats.org/officeDocument/2006/relationships/notesMaster" Target="/ppt/notesMasters/notesMaster1.xml" Id="Ra36f034012cc4bd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64100e8be3046c3" /><Relationship Type="http://schemas.openxmlformats.org/officeDocument/2006/relationships/notesMaster" Target="/ppt/notesMasters/notesMaster1.xml" Id="Rc384e847a7a646c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0d4b5b3e3344b70" /><Relationship Type="http://schemas.openxmlformats.org/officeDocument/2006/relationships/notesMaster" Target="/ppt/notesMasters/notesMaster1.xml" Id="R051d430d2247470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f90b4c0996b49f9" /><Relationship Type="http://schemas.openxmlformats.org/officeDocument/2006/relationships/notesMaster" Target="/ppt/notesMasters/notesMaster1.xml" Id="R98c5ce1cd1ed458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7308855f7a54b87" /><Relationship Type="http://schemas.openxmlformats.org/officeDocument/2006/relationships/notesMaster" Target="/ppt/notesMasters/notesMaster1.xml" Id="Rebdcf5afc06a4b2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7e0206960394343" /><Relationship Type="http://schemas.openxmlformats.org/officeDocument/2006/relationships/notesMaster" Target="/ppt/notesMasters/notesMaster1.xml" Id="R2ccd815b020d4ba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a61e4a0f0574679" /><Relationship Type="http://schemas.openxmlformats.org/officeDocument/2006/relationships/notesMaster" Target="/ppt/notesMasters/notesMaster1.xml" Id="R28b107340ba44ef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b9687363cab4fe9" /><Relationship Type="http://schemas.openxmlformats.org/officeDocument/2006/relationships/notesMaster" Target="/ppt/notesMasters/notesMaster1.xml" Id="Re2253984e656414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5f7bd5ba074422f" /><Relationship Type="http://schemas.openxmlformats.org/officeDocument/2006/relationships/notesMaster" Target="/ppt/notesMasters/notesMaster1.xml" Id="R6171ce79efbe41f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a97cffd6c7a4ffa" /><Relationship Type="http://schemas.openxmlformats.org/officeDocument/2006/relationships/notesMaster" Target="/ppt/notesMasters/notesMaster1.xml" Id="R808623e309384f5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85ab58c8b774453" /><Relationship Type="http://schemas.openxmlformats.org/officeDocument/2006/relationships/notesMaster" Target="/ppt/notesMasters/notesMaster1.xml" Id="Rb2aa8dc304d9413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b73dfdd1ab84591" /><Relationship Type="http://schemas.openxmlformats.org/officeDocument/2006/relationships/notesMaster" Target="/ppt/notesMasters/notesMaster1.xml" Id="Rf0f470834b20462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0211d58f87f4c4c" /><Relationship Type="http://schemas.openxmlformats.org/officeDocument/2006/relationships/notesMaster" Target="/ppt/notesMasters/notesMaster1.xml" Id="R904b9bf791a8430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3fca8f4d7c64945" /><Relationship Type="http://schemas.openxmlformats.org/officeDocument/2006/relationships/notesMaster" Target="/ppt/notesMasters/notesMaster1.xml" Id="Refaf891bdad04ef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6dd9bd022744da8" /><Relationship Type="http://schemas.openxmlformats.org/officeDocument/2006/relationships/notesMaster" Target="/ppt/notesMasters/notesMaster1.xml" Id="R948edfa641bb4d8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4cf5f73625f4bec" /><Relationship Type="http://schemas.openxmlformats.org/officeDocument/2006/relationships/notesMaster" Target="/ppt/notesMasters/notesMaster1.xml" Id="R8044e0857e9c42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[1] Ramakrishnan et al. 2014 (QM9) · [4] Stark et al. 2024 (DeepFlyBrain)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[1] Ramakrishnan et al. 2014 · [2] Hoogeboom et al. 2022 · [4] Stark et al. 2024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[2] Hoogeboom et al. 2022 (stability) · [4] Stark et al. 2024 (DNA) · [9] Satorras et al. 2021 (EGNN)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[6] Lipman et al. 2022 · [7] Liu et al. 2022 · [8] Albergo et al. 2025 · implementation: train_fm.py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[6] Lipman et al. 2022 (FM) · [9] Satorras et al. 2021 (EGNN) · recorded training/checkpoint metadata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[9] Satorras et al. 2021 · [10] Song et al. 2021 · checkpoint and 18 benchmark cells measured in this work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Registered QM9 protocol · transfer_sweep.py:2382–2426 · verified data/qm9.pt validation masks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Measured QM9 train_a: 51,527 molecules · fixed targets and calibration widths from audited cells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protocol and checkpoint metadata (this work) · [9] Satorras et al. 2021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[2] Hoogeboom et al. 2022 · [24] Song et al. 2023 (EquiFM) · [15] Ye et al. 2024 (EDMsecond release)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[12] Chung et al. 2023 (DPS-style adaptation) · original implemented Gaussian-energy guidance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[12] Chung et al. 2023 · results/v3/{fm,vp}/v3/n2000, audited in paper v9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[12] Chung 2023 · [15] Ye 2024 · [22] Boys 2024 · [23] Song 2023 · related batch/moment work [16–21]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formulation and algebra (paper v9) · reduction checks in proj1/tests/test_bdg.py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measurements · results/v3/{fm,equifm}/v3abl/n2000 · pooled decoded property SD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Paper v9 Table 2 · results/v3/fm/v3abl/n2000 · full FM and EquiFM grids in appendix A8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analysis · paper v9 Tables 2, S4–S5 and full 612-cell molecular ablation grid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[12] Chung 2023 (DPS) · [22] Boys 2024 (TMPD) · [23] Song 2023 (LGD-MC) · [15] Ye 2024 (TFG)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[12] Chung et al. 2023 · [22] Boys et al. 2024 · [23] Song et al. 2023 · [15] Ye et al. 2024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[4] Stark et al. 2024 (DeepFlyBrain / Dirichlet FM) · proj1/m2/simplex_fm.py · original BDG transfer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Measured DeepFlyBrain training distribution: 83,722 sequences · exact GC and CpG counts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measured results · m2win: cfc5d64 (28 Sep 22:47) · CpG: original m2 cells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decoded contrasts, paper v9 · bars show mean differences · paired seed SD reported alongside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diagnostics · paper v9 · results/v3 and results/m2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conclusions from two flow backbones and two modalities (paper v9)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[24] Song et al. 2023 (EquiFM) · [2] Hoogeboom et al. 2022 · released checkpoint audit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[24] Song et al. 2023 · [15] Ye et al. 2024 · transfer_sweep.py EquiFM backend and calibration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https://proceedings.mlr.press/v139/satorras21a.html (EGNN original paper). Our implementation: proj1/src/models/egnn.py.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[9] Satorras et al. 2021 · proj1/src/models/egnn.py:58–106 (our masked implementation)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[9] Satorras et al. 2021 · egnn.py: EGNNVelocity and EGNNScalar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[9] Satorras et al. 2021 · predictor training and calibration audit · [15] Ye et al. 2024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QM9 split seed 20260917 · transfer_sweep.py:2382–2426 · first 2,000 validation masks in data/qm9.pt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[12] Chung et al. 2023 · [22] Boys et al. 2024 · [23] Song et al. 2023 · [15] Ye et al. 2024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Recorded cost fields · our FM, μ, w = 1, 2,000-molecule cell · paper v9 cost table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algorithm · proj1/src/guidance.py and proj1/tests/test_bdg.py · η = 0 verified on our FM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[4] Stark et al. 2024 · our implementation: proj1/m2/simplex_fm.py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DNA protocol · paper v9 Appendix: Sequence Transfer and Failure Diagnostics · results/m2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evaluation.py:73–95 · [2] Hoogeboom et al. 2022 (EDM bond-length tables, picometres)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evaluation.py: atom stability, to_smiles and evaluate_molecules · [2] Hoogeboom et al. 2022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306-cell fm ablation grid · all values decoded · paper v9 appendix tables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306-cell equifm ablation grid · all values decoded · paper v9 appendix tables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All four guidance adaptations on our DNA backbone · same evaluator and decoding as the w = 4 main table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cfc5d64 / f568f68, 28 Sep 22:47 · results/m2/m2win/n2000 · earlier window diagnosed before follow-up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m2 cells · both GC and CpG use t ≥ 0.5; separate from m2win follow-up</a:t>
            </a:r>
          </a:p>
          <a:p xmlns:a="http://schemas.openxmlformats.org/drawingml/2006/main">
            <a:r>
              <a:t>Local evidence: paper/main.tex (v9), paper/results_manifest_v9.json; original implementation in proj1/.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68bcc374d04651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653978ae0c4b3a" /><Relationship Type="http://schemas.openxmlformats.org/officeDocument/2006/relationships/slideLayout" Target="/ppt/slideLayouts/slideLayout1.xml" Id="R6121956d70774e0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21956d70774e0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d40e263ea459b" /><Relationship Type="http://schemas.openxmlformats.org/officeDocument/2006/relationships/notesSlide" Target="/ppt/notesSlides/notesSlide1.xml" Id="R39cfd4a1b16e43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d21e8cbca4ff1" /><Relationship Type="http://schemas.openxmlformats.org/officeDocument/2006/relationships/notesSlide" Target="/ppt/notesSlides/notesSlide2.xml" Id="Rdd633e68eaae43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ef5aa8a2a495b" /><Relationship Type="http://schemas.openxmlformats.org/officeDocument/2006/relationships/notesSlide" Target="/ppt/notesSlides/notesSlide3.xml" Id="Ra30c3c73f7aa42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0c2f8b33a458d" /><Relationship Type="http://schemas.openxmlformats.org/officeDocument/2006/relationships/notesSlide" Target="/ppt/notesSlides/notesSlide4.xml" Id="R3a87296f45d64f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e90cecd184a2a" /><Relationship Type="http://schemas.openxmlformats.org/officeDocument/2006/relationships/notesSlide" Target="/ppt/notesSlides/notesSlide5.xml" Id="R404dc11fbb3346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970dc976e4cbe" /><Relationship Type="http://schemas.openxmlformats.org/officeDocument/2006/relationships/notesSlide" Target="/ppt/notesSlides/notesSlide6.xml" Id="R5370844a81e54b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cfc7bea05480a" /><Relationship Type="http://schemas.openxmlformats.org/officeDocument/2006/relationships/image" Target="/ppt/media/image.png" Id="R02e49d45bded4270" /><Relationship Type="http://schemas.openxmlformats.org/officeDocument/2006/relationships/image" Target="/ppt/media/image2.png" Id="R06a222a584644a19" /><Relationship Type="http://schemas.openxmlformats.org/officeDocument/2006/relationships/image" Target="/ppt/media/image3.png" Id="Rccb8991ab62d461a" /><Relationship Type="http://schemas.openxmlformats.org/officeDocument/2006/relationships/image" Target="/ppt/media/image4.png" Id="Rbe5404e29c514d16" /><Relationship Type="http://schemas.openxmlformats.org/officeDocument/2006/relationships/image" Target="/ppt/media/image5.png" Id="Rff4faeb4be954066" /><Relationship Type="http://schemas.openxmlformats.org/officeDocument/2006/relationships/notesSlide" Target="/ppt/notesSlides/notesSlide7.xml" Id="Rc1b1f824000b4b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9a25b931e4dd3" /><Relationship Type="http://schemas.openxmlformats.org/officeDocument/2006/relationships/notesSlide" Target="/ppt/notesSlides/notesSlide8.xml" Id="Rb592226b9aaf4b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3fd838e304c86" /><Relationship Type="http://schemas.openxmlformats.org/officeDocument/2006/relationships/notesSlide" Target="/ppt/notesSlides/notesSlide9.xml" Id="R92a1828647c14d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3fbd0498a4731" /><Relationship Type="http://schemas.openxmlformats.org/officeDocument/2006/relationships/chart" Target="/ppt/slides/charts/chart1.xml" Id="Rdc71de4c8dce46af" /><Relationship Type="http://schemas.openxmlformats.org/officeDocument/2006/relationships/chart" Target="/ppt/slides/charts/chart2.xml" Id="Rea6bbd0ad92d42c7" /><Relationship Type="http://schemas.openxmlformats.org/officeDocument/2006/relationships/chart" Target="/ppt/slides/charts/chart3.xml" Id="R30c19ddbbb97443c" /><Relationship Type="http://schemas.openxmlformats.org/officeDocument/2006/relationships/notesSlide" Target="/ppt/notesSlides/notesSlide10.xml" Id="Ra0058f60f5d441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f1ac7b47c485e" /><Relationship Type="http://schemas.openxmlformats.org/officeDocument/2006/relationships/notesSlide" Target="/ppt/notesSlides/notesSlide11.xml" Id="R84879999ecca4c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f8026e93645e8" /><Relationship Type="http://schemas.openxmlformats.org/officeDocument/2006/relationships/image" Target="/ppt/media/image6.png" Id="Rb4997cc975574aa2" /><Relationship Type="http://schemas.openxmlformats.org/officeDocument/2006/relationships/notesSlide" Target="/ppt/notesSlides/notesSlide12.xml" Id="R3989af20d4eb4a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314b764a946d5" /><Relationship Type="http://schemas.openxmlformats.org/officeDocument/2006/relationships/notesSlide" Target="/ppt/notesSlides/notesSlide13.xml" Id="R6e6c3f1c7bf445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8b1591bfd4458" /><Relationship Type="http://schemas.openxmlformats.org/officeDocument/2006/relationships/notesSlide" Target="/ppt/notesSlides/notesSlide14.xml" Id="Ra9058ea3c1bd4f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b503d0b2a4abc" /><Relationship Type="http://schemas.openxmlformats.org/officeDocument/2006/relationships/notesSlide" Target="/ppt/notesSlides/notesSlide15.xml" Id="R7bdea62352c2486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7e53ea45144fc" /><Relationship Type="http://schemas.openxmlformats.org/officeDocument/2006/relationships/notesSlide" Target="/ppt/notesSlides/notesSlide16.xml" Id="R02117672a86b45d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05b2e2aaa4cc9" /><Relationship Type="http://schemas.openxmlformats.org/officeDocument/2006/relationships/image" Target="/ppt/media/image7.png" Id="R1b51aed06e8c4175" /><Relationship Type="http://schemas.openxmlformats.org/officeDocument/2006/relationships/notesSlide" Target="/ppt/notesSlides/notesSlide17.xml" Id="R4513b97a613e485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54f284c0d4593" /><Relationship Type="http://schemas.openxmlformats.org/officeDocument/2006/relationships/notesSlide" Target="/ppt/notesSlides/notesSlide18.xml" Id="R9b30e6f5725c4c1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8a16d41c04f7a" /><Relationship Type="http://schemas.openxmlformats.org/officeDocument/2006/relationships/chart" Target="/ppt/slides/charts/chart4.xml" Id="Rc27b85bccc064569" /><Relationship Type="http://schemas.openxmlformats.org/officeDocument/2006/relationships/chart" Target="/ppt/slides/charts/chart5.xml" Id="R20ff01a44349411b" /><Relationship Type="http://schemas.openxmlformats.org/officeDocument/2006/relationships/notesSlide" Target="/ppt/notesSlides/notesSlide19.xml" Id="R1a9eb52b3aec46a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c782baf914564" /><Relationship Type="http://schemas.openxmlformats.org/officeDocument/2006/relationships/notesSlide" Target="/ppt/notesSlides/notesSlide20.xml" Id="R2f9b0f8ae492494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01d15dbc843cd" /><Relationship Type="http://schemas.openxmlformats.org/officeDocument/2006/relationships/notesSlide" Target="/ppt/notesSlides/notesSlide21.xml" Id="R9764648d4df3499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96c3bcdaa4f30" /><Relationship Type="http://schemas.openxmlformats.org/officeDocument/2006/relationships/notesSlide" Target="/ppt/notesSlides/notesSlide22.xml" Id="Rb8eaa275a0574ed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8bb8b70844d90" /><Relationship Type="http://schemas.openxmlformats.org/officeDocument/2006/relationships/notesSlide" Target="/ppt/notesSlides/notesSlide23.xml" Id="R57ba7bf0d1ad4d0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67a1dde0c4582" /><Relationship Type="http://schemas.openxmlformats.org/officeDocument/2006/relationships/notesSlide" Target="/ppt/notesSlides/notesSlide24.xml" Id="R6b01a9a90e3848a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553b22b7c424f" /><Relationship Type="http://schemas.openxmlformats.org/officeDocument/2006/relationships/chart" Target="/ppt/slides/charts/chart6.xml" Id="R0942e4b386804b3f" /><Relationship Type="http://schemas.openxmlformats.org/officeDocument/2006/relationships/chart" Target="/ppt/slides/charts/chart7.xml" Id="Rec9e5d8975b04578" /><Relationship Type="http://schemas.openxmlformats.org/officeDocument/2006/relationships/notesSlide" Target="/ppt/notesSlides/notesSlide25.xml" Id="Rc31a92ade39a427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917fd86ce4118" /><Relationship Type="http://schemas.openxmlformats.org/officeDocument/2006/relationships/notesSlide" Target="/ppt/notesSlides/notesSlide26.xml" Id="R7ab54f40b4724cf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f20dcaa7f485d" /><Relationship Type="http://schemas.openxmlformats.org/officeDocument/2006/relationships/chart" Target="/ppt/slides/charts/chart8.xml" Id="Ra54b6fb7b6634227" /><Relationship Type="http://schemas.openxmlformats.org/officeDocument/2006/relationships/notesSlide" Target="/ppt/notesSlides/notesSlide27.xml" Id="R16de334d8cf9403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1f2ba9a5d43c9" /><Relationship Type="http://schemas.openxmlformats.org/officeDocument/2006/relationships/notesSlide" Target="/ppt/notesSlides/notesSlide28.xml" Id="R55b057e38ae84c5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a8d8e5366483b" /><Relationship Type="http://schemas.openxmlformats.org/officeDocument/2006/relationships/notesSlide" Target="/ppt/notesSlides/notesSlide29.xml" Id="R0383491e4517456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0b375be664181" /><Relationship Type="http://schemas.openxmlformats.org/officeDocument/2006/relationships/notesSlide" Target="/ppt/notesSlides/notesSlide30.xml" Id="Rd82591d2b956427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f0585b46a4a7c" /><Relationship Type="http://schemas.openxmlformats.org/officeDocument/2006/relationships/notesSlide" Target="/ppt/notesSlides/notesSlide31.xml" Id="R7005751b3ce14a2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57480da65437e" /><Relationship Type="http://schemas.openxmlformats.org/officeDocument/2006/relationships/notesSlide" Target="/ppt/notesSlides/notesSlide32.xml" Id="Rd93d4040b67d4d5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e3d934c374b22" /><Relationship Type="http://schemas.openxmlformats.org/officeDocument/2006/relationships/notesSlide" Target="/ppt/notesSlides/notesSlide33.xml" Id="R872bf88c3632413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c60d44dea4887" /><Relationship Type="http://schemas.openxmlformats.org/officeDocument/2006/relationships/notesSlide" Target="/ppt/notesSlides/notesSlide34.xml" Id="R281c4606209d40d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511cd24334eb0" /><Relationship Type="http://schemas.openxmlformats.org/officeDocument/2006/relationships/notesSlide" Target="/ppt/notesSlides/notesSlide35.xml" Id="Rcba384e3fdfb499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97234d25d469f" /><Relationship Type="http://schemas.openxmlformats.org/officeDocument/2006/relationships/notesSlide" Target="/ppt/notesSlides/notesSlide36.xml" Id="Rb9bd18cfc50d403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c71908cb84146" /><Relationship Type="http://schemas.openxmlformats.org/officeDocument/2006/relationships/notesSlide" Target="/ppt/notesSlides/notesSlide37.xml" Id="R78c8882468dc407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5c66874e145e8" /><Relationship Type="http://schemas.openxmlformats.org/officeDocument/2006/relationships/notesSlide" Target="/ppt/notesSlides/notesSlide38.xml" Id="R695096901555442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00981c8cf4983" /><Relationship Type="http://schemas.openxmlformats.org/officeDocument/2006/relationships/notesSlide" Target="/ppt/notesSlides/notesSlide39.xml" Id="R4df8e0dd7f7047f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b289b1d1448ed" /><Relationship Type="http://schemas.openxmlformats.org/officeDocument/2006/relationships/notesSlide" Target="/ppt/notesSlides/notesSlide40.xml" Id="Rf8231638e94d458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6722d1b90409a" /><Relationship Type="http://schemas.openxmlformats.org/officeDocument/2006/relationships/notesSlide" Target="/ppt/notesSlides/notesSlide41.xml" Id="R48223f50a7d64e2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4a8aa3df24fa3" /><Relationship Type="http://schemas.openxmlformats.org/officeDocument/2006/relationships/notesSlide" Target="/ppt/notesSlides/notesSlide42.xml" Id="Reb43a7414753494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76f70f2a74243" /><Relationship Type="http://schemas.openxmlformats.org/officeDocument/2006/relationships/notesSlide" Target="/ppt/notesSlides/notesSlide43.xml" Id="Red3ece7450004c3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6b6b2080544a4" /><Relationship Type="http://schemas.openxmlformats.org/officeDocument/2006/relationships/notesSlide" Target="/ppt/notesSlides/notesSlide44.xml" Id="R61d8952bd5fb478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c842d695b44bf" /><Relationship Type="http://schemas.openxmlformats.org/officeDocument/2006/relationships/notesSlide" Target="/ppt/notesSlides/notesSlide45.xml" Id="R57b1caab832c402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75e91bf354b12" /><Relationship Type="http://schemas.openxmlformats.org/officeDocument/2006/relationships/notesSlide" Target="/ppt/notesSlides/notesSlide46.xml" Id="R9d27de3f4fa8442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569677c8247c4" /><Relationship Type="http://schemas.openxmlformats.org/officeDocument/2006/relationships/notesSlide" Target="/ppt/notesSlides/notesSlide47.xml" Id="R5c6aa960e083413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67225e6904a0b" /><Relationship Type="http://schemas.openxmlformats.org/officeDocument/2006/relationships/notesSlide" Target="/ppt/notesSlides/notesSlide48.xml" Id="R125da40637a747a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8e6b4c2ad489f" /><Relationship Type="http://schemas.openxmlformats.org/officeDocument/2006/relationships/notesSlide" Target="/ppt/notesSlides/notesSlide49.xml" Id="Rc8b634c92785443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ae26febcb493f" /><Relationship Type="http://schemas.openxmlformats.org/officeDocument/2006/relationships/notesSlide" Target="/ppt/notesSlides/notesSlide50.xml" Id="Reaad695d1df6430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cdcae501c4a4b" /><Relationship Type="http://schemas.openxmlformats.org/officeDocument/2006/relationships/notesSlide" Target="/ppt/notesSlides/notesSlide51.xml" Id="R800fd87d4ad74900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latin typeface="IBM Plex Sans"/>
                <a:ea typeface="IBM Plex Sans"/>
                <a:cs typeface="IBM Plex Sans"/>
              </a:rPr>
              <a:t>Dipole μ (D)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latin typeface="IBM Plex Sans"/>
              <a:ea typeface="IBM Plex Sans"/>
              <a:cs typeface="IBM Plex Sans"/>
            </a:defRPr>
          </a:pPr>
        </a:p>
      </c:txPr>
    </c:title>
    <c:plotArea>
      <c:scatterChart>
        <c:scatterStyle val="line"/>
        <c:ser>
          <c:idx val="0"/>
          <c:order val="0"/>
          <c:tx>
            <c:v>Training histogram</c:v>
          </c:tx>
          <c:spPr>
            <a:ln xmlns:a="http://schemas.openxmlformats.org/drawingml/2006/main" w="17145">
              <a:solidFill>
                <a:srgbClr val="215FA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28"/>
              <c:pt idx="0">
                <c:v>0</c:v>
              </c:pt>
              <c:pt idx="1">
                <c:v>0.39378437399864197</c:v>
              </c:pt>
              <c:pt idx="2">
                <c:v>0.39378437399864197</c:v>
              </c:pt>
              <c:pt idx="3">
                <c:v>0.7875687479972839</c:v>
              </c:pt>
              <c:pt idx="4">
                <c:v>0.7875687479972839</c:v>
              </c:pt>
              <c:pt idx="5">
                <c:v>1.1813530921936035</c:v>
              </c:pt>
              <c:pt idx="6">
                <c:v>1.1813530921936035</c:v>
              </c:pt>
              <c:pt idx="7">
                <c:v>1.5751374959945679</c:v>
              </c:pt>
              <c:pt idx="8">
                <c:v>1.5751374959945679</c:v>
              </c:pt>
              <c:pt idx="9">
                <c:v>1.9689218997955322</c:v>
              </c:pt>
              <c:pt idx="10">
                <c:v>1.9689218997955322</c:v>
              </c:pt>
              <c:pt idx="11">
                <c:v>2.362706184387207</c:v>
              </c:pt>
              <c:pt idx="12">
                <c:v>2.362706184387207</c:v>
              </c:pt>
              <c:pt idx="13">
                <c:v>2.756490707397461</c:v>
              </c:pt>
              <c:pt idx="14">
                <c:v>2.756490707397461</c:v>
              </c:pt>
              <c:pt idx="15">
                <c:v>3.1502749919891357</c:v>
              </c:pt>
              <c:pt idx="16">
                <c:v>3.1502749919891357</c:v>
              </c:pt>
              <c:pt idx="17">
                <c:v>3.5440592765808105</c:v>
              </c:pt>
              <c:pt idx="18">
                <c:v>3.5440592765808105</c:v>
              </c:pt>
              <c:pt idx="19">
                <c:v>3.9378437995910645</c:v>
              </c:pt>
              <c:pt idx="20">
                <c:v>3.9378437995910645</c:v>
              </c:pt>
              <c:pt idx="21">
                <c:v>4.331628322601318</c:v>
              </c:pt>
              <c:pt idx="22">
                <c:v>4.331628322601318</c:v>
              </c:pt>
              <c:pt idx="23">
                <c:v>4.725412368774414</c:v>
              </c:pt>
              <c:pt idx="24">
                <c:v>4.725412368774414</c:v>
              </c:pt>
              <c:pt idx="25">
                <c:v>5.119196891784668</c:v>
              </c:pt>
              <c:pt idx="26">
                <c:v>5.119196891784668</c:v>
              </c:pt>
              <c:pt idx="27">
                <c:v>5.512981414794922</c:v>
              </c:pt>
              <c:pt idx="28">
                <c:v>5.512981414794922</c:v>
              </c:pt>
              <c:pt idx="29">
                <c:v>5.906765460968018</c:v>
              </c:pt>
              <c:pt idx="30">
                <c:v>5.906765460968018</c:v>
              </c:pt>
              <c:pt idx="31">
                <c:v>6.3005499839782715</c:v>
              </c:pt>
              <c:pt idx="32">
                <c:v>6.3005499839782715</c:v>
              </c:pt>
              <c:pt idx="33">
                <c:v>6.694334506988525</c:v>
              </c:pt>
              <c:pt idx="34">
                <c:v>6.694334506988525</c:v>
              </c:pt>
              <c:pt idx="35">
                <c:v>7.088118553161621</c:v>
              </c:pt>
              <c:pt idx="36">
                <c:v>7.088118553161621</c:v>
              </c:pt>
              <c:pt idx="37">
                <c:v>7.481903076171875</c:v>
              </c:pt>
              <c:pt idx="38">
                <c:v>7.481903076171875</c:v>
              </c:pt>
              <c:pt idx="39">
                <c:v>7.875687599182129</c:v>
              </c:pt>
              <c:pt idx="40">
                <c:v>7.875687599182129</c:v>
              </c:pt>
              <c:pt idx="41">
                <c:v>8.269472122192383</c:v>
              </c:pt>
              <c:pt idx="42">
                <c:v>8.269472122192383</c:v>
              </c:pt>
              <c:pt idx="43">
                <c:v>8.663256645202637</c:v>
              </c:pt>
              <c:pt idx="44">
                <c:v>8.663256645202637</c:v>
              </c:pt>
              <c:pt idx="45">
                <c:v>9.057040214538574</c:v>
              </c:pt>
              <c:pt idx="46">
                <c:v>9.057040214538574</c:v>
              </c:pt>
              <c:pt idx="47">
                <c:v>9.450824737548828</c:v>
              </c:pt>
              <c:pt idx="48">
                <c:v>9.450824737548828</c:v>
              </c:pt>
              <c:pt idx="49">
                <c:v>9.844609260559082</c:v>
              </c:pt>
              <c:pt idx="50">
                <c:v>9.844609260559082</c:v>
              </c:pt>
              <c:pt idx="51">
                <c:v>10.238393783569336</c:v>
              </c:pt>
              <c:pt idx="52">
                <c:v>10.238393783569336</c:v>
              </c:pt>
              <c:pt idx="53">
                <c:v>10.63217830657959</c:v>
              </c:pt>
              <c:pt idx="54">
                <c:v>10.63217830657959</c:v>
              </c:pt>
              <c:pt idx="55">
                <c:v>11.025962829589844</c:v>
              </c:pt>
              <c:pt idx="56">
                <c:v>11.025962829589844</c:v>
              </c:pt>
              <c:pt idx="57">
                <c:v>11.419746398925781</c:v>
              </c:pt>
              <c:pt idx="58">
                <c:v>11.419746398925781</c:v>
              </c:pt>
              <c:pt idx="59">
                <c:v>11.813530921936035</c:v>
              </c:pt>
              <c:pt idx="60">
                <c:v>11.813530921936035</c:v>
              </c:pt>
              <c:pt idx="61">
                <c:v>12.207315444946289</c:v>
              </c:pt>
              <c:pt idx="62">
                <c:v>12.207315444946289</c:v>
              </c:pt>
              <c:pt idx="63">
                <c:v>12.601099967956543</c:v>
              </c:pt>
              <c:pt idx="64">
                <c:v>12.601099967956543</c:v>
              </c:pt>
              <c:pt idx="65">
                <c:v>12.994884490966797</c:v>
              </c:pt>
              <c:pt idx="66">
                <c:v>12.994884490966797</c:v>
              </c:pt>
              <c:pt idx="67">
                <c:v>13.38866901397705</c:v>
              </c:pt>
              <c:pt idx="68">
                <c:v>13.38866901397705</c:v>
              </c:pt>
              <c:pt idx="69">
                <c:v>13.782453536987305</c:v>
              </c:pt>
              <c:pt idx="70">
                <c:v>13.782453536987305</c:v>
              </c:pt>
              <c:pt idx="71">
                <c:v>14.176237106323242</c:v>
              </c:pt>
              <c:pt idx="72">
                <c:v>14.176237106323242</c:v>
              </c:pt>
              <c:pt idx="73">
                <c:v>14.570021629333496</c:v>
              </c:pt>
              <c:pt idx="74">
                <c:v>14.570021629333496</c:v>
              </c:pt>
              <c:pt idx="75">
                <c:v>14.96380615234375</c:v>
              </c:pt>
              <c:pt idx="76">
                <c:v>14.96380615234375</c:v>
              </c:pt>
              <c:pt idx="77">
                <c:v>15.357590675354004</c:v>
              </c:pt>
              <c:pt idx="78">
                <c:v>15.357590675354004</c:v>
              </c:pt>
              <c:pt idx="79">
                <c:v>15.751375198364258</c:v>
              </c:pt>
              <c:pt idx="80">
                <c:v>15.751375198364258</c:v>
              </c:pt>
              <c:pt idx="81">
                <c:v>16.145158767700195</c:v>
              </c:pt>
              <c:pt idx="82">
                <c:v>16.145158767700195</c:v>
              </c:pt>
              <c:pt idx="83">
                <c:v>16.538944244384766</c:v>
              </c:pt>
              <c:pt idx="84">
                <c:v>16.538944244384766</c:v>
              </c:pt>
              <c:pt idx="85">
                <c:v>16.932727813720703</c:v>
              </c:pt>
              <c:pt idx="86">
                <c:v>16.932727813720703</c:v>
              </c:pt>
              <c:pt idx="87">
                <c:v>17.326513290405273</c:v>
              </c:pt>
              <c:pt idx="88">
                <c:v>17.326513290405273</c:v>
              </c:pt>
              <c:pt idx="89">
                <c:v>17.72029685974121</c:v>
              </c:pt>
              <c:pt idx="90">
                <c:v>17.72029685974121</c:v>
              </c:pt>
              <c:pt idx="91">
                <c:v>18.11408042907715</c:v>
              </c:pt>
              <c:pt idx="92">
                <c:v>18.11408042907715</c:v>
              </c:pt>
              <c:pt idx="93">
                <c:v>18.50786590576172</c:v>
              </c:pt>
              <c:pt idx="94">
                <c:v>18.50786590576172</c:v>
              </c:pt>
              <c:pt idx="95">
                <c:v>18.901649475097656</c:v>
              </c:pt>
              <c:pt idx="96">
                <c:v>18.901649475097656</c:v>
              </c:pt>
              <c:pt idx="97">
                <c:v>19.295434951782227</c:v>
              </c:pt>
              <c:pt idx="98">
                <c:v>19.295434951782227</c:v>
              </c:pt>
              <c:pt idx="99">
                <c:v>19.689218521118164</c:v>
              </c:pt>
              <c:pt idx="100">
                <c:v>19.689218521118164</c:v>
              </c:pt>
              <c:pt idx="101">
                <c:v>20.083003997802734</c:v>
              </c:pt>
              <c:pt idx="102">
                <c:v>20.083003997802734</c:v>
              </c:pt>
              <c:pt idx="103">
                <c:v>20.476787567138672</c:v>
              </c:pt>
              <c:pt idx="104">
                <c:v>20.476787567138672</c:v>
              </c:pt>
              <c:pt idx="105">
                <c:v>20.87057113647461</c:v>
              </c:pt>
              <c:pt idx="106">
                <c:v>20.87057113647461</c:v>
              </c:pt>
              <c:pt idx="107">
                <c:v>21.26435661315918</c:v>
              </c:pt>
              <c:pt idx="108">
                <c:v>21.26435661315918</c:v>
              </c:pt>
              <c:pt idx="109">
                <c:v>21.658140182495117</c:v>
              </c:pt>
              <c:pt idx="110">
                <c:v>21.658140182495117</c:v>
              </c:pt>
              <c:pt idx="111">
                <c:v>22.051925659179688</c:v>
              </c:pt>
              <c:pt idx="112">
                <c:v>22.051925659179688</c:v>
              </c:pt>
              <c:pt idx="113">
                <c:v>22.445709228515625</c:v>
              </c:pt>
              <c:pt idx="114">
                <c:v>22.445709228515625</c:v>
              </c:pt>
              <c:pt idx="115">
                <c:v>22.839492797851562</c:v>
              </c:pt>
              <c:pt idx="116">
                <c:v>22.839492797851562</c:v>
              </c:pt>
              <c:pt idx="117">
                <c:v>23.233278274536133</c:v>
              </c:pt>
              <c:pt idx="118">
                <c:v>23.233278274536133</c:v>
              </c:pt>
              <c:pt idx="119">
                <c:v>23.62706184387207</c:v>
              </c:pt>
              <c:pt idx="120">
                <c:v>23.62706184387207</c:v>
              </c:pt>
              <c:pt idx="121">
                <c:v>24.02084732055664</c:v>
              </c:pt>
              <c:pt idx="122">
                <c:v>24.02084732055664</c:v>
              </c:pt>
              <c:pt idx="123">
                <c:v>24.414630889892578</c:v>
              </c:pt>
              <c:pt idx="124">
                <c:v>24.414630889892578</c:v>
              </c:pt>
              <c:pt idx="125">
                <c:v>24.80841636657715</c:v>
              </c:pt>
              <c:pt idx="126">
                <c:v>24.80841636657715</c:v>
              </c:pt>
              <c:pt idx="127">
                <c:v>25.202199935913086</c:v>
              </c:pt>
            </c:numLit>
          </c:xVal>
          <c:yVal>
            <c:numLit>
              <c:formatCode>0.00</c:formatCode>
              <c:ptCount val="128"/>
              <c:pt idx="0">
                <c:v>0.08900705047845285</c:v>
              </c:pt>
              <c:pt idx="1">
                <c:v>0.08900705047845285</c:v>
              </c:pt>
              <c:pt idx="2">
                <c:v>0.07156048576672953</c:v>
              </c:pt>
              <c:pt idx="3">
                <c:v>0.07156048576672953</c:v>
              </c:pt>
              <c:pt idx="4">
                <c:v>0.17057221761903238</c:v>
              </c:pt>
              <c:pt idx="5">
                <c:v>0.17057221761903238</c:v>
              </c:pt>
              <c:pt idx="6">
                <c:v>0.29609873687893623</c:v>
              </c:pt>
              <c:pt idx="7">
                <c:v>0.29609873687893623</c:v>
              </c:pt>
              <c:pt idx="8">
                <c:v>0.3151223907463246</c:v>
              </c:pt>
              <c:pt idx="9">
                <c:v>0.3151223907463246</c:v>
              </c:pt>
              <c:pt idx="10">
                <c:v>0.2478497001580628</c:v>
              </c:pt>
              <c:pt idx="11">
                <c:v>0.2478497001580628</c:v>
              </c:pt>
              <c:pt idx="12">
                <c:v>0.23868271447936068</c:v>
              </c:pt>
              <c:pt idx="13">
                <c:v>0.23868271447936068</c:v>
              </c:pt>
              <c:pt idx="14">
                <c:v>0.23015671102369323</c:v>
              </c:pt>
              <c:pt idx="15">
                <c:v>0.23015671102369323</c:v>
              </c:pt>
              <c:pt idx="16">
                <c:v>0.2013748011226575</c:v>
              </c:pt>
              <c:pt idx="17">
                <c:v>0.2013748011226575</c:v>
              </c:pt>
              <c:pt idx="18">
                <c:v>0.18042895265515993</c:v>
              </c:pt>
              <c:pt idx="19">
                <c:v>0.18042895265515993</c:v>
              </c:pt>
              <c:pt idx="20">
                <c:v>0.14982354986934884</c:v>
              </c:pt>
              <c:pt idx="21">
                <c:v>0.14982354986934884</c:v>
              </c:pt>
              <c:pt idx="22">
                <c:v>0.11000216060666275</c:v>
              </c:pt>
              <c:pt idx="23">
                <c:v>0.11000216060666275</c:v>
              </c:pt>
              <c:pt idx="24">
                <c:v>0.07905163618106432</c:v>
              </c:pt>
              <c:pt idx="25">
                <c:v>0.07905163618106432</c:v>
              </c:pt>
              <c:pt idx="26">
                <c:v>0.06022512432248168</c:v>
              </c:pt>
              <c:pt idx="27">
                <c:v>0.06022512432248168</c:v>
              </c:pt>
              <c:pt idx="28">
                <c:v>0.03375962366288709</c:v>
              </c:pt>
              <c:pt idx="29">
                <c:v>0.03375962366288709</c:v>
              </c:pt>
              <c:pt idx="30">
                <c:v>0.02345921372954278</c:v>
              </c:pt>
              <c:pt idx="31">
                <c:v>0.02345921372954278</c:v>
              </c:pt>
              <c:pt idx="32">
                <c:v>0.01360240123813825</c:v>
              </c:pt>
              <c:pt idx="33">
                <c:v>0.01360240123813825</c:v>
              </c:pt>
              <c:pt idx="34">
                <c:v>0.009265414961493098</c:v>
              </c:pt>
              <c:pt idx="35">
                <c:v>0.009265414961493098</c:v>
              </c:pt>
              <c:pt idx="36">
                <c:v>0.0054212468702724914</c:v>
              </c:pt>
              <c:pt idx="37">
                <c:v>0.0054212468702724914</c:v>
              </c:pt>
              <c:pt idx="38">
                <c:v>0.00335131624707754</c:v>
              </c:pt>
              <c:pt idx="39">
                <c:v>0.00335131624707754</c:v>
              </c:pt>
              <c:pt idx="40">
                <c:v>0.002069930623194951</c:v>
              </c:pt>
              <c:pt idx="41">
                <c:v>0.002069930623194951</c:v>
              </c:pt>
              <c:pt idx="42">
                <c:v>0.0010842493740544981</c:v>
              </c:pt>
              <c:pt idx="43">
                <c:v>0.0010842493740544981</c:v>
              </c:pt>
              <c:pt idx="44">
                <c:v>0.0009363994544721762</c:v>
              </c:pt>
              <c:pt idx="45">
                <c:v>0.0009363994544721762</c:v>
              </c:pt>
              <c:pt idx="46">
                <c:v>0.0009363971866834303</c:v>
              </c:pt>
              <c:pt idx="47">
                <c:v>0.0009363971866834303</c:v>
              </c:pt>
              <c:pt idx="48">
                <c:v>0.0001971362498280906</c:v>
              </c:pt>
              <c:pt idx="49">
                <c:v>0.0001971362498280906</c:v>
              </c:pt>
              <c:pt idx="50">
                <c:v>0.00024642031228511326</c:v>
              </c:pt>
              <c:pt idx="51">
                <c:v>0.00024642031228511326</c:v>
              </c:pt>
              <c:pt idx="52">
                <c:v>0.00029570437474213585</c:v>
              </c:pt>
              <c:pt idx="53">
                <c:v>0.00029570437474213585</c:v>
              </c:pt>
              <c:pt idx="54">
                <c:v>0.0001971362498280906</c:v>
              </c:pt>
              <c:pt idx="55">
                <c:v>0.0001971362498280906</c:v>
              </c:pt>
              <c:pt idx="56">
                <c:v>0.0003449892727002754</c:v>
              </c:pt>
              <c:pt idx="57">
                <c:v>0.0003449892727002754</c:v>
              </c:pt>
              <c:pt idx="58">
                <c:v>0.00014785218737106793</c:v>
              </c:pt>
              <c:pt idx="59">
                <c:v>0.00014785218737106793</c:v>
              </c:pt>
              <c:pt idx="60">
                <c:v>0.0006899768743983169</c:v>
              </c:pt>
              <c:pt idx="61">
                <c:v>0.0006899768743983169</c:v>
              </c:pt>
              <c:pt idx="62">
                <c:v>0.0001971362498280906</c:v>
              </c:pt>
              <c:pt idx="63">
                <c:v>0.0001971362498280906</c:v>
              </c:pt>
              <c:pt idx="64">
                <c:v>0.0003942724996561812</c:v>
              </c:pt>
              <c:pt idx="65">
                <c:v>0.0003942724996561812</c:v>
              </c:pt>
              <c:pt idx="66">
                <c:v>0.00029570437474213585</c:v>
              </c:pt>
              <c:pt idx="67">
                <c:v>0.00029570437474213585</c:v>
              </c:pt>
              <c:pt idx="68">
                <c:v>0.00034498843719915845</c:v>
              </c:pt>
              <c:pt idx="69">
                <c:v>0.00034498843719915845</c:v>
              </c:pt>
              <c:pt idx="70">
                <c:v>0.0004435576363289256</c:v>
              </c:pt>
              <c:pt idx="71">
                <c:v>0.0004435576363289256</c:v>
              </c:pt>
              <c:pt idx="72">
                <c:v>0.00024642031228511326</c:v>
              </c:pt>
              <c:pt idx="73">
                <c:v>0.00024642031228511326</c:v>
              </c:pt>
              <c:pt idx="74">
                <c:v>0.0001971362498280906</c:v>
              </c:pt>
              <c:pt idx="75">
                <c:v>0.0001971362498280906</c:v>
              </c:pt>
              <c:pt idx="76">
                <c:v>0.00024642031228511326</c:v>
              </c:pt>
              <c:pt idx="77">
                <c:v>0.00024642031228511326</c:v>
              </c:pt>
              <c:pt idx="78">
                <c:v>9.85681249140453E-05</c:v>
              </c:pt>
              <c:pt idx="79">
                <c:v>9.85681249140453E-05</c:v>
              </c:pt>
              <c:pt idx="80">
                <c:v>0.0001478525454429752</c:v>
              </c:pt>
              <c:pt idx="81">
                <c:v>0.0001478525454429752</c:v>
              </c:pt>
              <c:pt idx="82">
                <c:v>0.0001971357724011934</c:v>
              </c:pt>
              <c:pt idx="83">
                <c:v>0.0001971357724011934</c:v>
              </c:pt>
              <c:pt idx="84">
                <c:v>4.928418181432507E-05</c:v>
              </c:pt>
              <c:pt idx="85">
                <c:v>4.928418181432507E-05</c:v>
              </c:pt>
              <c:pt idx="86">
                <c:v>4.928394310029835E-05</c:v>
              </c:pt>
              <c:pt idx="87">
                <c:v>4.928394310029835E-05</c:v>
              </c:pt>
              <c:pt idx="88">
                <c:v>9.856836362865014E-05</c:v>
              </c:pt>
              <c:pt idx="89">
                <c:v>9.856836362865014E-05</c:v>
              </c:pt>
              <c:pt idx="90">
                <c:v>0</c:v>
              </c:pt>
              <c:pt idx="91">
                <c:v>0</c:v>
              </c:pt>
              <c:pt idx="92">
                <c:v>9.85678862005967E-05</c:v>
              </c:pt>
              <c:pt idx="93">
                <c:v>9.85678862005967E-05</c:v>
              </c:pt>
              <c:pt idx="94">
                <c:v>9.856836362865014E-05</c:v>
              </c:pt>
              <c:pt idx="95">
                <c:v>9.856836362865014E-05</c:v>
              </c:pt>
              <c:pt idx="96">
                <c:v>0.00014785182930089505</c:v>
              </c:pt>
              <c:pt idx="97">
                <c:v>0.00014785182930089505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  <c:pt idx="102">
                <c:v>0</c:v>
              </c:pt>
              <c:pt idx="103">
                <c:v>0</c:v>
              </c:pt>
              <c:pt idx="104">
                <c:v>0</c:v>
              </c:pt>
              <c:pt idx="105">
                <c:v>0</c:v>
              </c:pt>
              <c:pt idx="106">
                <c:v>0</c:v>
              </c:pt>
              <c:pt idx="107">
                <c:v>0</c:v>
              </c:pt>
              <c:pt idx="108">
                <c:v>0</c:v>
              </c:pt>
              <c:pt idx="109">
                <c:v>0</c:v>
              </c:pt>
              <c:pt idx="110">
                <c:v>4.928394310029835E-05</c:v>
              </c:pt>
              <c:pt idx="111">
                <c:v>4.928394310029835E-05</c:v>
              </c:pt>
              <c:pt idx="112">
                <c:v>0</c:v>
              </c:pt>
              <c:pt idx="113">
                <c:v>0</c:v>
              </c:pt>
              <c:pt idx="114">
                <c:v>0</c:v>
              </c:pt>
              <c:pt idx="115">
                <c:v>0</c:v>
              </c:pt>
              <c:pt idx="116">
                <c:v>4.928394310029835E-05</c:v>
              </c:pt>
              <c:pt idx="117">
                <c:v>4.928394310029835E-05</c:v>
              </c:pt>
              <c:pt idx="118">
                <c:v>0</c:v>
              </c:pt>
              <c:pt idx="119">
                <c:v>0</c:v>
              </c:pt>
              <c:pt idx="120">
                <c:v>0</c:v>
              </c:pt>
              <c:pt idx="121">
                <c:v>0</c:v>
              </c:pt>
              <c:pt idx="122">
                <c:v>0</c:v>
              </c:pt>
              <c:pt idx="123">
                <c:v>0</c:v>
              </c:pt>
              <c:pt idx="124">
                <c:v>0</c:v>
              </c:pt>
              <c:pt idx="125">
                <c:v>0</c:v>
              </c:pt>
              <c:pt idx="126">
                <c:v>4.928418181432507E-05</c:v>
              </c:pt>
              <c:pt idx="127">
                <c:v>4.928418181432507E-05</c:v>
              </c:pt>
            </c:numLit>
          </c:yVal>
        </c:ser>
        <c:ser>
          <c:idx val="1"/>
          <c:order val="1"/>
          <c:tx>
            <c:v>q50</c:v>
          </c:tx>
          <c:spPr>
            <a:ln xmlns:a="http://schemas.openxmlformats.org/drawingml/2006/main" w="19050">
              <a:solidFill>
                <a:srgbClr val="5D3CA6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2.4932</c:v>
              </c:pt>
              <c:pt idx="1">
                <c:v>2.4932</c:v>
              </c:pt>
            </c:numLit>
          </c:xVal>
          <c:yVal>
            <c:numLit>
              <c:formatCode>0.00</c:formatCode>
              <c:ptCount val="2"/>
              <c:pt idx="0">
                <c:v>0</c:v>
              </c:pt>
              <c:pt idx="1">
                <c:v>0.3403321820060306</c:v>
              </c:pt>
            </c:numLit>
          </c:yVal>
        </c:ser>
        <c:ser>
          <c:idx val="2"/>
          <c:order val="2"/>
          <c:tx>
            <c:v>Lower band edge</c:v>
          </c:tx>
          <c:spPr>
            <a:ln xmlns:a="http://schemas.openxmlformats.org/drawingml/2006/main" w="19050">
              <a:solidFill>
                <a:srgbClr val="AC600D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2.3177931267690313</c:v>
              </c:pt>
              <c:pt idx="1">
                <c:v>2.3177931267690313</c:v>
              </c:pt>
            </c:numLit>
          </c:xVal>
          <c:yVal>
            <c:numLit>
              <c:formatCode>0.00</c:formatCode>
              <c:ptCount val="2"/>
              <c:pt idx="0">
                <c:v>0</c:v>
              </c:pt>
              <c:pt idx="1">
                <c:v>0.3403321820060306</c:v>
              </c:pt>
            </c:numLit>
          </c:yVal>
        </c:ser>
        <c:ser>
          <c:idx val="3"/>
          <c:order val="3"/>
          <c:tx>
            <c:v>Upper band edge</c:v>
          </c:tx>
          <c:spPr>
            <a:ln xmlns:a="http://schemas.openxmlformats.org/drawingml/2006/main" w="19050">
              <a:solidFill>
                <a:srgbClr val="AC600D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2.6686068732309685</c:v>
              </c:pt>
              <c:pt idx="1">
                <c:v>2.6686068732309685</c:v>
              </c:pt>
            </c:numLit>
          </c:xVal>
          <c:yVal>
            <c:numLit>
              <c:formatCode>0.00</c:formatCode>
              <c:ptCount val="2"/>
              <c:pt idx="0">
                <c:v>0</c:v>
              </c:pt>
              <c:pt idx="1">
                <c:v>0.3403321820060306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3403321820060306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AD7C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BM Plex Sans"/>
                    <a:ea typeface="IBM Plex Sans"/>
                    <a:cs typeface="IBM Plex Sans"/>
                  </a:rPr>
                  <a:t>Density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50112"/>
      </c:valAx>
      <c:valAx>
        <c:axId val="48650112"/>
        <c:scaling>
          <c:orientation val="minMax"/>
          <c:max val="3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7F6F2"/>
        </a:solidFill>
      </c:spPr>
    </c:plotArea>
    <c:plotVisOnly val="1"/>
  </c:chart>
  <c:spPr>
    <a:solidFill xmlns:a="http://schemas.openxmlformats.org/drawingml/2006/main">
      <a:srgbClr val="F7F6F2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latin typeface="IBM Plex Sans"/>
                <a:ea typeface="IBM Plex Sans"/>
                <a:cs typeface="IBM Plex Sans"/>
              </a:rPr>
              <a:t>Polarizability α (Bohr³)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latin typeface="IBM Plex Sans"/>
              <a:ea typeface="IBM Plex Sans"/>
              <a:cs typeface="IBM Plex Sans"/>
            </a:defRPr>
          </a:pPr>
        </a:p>
      </c:txPr>
    </c:title>
    <c:plotArea>
      <c:scatterChart>
        <c:scatterStyle val="line"/>
        <c:ser>
          <c:idx val="0"/>
          <c:order val="0"/>
          <c:tx>
            <c:v>Training histogram</c:v>
          </c:tx>
          <c:spPr>
            <a:ln xmlns:a="http://schemas.openxmlformats.org/drawingml/2006/main" w="17145">
              <a:solidFill>
                <a:srgbClr val="215FA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28"/>
              <c:pt idx="0">
                <c:v>12.989999771118164</c:v>
              </c:pt>
              <c:pt idx="1">
                <c:v>14.856874465942383</c:v>
              </c:pt>
              <c:pt idx="2">
                <c:v>14.856874465942383</c:v>
              </c:pt>
              <c:pt idx="3">
                <c:v>16.7237491607666</c:v>
              </c:pt>
              <c:pt idx="4">
                <c:v>16.7237491607666</c:v>
              </c:pt>
              <c:pt idx="5">
                <c:v>18.590625762939453</c:v>
              </c:pt>
              <c:pt idx="6">
                <c:v>18.590625762939453</c:v>
              </c:pt>
              <c:pt idx="7">
                <c:v>20.457500457763672</c:v>
              </c:pt>
              <c:pt idx="8">
                <c:v>20.457500457763672</c:v>
              </c:pt>
              <c:pt idx="9">
                <c:v>22.32437515258789</c:v>
              </c:pt>
              <c:pt idx="10">
                <c:v>22.32437515258789</c:v>
              </c:pt>
              <c:pt idx="11">
                <c:v>24.19124984741211</c:v>
              </c:pt>
              <c:pt idx="12">
                <c:v>24.19124984741211</c:v>
              </c:pt>
              <c:pt idx="13">
                <c:v>26.058124542236328</c:v>
              </c:pt>
              <c:pt idx="14">
                <c:v>26.058124542236328</c:v>
              </c:pt>
              <c:pt idx="15">
                <c:v>27.924999237060547</c:v>
              </c:pt>
              <c:pt idx="16">
                <c:v>27.924999237060547</c:v>
              </c:pt>
              <c:pt idx="17">
                <c:v>29.7918758392334</c:v>
              </c:pt>
              <c:pt idx="18">
                <c:v>29.7918758392334</c:v>
              </c:pt>
              <c:pt idx="19">
                <c:v>31.658750534057617</c:v>
              </c:pt>
              <c:pt idx="20">
                <c:v>31.658750534057617</c:v>
              </c:pt>
              <c:pt idx="21">
                <c:v>33.52562713623047</c:v>
              </c:pt>
              <c:pt idx="22">
                <c:v>33.52562713623047</c:v>
              </c:pt>
              <c:pt idx="23">
                <c:v>35.39250183105469</c:v>
              </c:pt>
              <c:pt idx="24">
                <c:v>35.39250183105469</c:v>
              </c:pt>
              <c:pt idx="25">
                <c:v>37.259376525878906</c:v>
              </c:pt>
              <c:pt idx="26">
                <c:v>37.259376525878906</c:v>
              </c:pt>
              <c:pt idx="27">
                <c:v>39.126251220703125</c:v>
              </c:pt>
              <c:pt idx="28">
                <c:v>39.126251220703125</c:v>
              </c:pt>
              <c:pt idx="29">
                <c:v>40.993125915527344</c:v>
              </c:pt>
              <c:pt idx="30">
                <c:v>40.993125915527344</c:v>
              </c:pt>
              <c:pt idx="31">
                <c:v>42.86000061035156</c:v>
              </c:pt>
              <c:pt idx="32">
                <c:v>42.86000061035156</c:v>
              </c:pt>
              <c:pt idx="33">
                <c:v>44.72687530517578</c:v>
              </c:pt>
              <c:pt idx="34">
                <c:v>44.72687530517578</c:v>
              </c:pt>
              <c:pt idx="35">
                <c:v>46.59375</c:v>
              </c:pt>
              <c:pt idx="36">
                <c:v>46.59375</c:v>
              </c:pt>
              <c:pt idx="37">
                <c:v>48.46062469482422</c:v>
              </c:pt>
              <c:pt idx="38">
                <c:v>48.46062469482422</c:v>
              </c:pt>
              <c:pt idx="39">
                <c:v>50.32749938964844</c:v>
              </c:pt>
              <c:pt idx="40">
                <c:v>50.32749938964844</c:v>
              </c:pt>
              <c:pt idx="41">
                <c:v>52.194374084472656</c:v>
              </c:pt>
              <c:pt idx="42">
                <c:v>52.194374084472656</c:v>
              </c:pt>
              <c:pt idx="43">
                <c:v>54.061248779296875</c:v>
              </c:pt>
              <c:pt idx="44">
                <c:v>54.061248779296875</c:v>
              </c:pt>
              <c:pt idx="45">
                <c:v>55.928123474121094</c:v>
              </c:pt>
              <c:pt idx="46">
                <c:v>55.928123474121094</c:v>
              </c:pt>
              <c:pt idx="47">
                <c:v>57.79499816894531</c:v>
              </c:pt>
              <c:pt idx="48">
                <c:v>57.79499816894531</c:v>
              </c:pt>
              <c:pt idx="49">
                <c:v>59.66187286376953</c:v>
              </c:pt>
              <c:pt idx="50">
                <c:v>59.66187286376953</c:v>
              </c:pt>
              <c:pt idx="51">
                <c:v>61.52874755859375</c:v>
              </c:pt>
              <c:pt idx="52">
                <c:v>61.52874755859375</c:v>
              </c:pt>
              <c:pt idx="53">
                <c:v>63.3956298828125</c:v>
              </c:pt>
              <c:pt idx="54">
                <c:v>63.3956298828125</c:v>
              </c:pt>
              <c:pt idx="55">
                <c:v>65.26250457763672</c:v>
              </c:pt>
              <c:pt idx="56">
                <c:v>65.26250457763672</c:v>
              </c:pt>
              <c:pt idx="57">
                <c:v>67.12937927246094</c:v>
              </c:pt>
              <c:pt idx="58">
                <c:v>67.12937927246094</c:v>
              </c:pt>
              <c:pt idx="59">
                <c:v>68.99625396728516</c:v>
              </c:pt>
              <c:pt idx="60">
                <c:v>68.99625396728516</c:v>
              </c:pt>
              <c:pt idx="61">
                <c:v>70.86312866210938</c:v>
              </c:pt>
              <c:pt idx="62">
                <c:v>70.86312866210938</c:v>
              </c:pt>
              <c:pt idx="63">
                <c:v>72.7300033569336</c:v>
              </c:pt>
              <c:pt idx="64">
                <c:v>72.7300033569336</c:v>
              </c:pt>
              <c:pt idx="65">
                <c:v>74.59687805175781</c:v>
              </c:pt>
              <c:pt idx="66">
                <c:v>74.59687805175781</c:v>
              </c:pt>
              <c:pt idx="67">
                <c:v>76.46375274658203</c:v>
              </c:pt>
              <c:pt idx="68">
                <c:v>76.46375274658203</c:v>
              </c:pt>
              <c:pt idx="69">
                <c:v>78.33062744140625</c:v>
              </c:pt>
              <c:pt idx="70">
                <c:v>78.33062744140625</c:v>
              </c:pt>
              <c:pt idx="71">
                <c:v>80.19750213623047</c:v>
              </c:pt>
              <c:pt idx="72">
                <c:v>80.19750213623047</c:v>
              </c:pt>
              <c:pt idx="73">
                <c:v>82.06437683105469</c:v>
              </c:pt>
              <c:pt idx="74">
                <c:v>82.06437683105469</c:v>
              </c:pt>
              <c:pt idx="75">
                <c:v>83.9312515258789</c:v>
              </c:pt>
              <c:pt idx="76">
                <c:v>83.9312515258789</c:v>
              </c:pt>
              <c:pt idx="77">
                <c:v>85.79812622070312</c:v>
              </c:pt>
              <c:pt idx="78">
                <c:v>85.79812622070312</c:v>
              </c:pt>
              <c:pt idx="79">
                <c:v>87.66500091552734</c:v>
              </c:pt>
              <c:pt idx="80">
                <c:v>87.66500091552734</c:v>
              </c:pt>
              <c:pt idx="81">
                <c:v>89.53187561035156</c:v>
              </c:pt>
              <c:pt idx="82">
                <c:v>89.53187561035156</c:v>
              </c:pt>
              <c:pt idx="83">
                <c:v>91.39875030517578</c:v>
              </c:pt>
              <c:pt idx="84">
                <c:v>91.39875030517578</c:v>
              </c:pt>
              <c:pt idx="85">
                <c:v>93.265625</c:v>
              </c:pt>
              <c:pt idx="86">
                <c:v>93.265625</c:v>
              </c:pt>
              <c:pt idx="87">
                <c:v>95.13249969482422</c:v>
              </c:pt>
              <c:pt idx="88">
                <c:v>95.13249969482422</c:v>
              </c:pt>
              <c:pt idx="89">
                <c:v>96.99937438964844</c:v>
              </c:pt>
              <c:pt idx="90">
                <c:v>96.99937438964844</c:v>
              </c:pt>
              <c:pt idx="91">
                <c:v>98.86624908447266</c:v>
              </c:pt>
              <c:pt idx="92">
                <c:v>98.86624908447266</c:v>
              </c:pt>
              <c:pt idx="93">
                <c:v>100.73312377929688</c:v>
              </c:pt>
              <c:pt idx="94">
                <c:v>100.73312377929688</c:v>
              </c:pt>
              <c:pt idx="95">
                <c:v>102.5999984741211</c:v>
              </c:pt>
              <c:pt idx="96">
                <c:v>102.5999984741211</c:v>
              </c:pt>
              <c:pt idx="97">
                <c:v>104.46687316894531</c:v>
              </c:pt>
              <c:pt idx="98">
                <c:v>104.46687316894531</c:v>
              </c:pt>
              <c:pt idx="99">
                <c:v>106.33374786376953</c:v>
              </c:pt>
              <c:pt idx="100">
                <c:v>106.33374786376953</c:v>
              </c:pt>
              <c:pt idx="101">
                <c:v>108.20062255859375</c:v>
              </c:pt>
              <c:pt idx="102">
                <c:v>108.20062255859375</c:v>
              </c:pt>
              <c:pt idx="103">
                <c:v>110.06749725341797</c:v>
              </c:pt>
              <c:pt idx="104">
                <c:v>110.06749725341797</c:v>
              </c:pt>
              <c:pt idx="105">
                <c:v>111.93437194824219</c:v>
              </c:pt>
              <c:pt idx="106">
                <c:v>111.93437194824219</c:v>
              </c:pt>
              <c:pt idx="107">
                <c:v>113.80125427246094</c:v>
              </c:pt>
              <c:pt idx="108">
                <c:v>113.80125427246094</c:v>
              </c:pt>
              <c:pt idx="109">
                <c:v>115.66812896728516</c:v>
              </c:pt>
              <c:pt idx="110">
                <c:v>115.66812896728516</c:v>
              </c:pt>
              <c:pt idx="111">
                <c:v>117.53500366210938</c:v>
              </c:pt>
              <c:pt idx="112">
                <c:v>117.53500366210938</c:v>
              </c:pt>
              <c:pt idx="113">
                <c:v>119.4018783569336</c:v>
              </c:pt>
              <c:pt idx="114">
                <c:v>119.4018783569336</c:v>
              </c:pt>
              <c:pt idx="115">
                <c:v>121.26875305175781</c:v>
              </c:pt>
              <c:pt idx="116">
                <c:v>121.26875305175781</c:v>
              </c:pt>
              <c:pt idx="117">
                <c:v>123.13562774658203</c:v>
              </c:pt>
              <c:pt idx="118">
                <c:v>123.13562774658203</c:v>
              </c:pt>
              <c:pt idx="119">
                <c:v>125.00250244140625</c:v>
              </c:pt>
              <c:pt idx="120">
                <c:v>125.00250244140625</c:v>
              </c:pt>
              <c:pt idx="121">
                <c:v>126.86937713623047</c:v>
              </c:pt>
              <c:pt idx="122">
                <c:v>126.86937713623047</c:v>
              </c:pt>
              <c:pt idx="123">
                <c:v>128.7362518310547</c:v>
              </c:pt>
              <c:pt idx="124">
                <c:v>128.7362518310547</c:v>
              </c:pt>
              <c:pt idx="125">
                <c:v>130.60313415527344</c:v>
              </c:pt>
              <c:pt idx="126">
                <c:v>130.60313415527344</c:v>
              </c:pt>
              <c:pt idx="127">
                <c:v>132.47000122070312</c:v>
              </c:pt>
            </c:numLit>
          </c:xVal>
          <c:yVal>
            <c:numLit>
              <c:formatCode>0.00</c:formatCode>
              <c:ptCount val="128"/>
              <c:pt idx="0">
                <c:v>1.0395609882362018E-05</c:v>
              </c:pt>
              <c:pt idx="1">
                <c:v>1.0395609882362018E-05</c:v>
              </c:pt>
              <c:pt idx="2">
                <c:v>1.0395609882362018E-05</c:v>
              </c:pt>
              <c:pt idx="3">
                <c:v>1.0395609882362018E-05</c:v>
              </c:pt>
              <c:pt idx="4">
                <c:v>1.0395599261385638E-05</c:v>
              </c:pt>
              <c:pt idx="5">
                <c:v>1.0395599261385638E-05</c:v>
              </c:pt>
              <c:pt idx="6">
                <c:v>0</c:v>
              </c:pt>
              <c:pt idx="7">
                <c:v>0</c:v>
              </c:pt>
              <c:pt idx="8">
                <c:v>1.0395609882362018E-05</c:v>
              </c:pt>
              <c:pt idx="9">
                <c:v>1.0395609882362018E-05</c:v>
              </c:pt>
              <c:pt idx="10">
                <c:v>1.0395609882362018E-05</c:v>
              </c:pt>
              <c:pt idx="11">
                <c:v>1.0395609882362018E-05</c:v>
              </c:pt>
              <c:pt idx="12">
                <c:v>1.0395609882362018E-05</c:v>
              </c:pt>
              <c:pt idx="13">
                <c:v>1.0395609882362018E-05</c:v>
              </c:pt>
              <c:pt idx="14">
                <c:v>3.118682964708605E-05</c:v>
              </c:pt>
              <c:pt idx="15">
                <c:v>3.118682964708605E-05</c:v>
              </c:pt>
              <c:pt idx="16">
                <c:v>3.1186797784156915E-05</c:v>
              </c:pt>
              <c:pt idx="17">
                <c:v>3.1186797784156915E-05</c:v>
              </c:pt>
              <c:pt idx="18">
                <c:v>4.158243952944807E-05</c:v>
              </c:pt>
              <c:pt idx="19">
                <c:v>4.158243952944807E-05</c:v>
              </c:pt>
              <c:pt idx="20">
                <c:v>6.237359556831383E-05</c:v>
              </c:pt>
              <c:pt idx="21">
                <c:v>6.237359556831383E-05</c:v>
              </c:pt>
              <c:pt idx="22">
                <c:v>2.0791219764724036E-05</c:v>
              </c:pt>
              <c:pt idx="23">
                <c:v>2.0791219764724036E-05</c:v>
              </c:pt>
              <c:pt idx="24">
                <c:v>8.316487905889614E-05</c:v>
              </c:pt>
              <c:pt idx="25">
                <c:v>8.316487905889614E-05</c:v>
              </c:pt>
              <c:pt idx="26">
                <c:v>7.276926917653411E-05</c:v>
              </c:pt>
              <c:pt idx="27">
                <c:v>7.276926917653411E-05</c:v>
              </c:pt>
              <c:pt idx="28">
                <c:v>0.00032226390635322255</c:v>
              </c:pt>
              <c:pt idx="29">
                <c:v>0.00032226390635322255</c:v>
              </c:pt>
              <c:pt idx="30">
                <c:v>0.00010395609882362018</c:v>
              </c:pt>
              <c:pt idx="31">
                <c:v>0.00010395609882362018</c:v>
              </c:pt>
              <c:pt idx="32">
                <c:v>0.00032226390635322255</c:v>
              </c:pt>
              <c:pt idx="33">
                <c:v>0.00032226390635322255</c:v>
              </c:pt>
              <c:pt idx="34">
                <c:v>0.00043661561505920475</c:v>
              </c:pt>
              <c:pt idx="35">
                <c:v>0.00043661561505920475</c:v>
              </c:pt>
              <c:pt idx="36">
                <c:v>0.0007796707411771513</c:v>
              </c:pt>
              <c:pt idx="37">
                <c:v>0.0007796707411771513</c:v>
              </c:pt>
              <c:pt idx="38">
                <c:v>0.0010707478178832877</c:v>
              </c:pt>
              <c:pt idx="39">
                <c:v>0.0010707478178832877</c:v>
              </c:pt>
              <c:pt idx="40">
                <c:v>0.0016425063614131988</c:v>
              </c:pt>
              <c:pt idx="41">
                <c:v>0.0016425063614131988</c:v>
              </c:pt>
              <c:pt idx="42">
                <c:v>0.0019439790480016972</c:v>
              </c:pt>
              <c:pt idx="43">
                <c:v>0.0019439790480016972</c:v>
              </c:pt>
              <c:pt idx="44">
                <c:v>0.0026508805200023146</c:v>
              </c:pt>
              <c:pt idx="45">
                <c:v>0.0026508805200023146</c:v>
              </c:pt>
              <c:pt idx="46">
                <c:v>0.004605255177886374</c:v>
              </c:pt>
              <c:pt idx="47">
                <c:v>0.004605255177886374</c:v>
              </c:pt>
              <c:pt idx="48">
                <c:v>0.005125035672004475</c:v>
              </c:pt>
              <c:pt idx="49">
                <c:v>0.005125035672004475</c:v>
              </c:pt>
              <c:pt idx="50">
                <c:v>0.008274905466360165</c:v>
              </c:pt>
              <c:pt idx="51">
                <c:v>0.008274905466360165</c:v>
              </c:pt>
              <c:pt idx="52">
                <c:v>0.010728225555341487</c:v>
              </c:pt>
              <c:pt idx="53">
                <c:v>0.010728225555341487</c:v>
              </c:pt>
              <c:pt idx="54">
                <c:v>0.01633150312519073</c:v>
              </c:pt>
              <c:pt idx="55">
                <c:v>0.01633150312519073</c:v>
              </c:pt>
              <c:pt idx="56">
                <c:v>0.021030318792018363</c:v>
              </c:pt>
              <c:pt idx="57">
                <c:v>0.021030318792018363</c:v>
              </c:pt>
              <c:pt idx="58">
                <c:v>0.03261102820096965</c:v>
              </c:pt>
              <c:pt idx="59">
                <c:v>0.03261102820096965</c:v>
              </c:pt>
              <c:pt idx="60">
                <c:v>0.03535546920991322</c:v>
              </c:pt>
              <c:pt idx="61">
                <c:v>0.03535546920991322</c:v>
              </c:pt>
              <c:pt idx="62">
                <c:v>0.04763268448098276</c:v>
              </c:pt>
              <c:pt idx="63">
                <c:v>0.04763268448098276</c:v>
              </c:pt>
              <c:pt idx="64">
                <c:v>0.04943112499063139</c:v>
              </c:pt>
              <c:pt idx="65">
                <c:v>0.04943112499063139</c:v>
              </c:pt>
              <c:pt idx="66">
                <c:v>0.053038401619811014</c:v>
              </c:pt>
              <c:pt idx="67">
                <c:v>0.053038401619811014</c:v>
              </c:pt>
              <c:pt idx="68">
                <c:v>0.05157262062639797</c:v>
              </c:pt>
              <c:pt idx="69">
                <c:v>0.05157262062639797</c:v>
              </c:pt>
              <c:pt idx="70">
                <c:v>0.04777822301933583</c:v>
              </c:pt>
              <c:pt idx="71">
                <c:v>0.04777822301933583</c:v>
              </c:pt>
              <c:pt idx="72">
                <c:v>0.04062604342027077</c:v>
              </c:pt>
              <c:pt idx="73">
                <c:v>0.04062604342027077</c:v>
              </c:pt>
              <c:pt idx="74">
                <c:v>0.03309962186544066</c:v>
              </c:pt>
              <c:pt idx="75">
                <c:v>0.03309962186544066</c:v>
              </c:pt>
              <c:pt idx="76">
                <c:v>0.02401385882825626</c:v>
              </c:pt>
              <c:pt idx="77">
                <c:v>0.02401385882825626</c:v>
              </c:pt>
              <c:pt idx="78">
                <c:v>0.015957261169425696</c:v>
              </c:pt>
              <c:pt idx="79">
                <c:v>0.015957261169425696</c:v>
              </c:pt>
              <c:pt idx="80">
                <c:v>0.011570313799068926</c:v>
              </c:pt>
              <c:pt idx="81">
                <c:v>0.011570313799068926</c:v>
              </c:pt>
              <c:pt idx="82">
                <c:v>0.007079410329888534</c:v>
              </c:pt>
              <c:pt idx="83">
                <c:v>0.007079410329888534</c:v>
              </c:pt>
              <c:pt idx="84">
                <c:v>0.004667628837180546</c:v>
              </c:pt>
              <c:pt idx="85">
                <c:v>0.004667628837180546</c:v>
              </c:pt>
              <c:pt idx="86">
                <c:v>0.0024429683223550743</c:v>
              </c:pt>
              <c:pt idx="87">
                <c:v>0.0024429683223550743</c:v>
              </c:pt>
              <c:pt idx="88">
                <c:v>0.001746462460236819</c:v>
              </c:pt>
              <c:pt idx="89">
                <c:v>0.001746462460236819</c:v>
              </c:pt>
              <c:pt idx="90">
                <c:v>0.0004885936644710148</c:v>
              </c:pt>
              <c:pt idx="91">
                <c:v>0.0004885936644710148</c:v>
              </c:pt>
              <c:pt idx="92">
                <c:v>0.00033265951623558457</c:v>
              </c:pt>
              <c:pt idx="93">
                <c:v>0.00033265951623558457</c:v>
              </c:pt>
              <c:pt idx="94">
                <c:v>0.00015593414823543027</c:v>
              </c:pt>
              <c:pt idx="95">
                <c:v>0.00015593414823543027</c:v>
              </c:pt>
              <c:pt idx="96">
                <c:v>5.197804941181009E-05</c:v>
              </c:pt>
              <c:pt idx="97">
                <c:v>5.197804941181009E-05</c:v>
              </c:pt>
              <c:pt idx="98">
                <c:v>5.197804941181009E-05</c:v>
              </c:pt>
              <c:pt idx="99">
                <c:v>5.197804941181009E-05</c:v>
              </c:pt>
              <c:pt idx="100">
                <c:v>5.197804941181009E-05</c:v>
              </c:pt>
              <c:pt idx="101">
                <c:v>5.197804941181009E-05</c:v>
              </c:pt>
              <c:pt idx="102">
                <c:v>3.118682964708605E-05</c:v>
              </c:pt>
              <c:pt idx="103">
                <c:v>3.118682964708605E-05</c:v>
              </c:pt>
              <c:pt idx="104">
                <c:v>2.0791219764724036E-05</c:v>
              </c:pt>
              <c:pt idx="105">
                <c:v>2.0791219764724036E-05</c:v>
              </c:pt>
              <c:pt idx="106">
                <c:v>2.0791134797173425E-05</c:v>
              </c:pt>
              <c:pt idx="107">
                <c:v>2.0791134797173425E-05</c:v>
              </c:pt>
              <c:pt idx="108">
                <c:v>0</c:v>
              </c:pt>
              <c:pt idx="109">
                <c:v>0</c:v>
              </c:pt>
              <c:pt idx="110">
                <c:v>1.0395609882362018E-05</c:v>
              </c:pt>
              <c:pt idx="111">
                <c:v>1.0395609882362018E-05</c:v>
              </c:pt>
              <c:pt idx="112">
                <c:v>0</c:v>
              </c:pt>
              <c:pt idx="113">
                <c:v>0</c:v>
              </c:pt>
              <c:pt idx="114">
                <c:v>2.0791219764724036E-05</c:v>
              </c:pt>
              <c:pt idx="115">
                <c:v>2.0791219764724036E-05</c:v>
              </c:pt>
              <c:pt idx="116">
                <c:v>0</c:v>
              </c:pt>
              <c:pt idx="117">
                <c:v>0</c:v>
              </c:pt>
              <c:pt idx="118">
                <c:v>0</c:v>
              </c:pt>
              <c:pt idx="119">
                <c:v>0</c:v>
              </c:pt>
              <c:pt idx="120">
                <c:v>0</c:v>
              </c:pt>
              <c:pt idx="121">
                <c:v>0</c:v>
              </c:pt>
              <c:pt idx="122">
                <c:v>1.0395609882362018E-05</c:v>
              </c:pt>
              <c:pt idx="123">
                <c:v>1.0395609882362018E-05</c:v>
              </c:pt>
              <c:pt idx="124">
                <c:v>0</c:v>
              </c:pt>
              <c:pt idx="125">
                <c:v>0</c:v>
              </c:pt>
              <c:pt idx="126">
                <c:v>1.0395652366484564E-05</c:v>
              </c:pt>
              <c:pt idx="127">
                <c:v>1.0395652366484564E-05</c:v>
              </c:pt>
            </c:numLit>
          </c:yVal>
        </c:ser>
        <c:ser>
          <c:idx val="1"/>
          <c:order val="1"/>
          <c:tx>
            <c:v>q50</c:v>
          </c:tx>
          <c:spPr>
            <a:ln xmlns:a="http://schemas.openxmlformats.org/drawingml/2006/main" w="19050">
              <a:solidFill>
                <a:srgbClr val="5D3CA6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75.54</c:v>
              </c:pt>
              <c:pt idx="1">
                <c:v>75.54</c:v>
              </c:pt>
            </c:numLit>
          </c:xVal>
          <c:yVal>
            <c:numLit>
              <c:formatCode>0.00</c:formatCode>
              <c:ptCount val="2"/>
              <c:pt idx="0">
                <c:v>0</c:v>
              </c:pt>
              <c:pt idx="1">
                <c:v>0.0572814737493959</c:v>
              </c:pt>
            </c:numLit>
          </c:yVal>
        </c:ser>
        <c:ser>
          <c:idx val="2"/>
          <c:order val="2"/>
          <c:tx>
            <c:v>Lower band edge</c:v>
          </c:tx>
          <c:spPr>
            <a:ln xmlns:a="http://schemas.openxmlformats.org/drawingml/2006/main" w="19050">
              <a:solidFill>
                <a:srgbClr val="AC600D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75.0338160436029</c:v>
              </c:pt>
              <c:pt idx="1">
                <c:v>75.0338160436029</c:v>
              </c:pt>
            </c:numLit>
          </c:xVal>
          <c:yVal>
            <c:numLit>
              <c:formatCode>0.00</c:formatCode>
              <c:ptCount val="2"/>
              <c:pt idx="0">
                <c:v>0</c:v>
              </c:pt>
              <c:pt idx="1">
                <c:v>0.0572814737493959</c:v>
              </c:pt>
            </c:numLit>
          </c:yVal>
        </c:ser>
        <c:ser>
          <c:idx val="3"/>
          <c:order val="3"/>
          <c:tx>
            <c:v>Upper band edge</c:v>
          </c:tx>
          <c:spPr>
            <a:ln xmlns:a="http://schemas.openxmlformats.org/drawingml/2006/main" w="19050">
              <a:solidFill>
                <a:srgbClr val="AC600D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76.04618395639712</c:v>
              </c:pt>
              <c:pt idx="1">
                <c:v>76.04618395639712</c:v>
              </c:pt>
            </c:numLit>
          </c:xVal>
          <c:yVal>
            <c:numLit>
              <c:formatCode>0.00</c:formatCode>
              <c:ptCount val="2"/>
              <c:pt idx="0">
                <c:v>0</c:v>
              </c:pt>
              <c:pt idx="1">
                <c:v>0.0572814737493959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0572814737493959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AD7C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BM Plex Sans"/>
                    <a:ea typeface="IBM Plex Sans"/>
                    <a:cs typeface="IBM Plex Sans"/>
                  </a:rPr>
                  <a:t>Density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50112"/>
      </c:valAx>
      <c:valAx>
        <c:axId val="48650112"/>
        <c:scaling>
          <c:orientation val="minMax"/>
          <c:max val="15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72768"/>
        <c:majorUnit val="50"/>
      </c:valAx>
      <c:spPr>
        <a:solidFill xmlns:a="http://schemas.openxmlformats.org/drawingml/2006/main">
          <a:srgbClr val="F7F6F2"/>
        </a:solidFill>
      </c:spPr>
    </c:plotArea>
    <c:plotVisOnly val="1"/>
  </c:chart>
  <c:spPr>
    <a:solidFill xmlns:a="http://schemas.openxmlformats.org/drawingml/2006/main">
      <a:srgbClr val="F7F6F2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latin typeface="IBM Plex Sans"/>
                <a:ea typeface="IBM Plex Sans"/>
                <a:cs typeface="IBM Plex Sans"/>
              </a:rPr>
              <a:t>HOMO–LUMO gap (Ha)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latin typeface="IBM Plex Sans"/>
              <a:ea typeface="IBM Plex Sans"/>
              <a:cs typeface="IBM Plex Sans"/>
            </a:defRPr>
          </a:pPr>
        </a:p>
      </c:txPr>
    </c:title>
    <c:plotArea>
      <c:scatterChart>
        <c:scatterStyle val="line"/>
        <c:ser>
          <c:idx val="0"/>
          <c:order val="0"/>
          <c:tx>
            <c:v>Training histogram</c:v>
          </c:tx>
          <c:spPr>
            <a:ln xmlns:a="http://schemas.openxmlformats.org/drawingml/2006/main" w="17145">
              <a:solidFill>
                <a:srgbClr val="215FA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28"/>
              <c:pt idx="0">
                <c:v>0.041999999433755875</c:v>
              </c:pt>
              <c:pt idx="1">
                <c:v>0.04856250062584877</c:v>
              </c:pt>
              <c:pt idx="2">
                <c:v>0.04856250062584877</c:v>
              </c:pt>
              <c:pt idx="3">
                <c:v>0.05512499809265137</c:v>
              </c:pt>
              <c:pt idx="4">
                <c:v>0.05512499809265137</c:v>
              </c:pt>
              <c:pt idx="5">
                <c:v>0.06168749928474426</c:v>
              </c:pt>
              <c:pt idx="6">
                <c:v>0.06168749928474426</c:v>
              </c:pt>
              <c:pt idx="7">
                <c:v>0.06825000047683716</c:v>
              </c:pt>
              <c:pt idx="8">
                <c:v>0.06825000047683716</c:v>
              </c:pt>
              <c:pt idx="9">
                <c:v>0.07481250166893005</c:v>
              </c:pt>
              <c:pt idx="10">
                <c:v>0.07481250166893005</c:v>
              </c:pt>
              <c:pt idx="11">
                <c:v>0.08137500286102295</c:v>
              </c:pt>
              <c:pt idx="12">
                <c:v>0.08137500286102295</c:v>
              </c:pt>
              <c:pt idx="13">
                <c:v>0.08793750405311584</c:v>
              </c:pt>
              <c:pt idx="14">
                <c:v>0.08793750405311584</c:v>
              </c:pt>
              <c:pt idx="15">
                <c:v>0.09450000524520874</c:v>
              </c:pt>
              <c:pt idx="16">
                <c:v>0.09450000524520874</c:v>
              </c:pt>
              <c:pt idx="17">
                <c:v>0.10106250643730164</c:v>
              </c:pt>
              <c:pt idx="18">
                <c:v>0.10106250643730164</c:v>
              </c:pt>
              <c:pt idx="19">
                <c:v>0.10762500762939453</c:v>
              </c:pt>
              <c:pt idx="20">
                <c:v>0.10762500762939453</c:v>
              </c:pt>
              <c:pt idx="21">
                <c:v>0.11418750882148743</c:v>
              </c:pt>
              <c:pt idx="22">
                <c:v>0.11418750882148743</c:v>
              </c:pt>
              <c:pt idx="23">
                <c:v>0.12074999511241913</c:v>
              </c:pt>
              <c:pt idx="24">
                <c:v>0.12074999511241913</c:v>
              </c:pt>
              <c:pt idx="25">
                <c:v>0.12731249630451202</c:v>
              </c:pt>
              <c:pt idx="26">
                <c:v>0.12731249630451202</c:v>
              </c:pt>
              <c:pt idx="27">
                <c:v>0.13387499749660492</c:v>
              </c:pt>
              <c:pt idx="28">
                <c:v>0.13387499749660492</c:v>
              </c:pt>
              <c:pt idx="29">
                <c:v>0.14043749868869781</c:v>
              </c:pt>
              <c:pt idx="30">
                <c:v>0.14043749868869781</c:v>
              </c:pt>
              <c:pt idx="31">
                <c:v>0.1469999998807907</c:v>
              </c:pt>
              <c:pt idx="32">
                <c:v>0.1469999998807907</c:v>
              </c:pt>
              <c:pt idx="33">
                <c:v>0.1535625010728836</c:v>
              </c:pt>
              <c:pt idx="34">
                <c:v>0.1535625010728836</c:v>
              </c:pt>
              <c:pt idx="35">
                <c:v>0.1601250022649765</c:v>
              </c:pt>
              <c:pt idx="36">
                <c:v>0.1601250022649765</c:v>
              </c:pt>
              <c:pt idx="37">
                <c:v>0.1666875034570694</c:v>
              </c:pt>
              <c:pt idx="38">
                <c:v>0.1666875034570694</c:v>
              </c:pt>
              <c:pt idx="39">
                <c:v>0.1732500046491623</c:v>
              </c:pt>
              <c:pt idx="40">
                <c:v>0.1732500046491623</c:v>
              </c:pt>
              <c:pt idx="41">
                <c:v>0.1798125058412552</c:v>
              </c:pt>
              <c:pt idx="42">
                <c:v>0.1798125058412552</c:v>
              </c:pt>
              <c:pt idx="43">
                <c:v>0.18637500703334808</c:v>
              </c:pt>
              <c:pt idx="44">
                <c:v>0.18637500703334808</c:v>
              </c:pt>
              <c:pt idx="45">
                <c:v>0.19293750822544098</c:v>
              </c:pt>
              <c:pt idx="46">
                <c:v>0.19293750822544098</c:v>
              </c:pt>
              <c:pt idx="47">
                <c:v>0.19949999451637268</c:v>
              </c:pt>
              <c:pt idx="48">
                <c:v>0.19949999451637268</c:v>
              </c:pt>
              <c:pt idx="49">
                <c:v>0.20606249570846558</c:v>
              </c:pt>
              <c:pt idx="50">
                <c:v>0.20606249570846558</c:v>
              </c:pt>
              <c:pt idx="51">
                <c:v>0.21262499690055847</c:v>
              </c:pt>
              <c:pt idx="52">
                <c:v>0.21262499690055847</c:v>
              </c:pt>
              <c:pt idx="53">
                <c:v>0.21918749809265137</c:v>
              </c:pt>
              <c:pt idx="54">
                <c:v>0.21918749809265137</c:v>
              </c:pt>
              <c:pt idx="55">
                <c:v>0.22574999928474426</c:v>
              </c:pt>
              <c:pt idx="56">
                <c:v>0.22574999928474426</c:v>
              </c:pt>
              <c:pt idx="57">
                <c:v>0.23231250047683716</c:v>
              </c:pt>
              <c:pt idx="58">
                <c:v>0.23231250047683716</c:v>
              </c:pt>
              <c:pt idx="59">
                <c:v>0.23887500166893005</c:v>
              </c:pt>
              <c:pt idx="60">
                <c:v>0.23887500166893005</c:v>
              </c:pt>
              <c:pt idx="61">
                <c:v>0.24543750286102295</c:v>
              </c:pt>
              <c:pt idx="62">
                <c:v>0.24543750286102295</c:v>
              </c:pt>
              <c:pt idx="63">
                <c:v>0.25200000405311584</c:v>
              </c:pt>
              <c:pt idx="64">
                <c:v>0.25200000405311584</c:v>
              </c:pt>
              <c:pt idx="65">
                <c:v>0.25856250524520874</c:v>
              </c:pt>
              <c:pt idx="66">
                <c:v>0.25856250524520874</c:v>
              </c:pt>
              <c:pt idx="67">
                <c:v>0.26512500643730164</c:v>
              </c:pt>
              <c:pt idx="68">
                <c:v>0.26512500643730164</c:v>
              </c:pt>
              <c:pt idx="69">
                <c:v>0.27168750762939453</c:v>
              </c:pt>
              <c:pt idx="70">
                <c:v>0.27168750762939453</c:v>
              </c:pt>
              <c:pt idx="71">
                <c:v>0.2782500088214874</c:v>
              </c:pt>
              <c:pt idx="72">
                <c:v>0.2782500088214874</c:v>
              </c:pt>
              <c:pt idx="73">
                <c:v>0.2848125100135803</c:v>
              </c:pt>
              <c:pt idx="74">
                <c:v>0.2848125100135803</c:v>
              </c:pt>
              <c:pt idx="75">
                <c:v>0.2913750112056732</c:v>
              </c:pt>
              <c:pt idx="76">
                <c:v>0.2913750112056732</c:v>
              </c:pt>
              <c:pt idx="77">
                <c:v>0.2979375123977661</c:v>
              </c:pt>
              <c:pt idx="78">
                <c:v>0.2979375123977661</c:v>
              </c:pt>
              <c:pt idx="79">
                <c:v>0.304500013589859</c:v>
              </c:pt>
              <c:pt idx="80">
                <c:v>0.304500013589859</c:v>
              </c:pt>
              <c:pt idx="81">
                <c:v>0.3110625147819519</c:v>
              </c:pt>
              <c:pt idx="82">
                <c:v>0.3110625147819519</c:v>
              </c:pt>
              <c:pt idx="83">
                <c:v>0.3176250159740448</c:v>
              </c:pt>
              <c:pt idx="84">
                <c:v>0.3176250159740448</c:v>
              </c:pt>
              <c:pt idx="85">
                <c:v>0.3241875171661377</c:v>
              </c:pt>
              <c:pt idx="86">
                <c:v>0.3241875171661377</c:v>
              </c:pt>
              <c:pt idx="87">
                <c:v>0.3307500183582306</c:v>
              </c:pt>
              <c:pt idx="88">
                <c:v>0.3307500183582306</c:v>
              </c:pt>
              <c:pt idx="89">
                <c:v>0.3373125195503235</c:v>
              </c:pt>
              <c:pt idx="90">
                <c:v>0.3373125195503235</c:v>
              </c:pt>
              <c:pt idx="91">
                <c:v>0.3438750207424164</c:v>
              </c:pt>
              <c:pt idx="92">
                <c:v>0.3438750207424164</c:v>
              </c:pt>
              <c:pt idx="93">
                <c:v>0.3504375219345093</c:v>
              </c:pt>
              <c:pt idx="94">
                <c:v>0.3504375219345093</c:v>
              </c:pt>
              <c:pt idx="95">
                <c:v>0.3569999933242798</c:v>
              </c:pt>
              <c:pt idx="96">
                <c:v>0.3569999933242798</c:v>
              </c:pt>
              <c:pt idx="97">
                <c:v>0.3635624945163727</c:v>
              </c:pt>
              <c:pt idx="98">
                <c:v>0.3635624945163727</c:v>
              </c:pt>
              <c:pt idx="99">
                <c:v>0.3701249957084656</c:v>
              </c:pt>
              <c:pt idx="100">
                <c:v>0.3701249957084656</c:v>
              </c:pt>
              <c:pt idx="101">
                <c:v>0.37668749690055847</c:v>
              </c:pt>
              <c:pt idx="102">
                <c:v>0.37668749690055847</c:v>
              </c:pt>
              <c:pt idx="103">
                <c:v>0.38324999809265137</c:v>
              </c:pt>
              <c:pt idx="104">
                <c:v>0.38324999809265137</c:v>
              </c:pt>
              <c:pt idx="105">
                <c:v>0.38981249928474426</c:v>
              </c:pt>
              <c:pt idx="106">
                <c:v>0.38981249928474426</c:v>
              </c:pt>
              <c:pt idx="107">
                <c:v>0.39637500047683716</c:v>
              </c:pt>
              <c:pt idx="108">
                <c:v>0.39637500047683716</c:v>
              </c:pt>
              <c:pt idx="109">
                <c:v>0.40293750166893005</c:v>
              </c:pt>
              <c:pt idx="110">
                <c:v>0.40293750166893005</c:v>
              </c:pt>
              <c:pt idx="111">
                <c:v>0.40950000286102295</c:v>
              </c:pt>
              <c:pt idx="112">
                <c:v>0.40950000286102295</c:v>
              </c:pt>
              <c:pt idx="113">
                <c:v>0.41606250405311584</c:v>
              </c:pt>
              <c:pt idx="114">
                <c:v>0.41606250405311584</c:v>
              </c:pt>
              <c:pt idx="115">
                <c:v>0.42262500524520874</c:v>
              </c:pt>
              <c:pt idx="116">
                <c:v>0.42262500524520874</c:v>
              </c:pt>
              <c:pt idx="117">
                <c:v>0.42918750643730164</c:v>
              </c:pt>
              <c:pt idx="118">
                <c:v>0.42918750643730164</c:v>
              </c:pt>
              <c:pt idx="119">
                <c:v>0.43575000762939453</c:v>
              </c:pt>
              <c:pt idx="120">
                <c:v>0.43575000762939453</c:v>
              </c:pt>
              <c:pt idx="121">
                <c:v>0.4423125088214874</c:v>
              </c:pt>
              <c:pt idx="122">
                <c:v>0.4423125088214874</c:v>
              </c:pt>
              <c:pt idx="123">
                <c:v>0.4488750100135803</c:v>
              </c:pt>
              <c:pt idx="124">
                <c:v>0.4488750100135803</c:v>
              </c:pt>
              <c:pt idx="125">
                <c:v>0.4554375112056732</c:v>
              </c:pt>
              <c:pt idx="126">
                <c:v>0.4554375112056732</c:v>
              </c:pt>
              <c:pt idx="127">
                <c:v>0.4620000123977661</c:v>
              </c:pt>
            </c:numLit>
          </c:xVal>
          <c:yVal>
            <c:numLit>
              <c:formatCode>0</c:formatCode>
              <c:ptCount val="128"/>
              <c:pt idx="0">
                <c:v>0.005914604952767071</c:v>
              </c:pt>
              <c:pt idx="1">
                <c:v>0.005914604952767071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0.008871907429150607</c:v>
              </c:pt>
              <c:pt idx="9">
                <c:v>0.008871907429150607</c:v>
              </c:pt>
              <c:pt idx="10">
                <c:v>0.014786512381917678</c:v>
              </c:pt>
              <c:pt idx="11">
                <c:v>0.014786512381917678</c:v>
              </c:pt>
              <c:pt idx="12">
                <c:v>0.0029573024763835357</c:v>
              </c:pt>
              <c:pt idx="13">
                <c:v>0.0029573024763835357</c:v>
              </c:pt>
              <c:pt idx="14">
                <c:v>0.005914604952767071</c:v>
              </c:pt>
              <c:pt idx="15">
                <c:v>0.005914604952767071</c:v>
              </c:pt>
              <c:pt idx="16">
                <c:v>0.017743814858301215</c:v>
              </c:pt>
              <c:pt idx="17">
                <c:v>0.017743814858301215</c:v>
              </c:pt>
              <c:pt idx="18">
                <c:v>0.03844493219298596</c:v>
              </c:pt>
              <c:pt idx="19">
                <c:v>0.03844493219298596</c:v>
              </c:pt>
              <c:pt idx="20">
                <c:v>0.02661572228745182</c:v>
              </c:pt>
              <c:pt idx="21">
                <c:v>0.02661572228745182</c:v>
              </c:pt>
              <c:pt idx="22">
                <c:v>0.056188874636708304</c:v>
              </c:pt>
              <c:pt idx="23">
                <c:v>0.056188874636708304</c:v>
              </c:pt>
              <c:pt idx="24">
                <c:v>0.08576177181512253</c:v>
              </c:pt>
              <c:pt idx="25">
                <c:v>0.08576177181512253</c:v>
              </c:pt>
              <c:pt idx="26">
                <c:v>0.15377972877194385</c:v>
              </c:pt>
              <c:pt idx="27">
                <c:v>0.15377972877194385</c:v>
              </c:pt>
              <c:pt idx="28">
                <c:v>0.3578335996424078</c:v>
              </c:pt>
              <c:pt idx="29">
                <c:v>0.3578335996424078</c:v>
              </c:pt>
              <c:pt idx="30">
                <c:v>0.4938695135560504</c:v>
              </c:pt>
              <c:pt idx="31">
                <c:v>0.4938695135560504</c:v>
              </c:pt>
              <c:pt idx="32">
                <c:v>0.9315502800608138</c:v>
              </c:pt>
              <c:pt idx="33">
                <c:v>0.9315502800608138</c:v>
              </c:pt>
              <c:pt idx="34">
                <c:v>1.3426153242781251</c:v>
              </c:pt>
              <c:pt idx="35">
                <c:v>1.3426153242781251</c:v>
              </c:pt>
              <c:pt idx="36">
                <c:v>1.744808461066286</c:v>
              </c:pt>
              <c:pt idx="37">
                <c:v>1.744808461066286</c:v>
              </c:pt>
              <c:pt idx="38">
                <c:v>2.010965683940804</c:v>
              </c:pt>
              <c:pt idx="39">
                <c:v>2.010965683940804</c:v>
              </c:pt>
              <c:pt idx="40">
                <c:v>2.4752621727330193</c:v>
              </c:pt>
              <c:pt idx="41">
                <c:v>2.4752621727330193</c:v>
              </c:pt>
              <c:pt idx="42">
                <c:v>2.865626099615646</c:v>
              </c:pt>
              <c:pt idx="43">
                <c:v>2.865626099615646</c:v>
              </c:pt>
              <c:pt idx="44">
                <c:v>3.539891064231092</c:v>
              </c:pt>
              <c:pt idx="45">
                <c:v>3.539891064231092</c:v>
              </c:pt>
              <c:pt idx="46">
                <c:v>4.119531703628141</c:v>
              </c:pt>
              <c:pt idx="47">
                <c:v>4.119531703628141</c:v>
              </c:pt>
              <c:pt idx="48">
                <c:v>5.65436233484532</c:v>
              </c:pt>
              <c:pt idx="49">
                <c:v>5.65436233484532</c:v>
              </c:pt>
              <c:pt idx="50">
                <c:v>7.340024746383936</c:v>
              </c:pt>
              <c:pt idx="51">
                <c:v>7.340024746383936</c:v>
              </c:pt>
              <c:pt idx="52">
                <c:v>8.830505194481237</c:v>
              </c:pt>
              <c:pt idx="53">
                <c:v>8.830505194481237</c:v>
              </c:pt>
              <c:pt idx="54">
                <c:v>9.628976863104793</c:v>
              </c:pt>
              <c:pt idx="55">
                <c:v>9.628976863104793</c:v>
              </c:pt>
              <c:pt idx="56">
                <c:v>7.6239257841167545</c:v>
              </c:pt>
              <c:pt idx="57">
                <c:v>7.6239257841167545</c:v>
              </c:pt>
              <c:pt idx="58">
                <c:v>6.112744218684768</c:v>
              </c:pt>
              <c:pt idx="59">
                <c:v>6.112744218684768</c:v>
              </c:pt>
              <c:pt idx="60">
                <c:v>6.364114929177369</c:v>
              </c:pt>
              <c:pt idx="61">
                <c:v>6.364114929177369</c:v>
              </c:pt>
              <c:pt idx="62">
                <c:v>6.8461552328278845</c:v>
              </c:pt>
              <c:pt idx="63">
                <c:v>6.8461552328278845</c:v>
              </c:pt>
              <c:pt idx="64">
                <c:v>6.53268117033123</c:v>
              </c:pt>
              <c:pt idx="65">
                <c:v>6.53268117033123</c:v>
              </c:pt>
              <c:pt idx="66">
                <c:v>6.778137275871063</c:v>
              </c:pt>
              <c:pt idx="67">
                <c:v>6.778137275871063</c:v>
              </c:pt>
              <c:pt idx="68">
                <c:v>7.041337196269199</c:v>
              </c:pt>
              <c:pt idx="69">
                <c:v>7.041337196269199</c:v>
              </c:pt>
              <c:pt idx="70">
                <c:v>6.849112535304268</c:v>
              </c:pt>
              <c:pt idx="71">
                <c:v>6.849112535304268</c:v>
              </c:pt>
              <c:pt idx="72">
                <c:v>5.580429772935731</c:v>
              </c:pt>
              <c:pt idx="73">
                <c:v>5.580429772935731</c:v>
              </c:pt>
              <c:pt idx="74">
                <c:v>5.015584999946476</c:v>
              </c:pt>
              <c:pt idx="75">
                <c:v>5.015584999946476</c:v>
              </c:pt>
              <c:pt idx="76">
                <c:v>4.9120794132730525</c:v>
              </c:pt>
              <c:pt idx="77">
                <c:v>4.9120794132730525</c:v>
              </c:pt>
              <c:pt idx="78">
                <c:v>5.5893016803648825</c:v>
              </c:pt>
              <c:pt idx="79">
                <c:v>5.5893016803648825</c:v>
              </c:pt>
              <c:pt idx="80">
                <c:v>5.678020754656388</c:v>
              </c:pt>
              <c:pt idx="81">
                <c:v>5.678020754656388</c:v>
              </c:pt>
              <c:pt idx="82">
                <c:v>5.660276939798087</c:v>
              </c:pt>
              <c:pt idx="83">
                <c:v>5.660276939798087</c:v>
              </c:pt>
              <c:pt idx="84">
                <c:v>4.8115311290760125</c:v>
              </c:pt>
              <c:pt idx="85">
                <c:v>4.8115311290760125</c:v>
              </c:pt>
              <c:pt idx="86">
                <c:v>3.7764752623417746</c:v>
              </c:pt>
              <c:pt idx="87">
                <c:v>3.7764752623417746</c:v>
              </c:pt>
              <c:pt idx="88">
                <c:v>2.578767759406443</c:v>
              </c:pt>
              <c:pt idx="89">
                <c:v>2.578767759406443</c:v>
              </c:pt>
              <c:pt idx="90">
                <c:v>1.401761373805796</c:v>
              </c:pt>
              <c:pt idx="91">
                <c:v>1.401761373805796</c:v>
              </c:pt>
              <c:pt idx="92">
                <c:v>0.5885031928003236</c:v>
              </c:pt>
              <c:pt idx="93">
                <c:v>0.5885031928003236</c:v>
              </c:pt>
              <c:pt idx="94">
                <c:v>0.2779876952070859</c:v>
              </c:pt>
              <c:pt idx="95">
                <c:v>0.2779876952070859</c:v>
              </c:pt>
              <c:pt idx="96">
                <c:v>0.23066959315791577</c:v>
              </c:pt>
              <c:pt idx="97">
                <c:v>0.23066959315791577</c:v>
              </c:pt>
              <c:pt idx="98">
                <c:v>0.1685662411538615</c:v>
              </c:pt>
              <c:pt idx="99">
                <c:v>0.1685662411538615</c:v>
              </c:pt>
              <c:pt idx="100">
                <c:v>0.10942019162619081</c:v>
              </c:pt>
              <c:pt idx="101">
                <c:v>0.10942019162619081</c:v>
              </c:pt>
              <c:pt idx="102">
                <c:v>0.03548762971660243</c:v>
              </c:pt>
              <c:pt idx="103">
                <c:v>0.03548762971660243</c:v>
              </c:pt>
              <c:pt idx="104">
                <c:v>0.020701117334684747</c:v>
              </c:pt>
              <c:pt idx="105">
                <c:v>0.020701117334684747</c:v>
              </c:pt>
              <c:pt idx="106">
                <c:v>0.020701117334684747</c:v>
              </c:pt>
              <c:pt idx="107">
                <c:v>0.020701117334684747</c:v>
              </c:pt>
              <c:pt idx="108">
                <c:v>0.008871907429150607</c:v>
              </c:pt>
              <c:pt idx="109">
                <c:v>0.008871907429150607</c:v>
              </c:pt>
              <c:pt idx="110">
                <c:v>0.0029573024763835357</c:v>
              </c:pt>
              <c:pt idx="111">
                <c:v>0.0029573024763835357</c:v>
              </c:pt>
              <c:pt idx="112">
                <c:v>0.005914604952767071</c:v>
              </c:pt>
              <c:pt idx="113">
                <c:v>0.005914604952767071</c:v>
              </c:pt>
              <c:pt idx="114">
                <c:v>0</c:v>
              </c:pt>
              <c:pt idx="115">
                <c:v>0</c:v>
              </c:pt>
              <c:pt idx="116">
                <c:v>0</c:v>
              </c:pt>
              <c:pt idx="117">
                <c:v>0</c:v>
              </c:pt>
              <c:pt idx="118">
                <c:v>0</c:v>
              </c:pt>
              <c:pt idx="119">
                <c:v>0</c:v>
              </c:pt>
              <c:pt idx="120">
                <c:v>0</c:v>
              </c:pt>
              <c:pt idx="121">
                <c:v>0</c:v>
              </c:pt>
              <c:pt idx="122">
                <c:v>0.0029573024763835357</c:v>
              </c:pt>
              <c:pt idx="123">
                <c:v>0.0029573024763835357</c:v>
              </c:pt>
              <c:pt idx="124">
                <c:v>0</c:v>
              </c:pt>
              <c:pt idx="125">
                <c:v>0</c:v>
              </c:pt>
              <c:pt idx="126">
                <c:v>0.0029573024763835357</c:v>
              </c:pt>
              <c:pt idx="127">
                <c:v>0.0029573024763835357</c:v>
              </c:pt>
            </c:numLit>
          </c:yVal>
        </c:ser>
        <c:ser>
          <c:idx val="1"/>
          <c:order val="1"/>
          <c:tx>
            <c:v>q50</c:v>
          </c:tx>
          <c:spPr>
            <a:ln xmlns:a="http://schemas.openxmlformats.org/drawingml/2006/main" w="19050">
              <a:solidFill>
                <a:srgbClr val="5D3CA6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0.2496</c:v>
              </c:pt>
              <c:pt idx="1">
                <c:v>0.2496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10.399295012153177</c:v>
              </c:pt>
            </c:numLit>
          </c:yVal>
        </c:ser>
        <c:ser>
          <c:idx val="2"/>
          <c:order val="2"/>
          <c:tx>
            <c:v>Lower band edge</c:v>
          </c:tx>
          <c:spPr>
            <a:ln xmlns:a="http://schemas.openxmlformats.org/drawingml/2006/main" w="19050">
              <a:solidFill>
                <a:srgbClr val="AC600D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0.2421199340172704</c:v>
              </c:pt>
              <c:pt idx="1">
                <c:v>0.2421199340172704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10.399295012153177</c:v>
              </c:pt>
            </c:numLit>
          </c:yVal>
        </c:ser>
        <c:ser>
          <c:idx val="3"/>
          <c:order val="3"/>
          <c:tx>
            <c:v>Upper band edge</c:v>
          </c:tx>
          <c:spPr>
            <a:ln xmlns:a="http://schemas.openxmlformats.org/drawingml/2006/main" w="19050">
              <a:solidFill>
                <a:srgbClr val="AC600D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0.2570800659827296</c:v>
              </c:pt>
              <c:pt idx="1">
                <c:v>0.2570800659827296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10.399295012153177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.399295012153177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AD7C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BM Plex Sans"/>
                    <a:ea typeface="IBM Plex Sans"/>
                    <a:cs typeface="IBM Plex Sans"/>
                  </a:rPr>
                  <a:t>Density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50112"/>
      </c:valAx>
      <c:valAx>
        <c:axId val="48650112"/>
        <c:scaling>
          <c:orientation val="minMax"/>
          <c:max val="0.5"/>
          <c:min val="0"/>
        </c:scaling>
        <c:delete val="0"/>
        <c:axPos val="b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72768"/>
        <c:majorUnit val="0.1"/>
      </c:valAx>
      <c:spPr>
        <a:solidFill xmlns:a="http://schemas.openxmlformats.org/drawingml/2006/main">
          <a:srgbClr val="F7F6F2"/>
        </a:solidFill>
      </c:spPr>
    </c:plotArea>
    <c:plotVisOnly val="1"/>
  </c:chart>
  <c:spPr>
    <a:solidFill xmlns:a="http://schemas.openxmlformats.org/drawingml/2006/main">
      <a:srgbClr val="F7F6F2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latin typeface="IBM Plex Sans"/>
                <a:ea typeface="IBM Plex Sans"/>
                <a:cs typeface="IBM Plex Sans"/>
              </a:rPr>
              <a:t>Our FM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latin typeface="IBM Plex Sans"/>
              <a:ea typeface="IBM Plex Sans"/>
              <a:cs typeface="IBM Plex Sans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μ</c:v>
          </c:tx>
          <c:spPr>
            <a:solidFill xmlns:a="http://schemas.openxmlformats.org/drawingml/2006/main">
              <a:srgbClr val="215FA9"/>
            </a:solidFill>
            <a:ln xmlns:a="http://schemas.openxmlformats.org/drawingml/2006/main" w="23813">
              <a:solidFill>
                <a:srgbClr val="215FA9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15FA9"/>
              </a:solidFill>
            </c:spPr>
          </c:marker>
          <c:xVal>
            <c:numLit>
              <c:formatCode>General</c:formatCode>
              <c:ptCount val="4"/>
              <c:pt idx="0">
                <c:v>0.5</c:v>
              </c:pt>
              <c:pt idx="1">
                <c:v>0.75</c:v>
              </c:pt>
              <c:pt idx="2">
                <c:v>1</c:v>
              </c:pt>
              <c:pt idx="3">
                <c:v>1.5</c:v>
              </c:pt>
            </c:numLit>
          </c:xVal>
          <c:yVal>
            <c:numLit>
              <c:formatCode>0.0</c:formatCode>
              <c:ptCount val="4"/>
              <c:pt idx="0">
                <c:v>0.6839060050614126</c:v>
              </c:pt>
              <c:pt idx="1">
                <c:v>0.8128560180435346</c:v>
              </c:pt>
              <c:pt idx="2">
                <c:v>0.9431743124547104</c:v>
              </c:pt>
              <c:pt idx="3">
                <c:v>1.235852377256466</c:v>
              </c:pt>
            </c:numLit>
          </c:yVal>
        </c:ser>
        <c:ser>
          <c:idx val="1"/>
          <c:order val="1"/>
          <c:tx>
            <c:v>α</c:v>
          </c:tx>
          <c:spPr>
            <a:solidFill xmlns:a="http://schemas.openxmlformats.org/drawingml/2006/main">
              <a:srgbClr val="AC600D"/>
            </a:solidFill>
            <a:ln xmlns:a="http://schemas.openxmlformats.org/drawingml/2006/main" w="23813">
              <a:solidFill>
                <a:srgbClr val="AC600D"/>
              </a:solidFill>
            </a:ln>
          </c:spPr>
          <c:marker>
            <c:symbol val="square"/>
            <c:size val="7"/>
            <c:spPr>
              <a:solidFill xmlns:a="http://schemas.openxmlformats.org/drawingml/2006/main">
                <a:srgbClr val="AC600D"/>
              </a:solidFill>
            </c:spPr>
          </c:marker>
          <c:xVal>
            <c:numLit>
              <c:formatCode>General</c:formatCode>
              <c:ptCount val="4"/>
              <c:pt idx="0">
                <c:v>0.5</c:v>
              </c:pt>
              <c:pt idx="1">
                <c:v>0.75</c:v>
              </c:pt>
              <c:pt idx="2">
                <c:v>1</c:v>
              </c:pt>
              <c:pt idx="3">
                <c:v>1.5</c:v>
              </c:pt>
            </c:numLit>
          </c:xVal>
          <c:yVal>
            <c:numLit>
              <c:formatCode>0.0</c:formatCode>
              <c:ptCount val="4"/>
              <c:pt idx="0">
                <c:v>0.6722677348107483</c:v>
              </c:pt>
              <c:pt idx="1">
                <c:v>0.8018797848692661</c:v>
              </c:pt>
              <c:pt idx="2">
                <c:v>0.9530023582273582</c:v>
              </c:pt>
              <c:pt idx="3">
                <c:v>1.167878913472397</c:v>
              </c:pt>
            </c:numLit>
          </c:yVal>
        </c:ser>
        <c:ser>
          <c:idx val="2"/>
          <c:order val="2"/>
          <c:tx>
            <c:v>gap</c:v>
          </c:tx>
          <c:spPr>
            <a:solidFill xmlns:a="http://schemas.openxmlformats.org/drawingml/2006/main">
              <a:srgbClr val="27745E"/>
            </a:solidFill>
            <a:ln xmlns:a="http://schemas.openxmlformats.org/drawingml/2006/main" w="23813">
              <a:solidFill>
                <a:srgbClr val="27745E"/>
              </a:solidFill>
            </a:ln>
          </c:spPr>
          <c:marker>
            <c:symbol val="triangle"/>
            <c:size val="7"/>
            <c:spPr>
              <a:solidFill xmlns:a="http://schemas.openxmlformats.org/drawingml/2006/main">
                <a:srgbClr val="27745E"/>
              </a:solidFill>
            </c:spPr>
          </c:marker>
          <c:xVal>
            <c:numLit>
              <c:formatCode>General</c:formatCode>
              <c:ptCount val="4"/>
              <c:pt idx="0">
                <c:v>0.5</c:v>
              </c:pt>
              <c:pt idx="1">
                <c:v>0.75</c:v>
              </c:pt>
              <c:pt idx="2">
                <c:v>1</c:v>
              </c:pt>
              <c:pt idx="3">
                <c:v>1.5</c:v>
              </c:pt>
            </c:numLit>
          </c:xVal>
          <c:yVal>
            <c:numLit>
              <c:formatCode>0.0</c:formatCode>
              <c:ptCount val="4"/>
              <c:pt idx="0">
                <c:v>0.7586505327876238</c:v>
              </c:pt>
              <c:pt idx="1">
                <c:v>0.8795634799876939</c:v>
              </c:pt>
              <c:pt idx="2">
                <c:v>0.9892819177943327</c:v>
              </c:pt>
              <c:pt idx="3">
                <c:v>1.1469565098115357</c:v>
              </c:pt>
            </c:numLit>
          </c:yVal>
        </c:ser>
        <c:ser>
          <c:idx val="3"/>
          <c:order val="3"/>
          <c:tx>
            <c:v>Unguided</c:v>
          </c:tx>
          <c:spPr>
            <a:ln xmlns:a="http://schemas.openxmlformats.org/drawingml/2006/main" w="12383">
              <a:solidFill>
                <a:srgbClr val="8B929A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0.5</c:v>
              </c:pt>
              <c:pt idx="1">
                <c:v>1.5</c:v>
              </c:pt>
            </c:numLit>
          </c:xVal>
          <c:yVal>
            <c:numLit>
              <c:formatCode>0.0</c:formatCode>
              <c:ptCount val="2"/>
              <c:pt idx="0">
                <c:v>1</c:v>
              </c:pt>
              <c:pt idx="1">
                <c:v>1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4"/>
          <c:min val="0.6"/>
        </c:scaling>
        <c:delete val="0"/>
        <c:axPos val="l"/>
        <c:majorGridlines>
          <c:spPr>
            <a:ln xmlns:a="http://schemas.openxmlformats.org/drawingml/2006/main" w="7620">
              <a:solidFill>
                <a:srgbClr val="DAD7C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BM Plex Sans"/>
                    <a:ea typeface="IBM Plex Sans"/>
                    <a:cs typeface="IBM Plex Sans"/>
                  </a:rPr>
                  <a:t>Spread / unguided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.5"/>
          <c:min val="0.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BM Plex Sans"/>
                    <a:ea typeface="IBM Plex Sans"/>
                    <a:cs typeface="IBM Plex Sans"/>
                  </a:rPr>
                  <a:t>Setpoint τₘ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72768"/>
        <c:majorUnit val="0.25"/>
      </c:valAx>
      <c:spPr>
        <a:solidFill xmlns:a="http://schemas.openxmlformats.org/drawingml/2006/main">
          <a:srgbClr val="F7F6F2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IBM Plex Sans"/>
              <a:ea typeface="IBM Plex Sans"/>
              <a:cs typeface="IBM Plex Sans"/>
            </a:defRPr>
          </a:pPr>
        </a:p>
      </c:txPr>
    </c:legend>
    <c:plotVisOnly val="1"/>
  </c:chart>
  <c:spPr>
    <a:solidFill xmlns:a="http://schemas.openxmlformats.org/drawingml/2006/main">
      <a:srgbClr val="F7F6F2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latin typeface="IBM Plex Sans"/>
                <a:ea typeface="IBM Plex Sans"/>
                <a:cs typeface="IBM Plex Sans"/>
              </a:rPr>
              <a:t>EquiFM (flow matching)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latin typeface="IBM Plex Sans"/>
              <a:ea typeface="IBM Plex Sans"/>
              <a:cs typeface="IBM Plex Sans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μ</c:v>
          </c:tx>
          <c:spPr>
            <a:solidFill xmlns:a="http://schemas.openxmlformats.org/drawingml/2006/main">
              <a:srgbClr val="215FA9"/>
            </a:solidFill>
            <a:ln xmlns:a="http://schemas.openxmlformats.org/drawingml/2006/main" w="23813">
              <a:solidFill>
                <a:srgbClr val="215FA9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15FA9"/>
              </a:solidFill>
            </c:spPr>
          </c:marker>
          <c:xVal>
            <c:numLit>
              <c:formatCode>General</c:formatCode>
              <c:ptCount val="4"/>
              <c:pt idx="0">
                <c:v>0.5</c:v>
              </c:pt>
              <c:pt idx="1">
                <c:v>0.75</c:v>
              </c:pt>
              <c:pt idx="2">
                <c:v>1</c:v>
              </c:pt>
              <c:pt idx="3">
                <c:v>1.5</c:v>
              </c:pt>
            </c:numLit>
          </c:xVal>
          <c:yVal>
            <c:numLit>
              <c:formatCode>0.0</c:formatCode>
              <c:ptCount val="4"/>
              <c:pt idx="0">
                <c:v>0.6929324351918323</c:v>
              </c:pt>
              <c:pt idx="1">
                <c:v>0.816136011693965</c:v>
              </c:pt>
              <c:pt idx="2">
                <c:v>0.9735760554610261</c:v>
              </c:pt>
              <c:pt idx="3">
                <c:v>1.2499167017206412</c:v>
              </c:pt>
            </c:numLit>
          </c:yVal>
        </c:ser>
        <c:ser>
          <c:idx val="1"/>
          <c:order val="1"/>
          <c:tx>
            <c:v>α</c:v>
          </c:tx>
          <c:spPr>
            <a:solidFill xmlns:a="http://schemas.openxmlformats.org/drawingml/2006/main">
              <a:srgbClr val="AC600D"/>
            </a:solidFill>
            <a:ln xmlns:a="http://schemas.openxmlformats.org/drawingml/2006/main" w="23813">
              <a:solidFill>
                <a:srgbClr val="AC600D"/>
              </a:solidFill>
            </a:ln>
          </c:spPr>
          <c:marker>
            <c:symbol val="square"/>
            <c:size val="7"/>
            <c:spPr>
              <a:solidFill xmlns:a="http://schemas.openxmlformats.org/drawingml/2006/main">
                <a:srgbClr val="AC600D"/>
              </a:solidFill>
            </c:spPr>
          </c:marker>
          <c:xVal>
            <c:numLit>
              <c:formatCode>General</c:formatCode>
              <c:ptCount val="4"/>
              <c:pt idx="0">
                <c:v>0.5</c:v>
              </c:pt>
              <c:pt idx="1">
                <c:v>0.75</c:v>
              </c:pt>
              <c:pt idx="2">
                <c:v>1</c:v>
              </c:pt>
              <c:pt idx="3">
                <c:v>1.5</c:v>
              </c:pt>
            </c:numLit>
          </c:xVal>
          <c:yVal>
            <c:numLit>
              <c:formatCode>0.0</c:formatCode>
              <c:ptCount val="4"/>
              <c:pt idx="0">
                <c:v>0.7268512413565675</c:v>
              </c:pt>
              <c:pt idx="1">
                <c:v>0.8473122404385468</c:v>
              </c:pt>
              <c:pt idx="2">
                <c:v>0.9907508934057959</c:v>
              </c:pt>
              <c:pt idx="3">
                <c:v>1.2345629269424816</c:v>
              </c:pt>
            </c:numLit>
          </c:yVal>
        </c:ser>
        <c:ser>
          <c:idx val="2"/>
          <c:order val="2"/>
          <c:tx>
            <c:v>gap</c:v>
          </c:tx>
          <c:spPr>
            <a:solidFill xmlns:a="http://schemas.openxmlformats.org/drawingml/2006/main">
              <a:srgbClr val="27745E"/>
            </a:solidFill>
            <a:ln xmlns:a="http://schemas.openxmlformats.org/drawingml/2006/main" w="23813">
              <a:solidFill>
                <a:srgbClr val="27745E"/>
              </a:solidFill>
            </a:ln>
          </c:spPr>
          <c:marker>
            <c:symbol val="triangle"/>
            <c:size val="7"/>
            <c:spPr>
              <a:solidFill xmlns:a="http://schemas.openxmlformats.org/drawingml/2006/main">
                <a:srgbClr val="27745E"/>
              </a:solidFill>
            </c:spPr>
          </c:marker>
          <c:xVal>
            <c:numLit>
              <c:formatCode>General</c:formatCode>
              <c:ptCount val="4"/>
              <c:pt idx="0">
                <c:v>0.5</c:v>
              </c:pt>
              <c:pt idx="1">
                <c:v>0.75</c:v>
              </c:pt>
              <c:pt idx="2">
                <c:v>1</c:v>
              </c:pt>
              <c:pt idx="3">
                <c:v>1.5</c:v>
              </c:pt>
            </c:numLit>
          </c:xVal>
          <c:yVal>
            <c:numLit>
              <c:formatCode>0.0</c:formatCode>
              <c:ptCount val="4"/>
              <c:pt idx="0">
                <c:v>0.7720245063643038</c:v>
              </c:pt>
              <c:pt idx="1">
                <c:v>0.8749699202523967</c:v>
              </c:pt>
              <c:pt idx="2">
                <c:v>1.0029185623253838</c:v>
              </c:pt>
              <c:pt idx="3">
                <c:v>1.1774739991471592</c:v>
              </c:pt>
            </c:numLit>
          </c:yVal>
        </c:ser>
        <c:ser>
          <c:idx val="3"/>
          <c:order val="3"/>
          <c:tx>
            <c:v>Unguided</c:v>
          </c:tx>
          <c:spPr>
            <a:ln xmlns:a="http://schemas.openxmlformats.org/drawingml/2006/main" w="12383">
              <a:solidFill>
                <a:srgbClr val="8B929A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0.5</c:v>
              </c:pt>
              <c:pt idx="1">
                <c:v>1.5</c:v>
              </c:pt>
            </c:numLit>
          </c:xVal>
          <c:yVal>
            <c:numLit>
              <c:formatCode>0.0</c:formatCode>
              <c:ptCount val="2"/>
              <c:pt idx="0">
                <c:v>1</c:v>
              </c:pt>
              <c:pt idx="1">
                <c:v>1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4"/>
          <c:min val="0.6"/>
        </c:scaling>
        <c:delete val="0"/>
        <c:axPos val="l"/>
        <c:majorGridlines>
          <c:spPr>
            <a:ln xmlns:a="http://schemas.openxmlformats.org/drawingml/2006/main" w="7620">
              <a:solidFill>
                <a:srgbClr val="DAD7C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BM Plex Sans"/>
                    <a:ea typeface="IBM Plex Sans"/>
                    <a:cs typeface="IBM Plex Sans"/>
                  </a:rPr>
                  <a:t>Spread / unguided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.5"/>
          <c:min val="0.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BM Plex Sans"/>
                    <a:ea typeface="IBM Plex Sans"/>
                    <a:cs typeface="IBM Plex Sans"/>
                  </a:rPr>
                  <a:t>Setpoint τₘ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72768"/>
        <c:majorUnit val="0.25"/>
      </c:valAx>
      <c:spPr>
        <a:solidFill xmlns:a="http://schemas.openxmlformats.org/drawingml/2006/main">
          <a:srgbClr val="F7F6F2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IBM Plex Sans"/>
              <a:ea typeface="IBM Plex Sans"/>
              <a:cs typeface="IBM Plex Sans"/>
            </a:defRPr>
          </a:pPr>
        </a:p>
      </c:txPr>
    </c:legend>
    <c:plotVisOnly val="1"/>
  </c:chart>
  <c:spPr>
    <a:solidFill xmlns:a="http://schemas.openxmlformats.org/drawingml/2006/main">
      <a:srgbClr val="F7F6F2"/>
    </a:solidFill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latin typeface="IBM Plex Sans"/>
                <a:ea typeface="IBM Plex Sans"/>
                <a:cs typeface="IBM Plex Sans"/>
              </a:rPr>
              <a:t>GC fraction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latin typeface="IBM Plex Sans"/>
              <a:ea typeface="IBM Plex Sans"/>
              <a:cs typeface="IBM Plex Sans"/>
            </a:defRPr>
          </a:pPr>
        </a:p>
      </c:txPr>
    </c:title>
    <c:plotArea>
      <c:scatterChart>
        <c:scatterStyle val="line"/>
        <c:ser>
          <c:idx val="0"/>
          <c:order val="0"/>
          <c:tx>
            <c:v>Training histogram</c:v>
          </c:tx>
          <c:spPr>
            <a:ln xmlns:a="http://schemas.openxmlformats.org/drawingml/2006/main" w="17145">
              <a:solidFill>
                <a:srgbClr val="215FA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58"/>
              <c:pt idx="0">
                <c:v>0.239</c:v>
              </c:pt>
              <c:pt idx="1">
                <c:v>0.245</c:v>
              </c:pt>
              <c:pt idx="2">
                <c:v>0.245</c:v>
              </c:pt>
              <c:pt idx="3">
                <c:v>0.251</c:v>
              </c:pt>
              <c:pt idx="4">
                <c:v>0.251</c:v>
              </c:pt>
              <c:pt idx="5">
                <c:v>0.257</c:v>
              </c:pt>
              <c:pt idx="6">
                <c:v>0.257</c:v>
              </c:pt>
              <c:pt idx="7">
                <c:v>0.263</c:v>
              </c:pt>
              <c:pt idx="8">
                <c:v>0.263</c:v>
              </c:pt>
              <c:pt idx="9">
                <c:v>0.269</c:v>
              </c:pt>
              <c:pt idx="10">
                <c:v>0.269</c:v>
              </c:pt>
              <c:pt idx="11">
                <c:v>0.275</c:v>
              </c:pt>
              <c:pt idx="12">
                <c:v>0.275</c:v>
              </c:pt>
              <c:pt idx="13">
                <c:v>0.281</c:v>
              </c:pt>
              <c:pt idx="14">
                <c:v>0.281</c:v>
              </c:pt>
              <c:pt idx="15">
                <c:v>0.287</c:v>
              </c:pt>
              <c:pt idx="16">
                <c:v>0.287</c:v>
              </c:pt>
              <c:pt idx="17">
                <c:v>0.293</c:v>
              </c:pt>
              <c:pt idx="18">
                <c:v>0.293</c:v>
              </c:pt>
              <c:pt idx="19">
                <c:v>0.299</c:v>
              </c:pt>
              <c:pt idx="20">
                <c:v>0.299</c:v>
              </c:pt>
              <c:pt idx="21">
                <c:v>0.305</c:v>
              </c:pt>
              <c:pt idx="22">
                <c:v>0.305</c:v>
              </c:pt>
              <c:pt idx="23">
                <c:v>0.311</c:v>
              </c:pt>
              <c:pt idx="24">
                <c:v>0.311</c:v>
              </c:pt>
              <c:pt idx="25">
                <c:v>0.317</c:v>
              </c:pt>
              <c:pt idx="26">
                <c:v>0.317</c:v>
              </c:pt>
              <c:pt idx="27">
                <c:v>0.323</c:v>
              </c:pt>
              <c:pt idx="28">
                <c:v>0.323</c:v>
              </c:pt>
              <c:pt idx="29">
                <c:v>0.329</c:v>
              </c:pt>
              <c:pt idx="30">
                <c:v>0.329</c:v>
              </c:pt>
              <c:pt idx="31">
                <c:v>0.335</c:v>
              </c:pt>
              <c:pt idx="32">
                <c:v>0.335</c:v>
              </c:pt>
              <c:pt idx="33">
                <c:v>0.341</c:v>
              </c:pt>
              <c:pt idx="34">
                <c:v>0.341</c:v>
              </c:pt>
              <c:pt idx="35">
                <c:v>0.347</c:v>
              </c:pt>
              <c:pt idx="36">
                <c:v>0.347</c:v>
              </c:pt>
              <c:pt idx="37">
                <c:v>0.353</c:v>
              </c:pt>
              <c:pt idx="38">
                <c:v>0.353</c:v>
              </c:pt>
              <c:pt idx="39">
                <c:v>0.359</c:v>
              </c:pt>
              <c:pt idx="40">
                <c:v>0.359</c:v>
              </c:pt>
              <c:pt idx="41">
                <c:v>0.365</c:v>
              </c:pt>
              <c:pt idx="42">
                <c:v>0.365</c:v>
              </c:pt>
              <c:pt idx="43">
                <c:v>0.371</c:v>
              </c:pt>
              <c:pt idx="44">
                <c:v>0.371</c:v>
              </c:pt>
              <c:pt idx="45">
                <c:v>0.377</c:v>
              </c:pt>
              <c:pt idx="46">
                <c:v>0.377</c:v>
              </c:pt>
              <c:pt idx="47">
                <c:v>0.383</c:v>
              </c:pt>
              <c:pt idx="48">
                <c:v>0.383</c:v>
              </c:pt>
              <c:pt idx="49">
                <c:v>0.389</c:v>
              </c:pt>
              <c:pt idx="50">
                <c:v>0.389</c:v>
              </c:pt>
              <c:pt idx="51">
                <c:v>0.395</c:v>
              </c:pt>
              <c:pt idx="52">
                <c:v>0.395</c:v>
              </c:pt>
              <c:pt idx="53">
                <c:v>0.401</c:v>
              </c:pt>
              <c:pt idx="54">
                <c:v>0.401</c:v>
              </c:pt>
              <c:pt idx="55">
                <c:v>0.407</c:v>
              </c:pt>
              <c:pt idx="56">
                <c:v>0.407</c:v>
              </c:pt>
              <c:pt idx="57">
                <c:v>0.413</c:v>
              </c:pt>
              <c:pt idx="58">
                <c:v>0.413</c:v>
              </c:pt>
              <c:pt idx="59">
                <c:v>0.419</c:v>
              </c:pt>
              <c:pt idx="60">
                <c:v>0.419</c:v>
              </c:pt>
              <c:pt idx="61">
                <c:v>0.425</c:v>
              </c:pt>
              <c:pt idx="62">
                <c:v>0.425</c:v>
              </c:pt>
              <c:pt idx="63">
                <c:v>0.431</c:v>
              </c:pt>
              <c:pt idx="64">
                <c:v>0.431</c:v>
              </c:pt>
              <c:pt idx="65">
                <c:v>0.437</c:v>
              </c:pt>
              <c:pt idx="66">
                <c:v>0.437</c:v>
              </c:pt>
              <c:pt idx="67">
                <c:v>0.443</c:v>
              </c:pt>
              <c:pt idx="68">
                <c:v>0.443</c:v>
              </c:pt>
              <c:pt idx="69">
                <c:v>0.449</c:v>
              </c:pt>
              <c:pt idx="70">
                <c:v>0.449</c:v>
              </c:pt>
              <c:pt idx="71">
                <c:v>0.455</c:v>
              </c:pt>
              <c:pt idx="72">
                <c:v>0.455</c:v>
              </c:pt>
              <c:pt idx="73">
                <c:v>0.461</c:v>
              </c:pt>
              <c:pt idx="74">
                <c:v>0.461</c:v>
              </c:pt>
              <c:pt idx="75">
                <c:v>0.467</c:v>
              </c:pt>
              <c:pt idx="76">
                <c:v>0.467</c:v>
              </c:pt>
              <c:pt idx="77">
                <c:v>0.473</c:v>
              </c:pt>
              <c:pt idx="78">
                <c:v>0.473</c:v>
              </c:pt>
              <c:pt idx="79">
                <c:v>0.479</c:v>
              </c:pt>
              <c:pt idx="80">
                <c:v>0.479</c:v>
              </c:pt>
              <c:pt idx="81">
                <c:v>0.485</c:v>
              </c:pt>
              <c:pt idx="82">
                <c:v>0.485</c:v>
              </c:pt>
              <c:pt idx="83">
                <c:v>0.491</c:v>
              </c:pt>
              <c:pt idx="84">
                <c:v>0.491</c:v>
              </c:pt>
              <c:pt idx="85">
                <c:v>0.497</c:v>
              </c:pt>
              <c:pt idx="86">
                <c:v>0.497</c:v>
              </c:pt>
              <c:pt idx="87">
                <c:v>0.503</c:v>
              </c:pt>
              <c:pt idx="88">
                <c:v>0.503</c:v>
              </c:pt>
              <c:pt idx="89">
                <c:v>0.509</c:v>
              </c:pt>
              <c:pt idx="90">
                <c:v>0.509</c:v>
              </c:pt>
              <c:pt idx="91">
                <c:v>0.515</c:v>
              </c:pt>
              <c:pt idx="92">
                <c:v>0.515</c:v>
              </c:pt>
              <c:pt idx="93">
                <c:v>0.521</c:v>
              </c:pt>
              <c:pt idx="94">
                <c:v>0.521</c:v>
              </c:pt>
              <c:pt idx="95">
                <c:v>0.527</c:v>
              </c:pt>
              <c:pt idx="96">
                <c:v>0.527</c:v>
              </c:pt>
              <c:pt idx="97">
                <c:v>0.533</c:v>
              </c:pt>
              <c:pt idx="98">
                <c:v>0.533</c:v>
              </c:pt>
              <c:pt idx="99">
                <c:v>0.539</c:v>
              </c:pt>
              <c:pt idx="100">
                <c:v>0.539</c:v>
              </c:pt>
              <c:pt idx="101">
                <c:v>0.545</c:v>
              </c:pt>
              <c:pt idx="102">
                <c:v>0.545</c:v>
              </c:pt>
              <c:pt idx="103">
                <c:v>0.551</c:v>
              </c:pt>
              <c:pt idx="104">
                <c:v>0.551</c:v>
              </c:pt>
              <c:pt idx="105">
                <c:v>0.557</c:v>
              </c:pt>
              <c:pt idx="106">
                <c:v>0.557</c:v>
              </c:pt>
              <c:pt idx="107">
                <c:v>0.563</c:v>
              </c:pt>
              <c:pt idx="108">
                <c:v>0.563</c:v>
              </c:pt>
              <c:pt idx="109">
                <c:v>0.569</c:v>
              </c:pt>
              <c:pt idx="110">
                <c:v>0.569</c:v>
              </c:pt>
              <c:pt idx="111">
                <c:v>0.575</c:v>
              </c:pt>
              <c:pt idx="112">
                <c:v>0.575</c:v>
              </c:pt>
              <c:pt idx="113">
                <c:v>0.581</c:v>
              </c:pt>
              <c:pt idx="114">
                <c:v>0.581</c:v>
              </c:pt>
              <c:pt idx="115">
                <c:v>0.587</c:v>
              </c:pt>
              <c:pt idx="116">
                <c:v>0.587</c:v>
              </c:pt>
              <c:pt idx="117">
                <c:v>0.593</c:v>
              </c:pt>
              <c:pt idx="118">
                <c:v>0.593</c:v>
              </c:pt>
              <c:pt idx="119">
                <c:v>0.599</c:v>
              </c:pt>
              <c:pt idx="120">
                <c:v>0.599</c:v>
              </c:pt>
              <c:pt idx="121">
                <c:v>0.605</c:v>
              </c:pt>
              <c:pt idx="122">
                <c:v>0.605</c:v>
              </c:pt>
              <c:pt idx="123">
                <c:v>0.611</c:v>
              </c:pt>
              <c:pt idx="124">
                <c:v>0.611</c:v>
              </c:pt>
              <c:pt idx="125">
                <c:v>0.617</c:v>
              </c:pt>
              <c:pt idx="126">
                <c:v>0.617</c:v>
              </c:pt>
              <c:pt idx="127">
                <c:v>0.623</c:v>
              </c:pt>
              <c:pt idx="128">
                <c:v>0.623</c:v>
              </c:pt>
              <c:pt idx="129">
                <c:v>0.629</c:v>
              </c:pt>
              <c:pt idx="130">
                <c:v>0.629</c:v>
              </c:pt>
              <c:pt idx="131">
                <c:v>0.635</c:v>
              </c:pt>
              <c:pt idx="132">
                <c:v>0.635</c:v>
              </c:pt>
              <c:pt idx="133">
                <c:v>0.641</c:v>
              </c:pt>
              <c:pt idx="134">
                <c:v>0.641</c:v>
              </c:pt>
              <c:pt idx="135">
                <c:v>0.647</c:v>
              </c:pt>
              <c:pt idx="136">
                <c:v>0.647</c:v>
              </c:pt>
              <c:pt idx="137">
                <c:v>0.653</c:v>
              </c:pt>
              <c:pt idx="138">
                <c:v>0.653</c:v>
              </c:pt>
              <c:pt idx="139">
                <c:v>0.659</c:v>
              </c:pt>
              <c:pt idx="140">
                <c:v>0.659</c:v>
              </c:pt>
              <c:pt idx="141">
                <c:v>0.665</c:v>
              </c:pt>
              <c:pt idx="142">
                <c:v>0.665</c:v>
              </c:pt>
              <c:pt idx="143">
                <c:v>0.671</c:v>
              </c:pt>
              <c:pt idx="144">
                <c:v>0.671</c:v>
              </c:pt>
              <c:pt idx="145">
                <c:v>0.677</c:v>
              </c:pt>
              <c:pt idx="146">
                <c:v>0.677</c:v>
              </c:pt>
              <c:pt idx="147">
                <c:v>0.683</c:v>
              </c:pt>
              <c:pt idx="148">
                <c:v>0.683</c:v>
              </c:pt>
              <c:pt idx="149">
                <c:v>0.689</c:v>
              </c:pt>
              <c:pt idx="150">
                <c:v>0.689</c:v>
              </c:pt>
              <c:pt idx="151">
                <c:v>0.695</c:v>
              </c:pt>
              <c:pt idx="152">
                <c:v>0.695</c:v>
              </c:pt>
              <c:pt idx="153">
                <c:v>0.701</c:v>
              </c:pt>
              <c:pt idx="154">
                <c:v>0.701</c:v>
              </c:pt>
              <c:pt idx="155">
                <c:v>0.707</c:v>
              </c:pt>
              <c:pt idx="156">
                <c:v>0.707</c:v>
              </c:pt>
              <c:pt idx="157">
                <c:v>0.713</c:v>
              </c:pt>
            </c:numLit>
          </c:xVal>
          <c:yVal>
            <c:numLit>
              <c:formatCode>0</c:formatCode>
              <c:ptCount val="158"/>
              <c:pt idx="0">
                <c:v>0.0019907153038229678</c:v>
              </c:pt>
              <c:pt idx="1">
                <c:v>0.0019907153038229678</c:v>
              </c:pt>
              <c:pt idx="2">
                <c:v>0.00995357651911484</c:v>
              </c:pt>
              <c:pt idx="3">
                <c:v>0.00995357651911484</c:v>
              </c:pt>
              <c:pt idx="4">
                <c:v>0.013935007126760775</c:v>
              </c:pt>
              <c:pt idx="5">
                <c:v>0.013935007126760775</c:v>
              </c:pt>
              <c:pt idx="6">
                <c:v>0.01791643773440671</c:v>
              </c:pt>
              <c:pt idx="7">
                <c:v>0.01791643773440671</c:v>
              </c:pt>
              <c:pt idx="8">
                <c:v>0.021897868342052644</c:v>
              </c:pt>
              <c:pt idx="9">
                <c:v>0.021897868342052644</c:v>
              </c:pt>
              <c:pt idx="10">
                <c:v>0.04379573668410529</c:v>
              </c:pt>
              <c:pt idx="11">
                <c:v>0.04379573668410529</c:v>
              </c:pt>
              <c:pt idx="12">
                <c:v>0.0557400285070431</c:v>
              </c:pt>
              <c:pt idx="13">
                <c:v>0.0557400285070431</c:v>
              </c:pt>
              <c:pt idx="14">
                <c:v>0.07962861215291946</c:v>
              </c:pt>
              <c:pt idx="15">
                <c:v>0.07962861215291946</c:v>
              </c:pt>
              <c:pt idx="16">
                <c:v>0.10152648049497136</c:v>
              </c:pt>
              <c:pt idx="17">
                <c:v>0.10152648049497136</c:v>
              </c:pt>
              <c:pt idx="18">
                <c:v>0.12143363353320104</c:v>
              </c:pt>
              <c:pt idx="19">
                <c:v>0.12143363353320104</c:v>
              </c:pt>
              <c:pt idx="20">
                <c:v>0.1552757936981915</c:v>
              </c:pt>
              <c:pt idx="21">
                <c:v>0.1552757936981915</c:v>
              </c:pt>
              <c:pt idx="22">
                <c:v>0.21300653750905757</c:v>
              </c:pt>
              <c:pt idx="23">
                <c:v>0.21300653750905757</c:v>
              </c:pt>
              <c:pt idx="24">
                <c:v>0.3205051639154978</c:v>
              </c:pt>
              <c:pt idx="25">
                <c:v>0.3205051639154978</c:v>
              </c:pt>
              <c:pt idx="26">
                <c:v>0.37425447711871795</c:v>
              </c:pt>
              <c:pt idx="27">
                <c:v>0.37425447711871795</c:v>
              </c:pt>
              <c:pt idx="28">
                <c:v>0.4379573668410529</c:v>
              </c:pt>
              <c:pt idx="29">
                <c:v>0.4379573668410529</c:v>
              </c:pt>
              <c:pt idx="30">
                <c:v>0.5792981534124837</c:v>
              </c:pt>
              <c:pt idx="31">
                <c:v>0.5792981534124837</c:v>
              </c:pt>
              <c:pt idx="32">
                <c:v>0.738555377718321</c:v>
              </c:pt>
              <c:pt idx="33">
                <c:v>0.738555377718321</c:v>
              </c:pt>
              <c:pt idx="34">
                <c:v>0.9455897693159185</c:v>
              </c:pt>
              <c:pt idx="35">
                <c:v>0.9455897693159185</c:v>
              </c:pt>
              <c:pt idx="36">
                <c:v>1.0351719579879433</c:v>
              </c:pt>
              <c:pt idx="37">
                <c:v>1.0351719579879433</c:v>
              </c:pt>
              <c:pt idx="38">
                <c:v>1.421370726929599</c:v>
              </c:pt>
              <c:pt idx="39">
                <c:v>1.421370726929599</c:v>
              </c:pt>
              <c:pt idx="40">
                <c:v>1.5806279512354364</c:v>
              </c:pt>
              <c:pt idx="41">
                <c:v>1.5806279512354364</c:v>
              </c:pt>
              <c:pt idx="42">
                <c:v>1.994696734430614</c:v>
              </c:pt>
              <c:pt idx="43">
                <c:v>1.994696734430614</c:v>
              </c:pt>
              <c:pt idx="44">
                <c:v>2.3390904819919873</c:v>
              </c:pt>
              <c:pt idx="45">
                <c:v>2.3390904819919873</c:v>
              </c:pt>
              <c:pt idx="46">
                <c:v>2.852695030378313</c:v>
              </c:pt>
              <c:pt idx="47">
                <c:v>2.852695030378313</c:v>
              </c:pt>
              <c:pt idx="48">
                <c:v>3.021905831203265</c:v>
              </c:pt>
              <c:pt idx="49">
                <c:v>3.021905831203265</c:v>
              </c:pt>
              <c:pt idx="50">
                <c:v>3.643009005996031</c:v>
              </c:pt>
              <c:pt idx="51">
                <c:v>3.643009005996031</c:v>
              </c:pt>
              <c:pt idx="52">
                <c:v>4.1426785472555965</c:v>
              </c:pt>
              <c:pt idx="53">
                <c:v>4.1426785472555965</c:v>
              </c:pt>
              <c:pt idx="54">
                <c:v>4.534849462108763</c:v>
              </c:pt>
              <c:pt idx="55">
                <c:v>4.534849462108763</c:v>
              </c:pt>
              <c:pt idx="56">
                <c:v>5.3988199039678895</c:v>
              </c:pt>
              <c:pt idx="57">
                <c:v>5.3988199039678895</c:v>
              </c:pt>
              <c:pt idx="58">
                <c:v>5.6078450108693</c:v>
              </c:pt>
              <c:pt idx="59">
                <c:v>5.6078450108693</c:v>
              </c:pt>
              <c:pt idx="60">
                <c:v>6.314548943726455</c:v>
              </c:pt>
              <c:pt idx="61">
                <c:v>6.314548943726455</c:v>
              </c:pt>
              <c:pt idx="62">
                <c:v>6.217003893839129</c:v>
              </c:pt>
              <c:pt idx="63">
                <c:v>6.217003893839129</c:v>
              </c:pt>
              <c:pt idx="64">
                <c:v>6.909772819569521</c:v>
              </c:pt>
              <c:pt idx="65">
                <c:v>6.909772819569521</c:v>
              </c:pt>
              <c:pt idx="66">
                <c:v>6.995373577633909</c:v>
              </c:pt>
              <c:pt idx="67">
                <c:v>6.995373577633909</c:v>
              </c:pt>
              <c:pt idx="68">
                <c:v>7.556755293311987</c:v>
              </c:pt>
              <c:pt idx="69">
                <c:v>7.556755293311987</c:v>
              </c:pt>
              <c:pt idx="70">
                <c:v>7.598560314692269</c:v>
              </c:pt>
              <c:pt idx="71">
                <c:v>7.598560314692269</c:v>
              </c:pt>
              <c:pt idx="72">
                <c:v>7.53286670966611</c:v>
              </c:pt>
              <c:pt idx="73">
                <c:v>7.53286670966611</c:v>
              </c:pt>
              <c:pt idx="74">
                <c:v>7.343748755802928</c:v>
              </c:pt>
              <c:pt idx="75">
                <c:v>7.343748755802928</c:v>
              </c:pt>
              <c:pt idx="76">
                <c:v>7.272083004865369</c:v>
              </c:pt>
              <c:pt idx="77">
                <c:v>7.272083004865369</c:v>
              </c:pt>
              <c:pt idx="78">
                <c:v>6.885884235923646</c:v>
              </c:pt>
              <c:pt idx="79">
                <c:v>6.885884235923646</c:v>
              </c:pt>
              <c:pt idx="80">
                <c:v>6.563388356704325</c:v>
              </c:pt>
              <c:pt idx="81">
                <c:v>6.563388356704325</c:v>
              </c:pt>
              <c:pt idx="82">
                <c:v>6.101542406217396</c:v>
              </c:pt>
              <c:pt idx="83">
                <c:v>6.101542406217396</c:v>
              </c:pt>
              <c:pt idx="84">
                <c:v>5.65363146285723</c:v>
              </c:pt>
              <c:pt idx="85">
                <c:v>5.65363146285723</c:v>
              </c:pt>
              <c:pt idx="86">
                <c:v>5.126091907344143</c:v>
              </c:pt>
              <c:pt idx="87">
                <c:v>5.126091907344143</c:v>
              </c:pt>
              <c:pt idx="88">
                <c:v>4.548784469235482</c:v>
              </c:pt>
              <c:pt idx="89">
                <c:v>4.548784469235482</c:v>
              </c:pt>
              <c:pt idx="90">
                <c:v>4.019254198418572</c:v>
              </c:pt>
              <c:pt idx="91">
                <c:v>4.019254198418572</c:v>
              </c:pt>
              <c:pt idx="92">
                <c:v>3.617129707046333</c:v>
              </c:pt>
              <c:pt idx="93">
                <c:v>3.617129707046333</c:v>
              </c:pt>
              <c:pt idx="94">
                <c:v>3.0557479913682553</c:v>
              </c:pt>
              <c:pt idx="95">
                <c:v>3.0557479913682553</c:v>
              </c:pt>
              <c:pt idx="96">
                <c:v>2.659595645907485</c:v>
              </c:pt>
              <c:pt idx="97">
                <c:v>2.659595645907485</c:v>
              </c:pt>
              <c:pt idx="98">
                <c:v>2.2753875922696523</c:v>
              </c:pt>
              <c:pt idx="99">
                <c:v>2.2753875922696523</c:v>
              </c:pt>
              <c:pt idx="100">
                <c:v>1.8015973499597862</c:v>
              </c:pt>
              <c:pt idx="101">
                <c:v>1.8015973499597862</c:v>
              </c:pt>
              <c:pt idx="102">
                <c:v>1.4751200401328193</c:v>
              </c:pt>
              <c:pt idx="103">
                <c:v>1.4751200401328193</c:v>
              </c:pt>
              <c:pt idx="104">
                <c:v>1.3317885382575656</c:v>
              </c:pt>
              <c:pt idx="105">
                <c:v>1.3317885382575656</c:v>
              </c:pt>
              <c:pt idx="106">
                <c:v>1.0988748477102985</c:v>
              </c:pt>
              <c:pt idx="107">
                <c:v>1.0988748477102985</c:v>
              </c:pt>
              <c:pt idx="108">
                <c:v>0.993366936607661</c:v>
              </c:pt>
              <c:pt idx="109">
                <c:v>0.993366936607661</c:v>
              </c:pt>
              <c:pt idx="110">
                <c:v>0.7266110858953833</c:v>
              </c:pt>
              <c:pt idx="111">
                <c:v>0.7266110858953833</c:v>
              </c:pt>
              <c:pt idx="112">
                <c:v>0.69077821042657</c:v>
              </c:pt>
              <c:pt idx="113">
                <c:v>0.69077821042657</c:v>
              </c:pt>
              <c:pt idx="114">
                <c:v>0.5036509718672109</c:v>
              </c:pt>
              <c:pt idx="115">
                <c:v>0.5036509718672109</c:v>
              </c:pt>
              <c:pt idx="116">
                <c:v>0.4717995270060434</c:v>
              </c:pt>
              <c:pt idx="117">
                <c:v>0.4717995270060434</c:v>
              </c:pt>
              <c:pt idx="118">
                <c:v>0.3443937475613735</c:v>
              </c:pt>
              <c:pt idx="119">
                <c:v>0.3443937475613735</c:v>
              </c:pt>
              <c:pt idx="120">
                <c:v>0.29462586496579923</c:v>
              </c:pt>
              <c:pt idx="121">
                <c:v>0.29462586496579923</c:v>
              </c:pt>
              <c:pt idx="122">
                <c:v>0.23490440585111022</c:v>
              </c:pt>
              <c:pt idx="123">
                <c:v>0.23490440585111022</c:v>
              </c:pt>
              <c:pt idx="124">
                <c:v>0.16522937021730635</c:v>
              </c:pt>
              <c:pt idx="125">
                <c:v>0.16522937021730635</c:v>
              </c:pt>
              <c:pt idx="126">
                <c:v>0.11944291822937808</c:v>
              </c:pt>
              <c:pt idx="127">
                <c:v>0.11944291822937808</c:v>
              </c:pt>
              <c:pt idx="128">
                <c:v>0.08759147336821058</c:v>
              </c:pt>
              <c:pt idx="129">
                <c:v>0.08759147336821058</c:v>
              </c:pt>
              <c:pt idx="130">
                <c:v>0.07962861215291872</c:v>
              </c:pt>
              <c:pt idx="131">
                <c:v>0.07962861215291872</c:v>
              </c:pt>
              <c:pt idx="132">
                <c:v>0.06967503563380388</c:v>
              </c:pt>
              <c:pt idx="133">
                <c:v>0.06967503563380388</c:v>
              </c:pt>
              <c:pt idx="134">
                <c:v>0.02787001425352155</c:v>
              </c:pt>
              <c:pt idx="135">
                <c:v>0.02787001425352155</c:v>
              </c:pt>
              <c:pt idx="136">
                <c:v>0.04180502138028233</c:v>
              </c:pt>
              <c:pt idx="137">
                <c:v>0.04180502138028233</c:v>
              </c:pt>
              <c:pt idx="138">
                <c:v>0.01791643773440671</c:v>
              </c:pt>
              <c:pt idx="139">
                <c:v>0.01791643773440671</c:v>
              </c:pt>
              <c:pt idx="140">
                <c:v>0.005972145911468904</c:v>
              </c:pt>
              <c:pt idx="141">
                <c:v>0.005972145911468904</c:v>
              </c:pt>
              <c:pt idx="142">
                <c:v>0.00995357651911484</c:v>
              </c:pt>
              <c:pt idx="143">
                <c:v>0.00995357651911484</c:v>
              </c:pt>
              <c:pt idx="144">
                <c:v>0.011944291822937807</c:v>
              </c:pt>
              <c:pt idx="145">
                <c:v>0.011944291822937807</c:v>
              </c:pt>
              <c:pt idx="146">
                <c:v>0.0039814306076459355</c:v>
              </c:pt>
              <c:pt idx="147">
                <c:v>0.0039814306076459355</c:v>
              </c:pt>
              <c:pt idx="148">
                <c:v>0.003981430607646009</c:v>
              </c:pt>
              <c:pt idx="149">
                <c:v>0.003981430607646009</c:v>
              </c:pt>
              <c:pt idx="150">
                <c:v>0</c:v>
              </c:pt>
              <c:pt idx="151">
                <c:v>0</c:v>
              </c:pt>
              <c:pt idx="152">
                <c:v>0</c:v>
              </c:pt>
              <c:pt idx="153">
                <c:v>0</c:v>
              </c:pt>
              <c:pt idx="154">
                <c:v>0</c:v>
              </c:pt>
              <c:pt idx="155">
                <c:v>0</c:v>
              </c:pt>
              <c:pt idx="156">
                <c:v>0.0019907153038229678</c:v>
              </c:pt>
              <c:pt idx="157">
                <c:v>0.0019907153038229678</c:v>
              </c:pt>
            </c:numLit>
          </c:yVal>
        </c:ser>
        <c:ser>
          <c:idx val="1"/>
          <c:order val="1"/>
          <c:tx>
            <c:v>q50</c:v>
          </c:tx>
          <c:spPr>
            <a:ln xmlns:a="http://schemas.openxmlformats.org/drawingml/2006/main" w="19050">
              <a:solidFill>
                <a:srgbClr val="5D3CA6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0.45399999618530273</c:v>
              </c:pt>
              <c:pt idx="1">
                <c:v>0.45399999618530273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8.20644513986765</c:v>
              </c:pt>
            </c:numLit>
          </c:yVal>
        </c:ser>
        <c:ser>
          <c:idx val="2"/>
          <c:order val="2"/>
          <c:tx>
            <c:v>Lower band edge</c:v>
          </c:tx>
          <c:spPr>
            <a:ln xmlns:a="http://schemas.openxmlformats.org/drawingml/2006/main" w="19050">
              <a:solidFill>
                <a:srgbClr val="AC600D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0.44516697466373445</c:v>
              </c:pt>
              <c:pt idx="1">
                <c:v>0.44516697466373445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8.20644513986765</c:v>
              </c:pt>
            </c:numLit>
          </c:yVal>
        </c:ser>
        <c:ser>
          <c:idx val="3"/>
          <c:order val="3"/>
          <c:tx>
            <c:v>Upper band edge</c:v>
          </c:tx>
          <c:spPr>
            <a:ln xmlns:a="http://schemas.openxmlformats.org/drawingml/2006/main" w="19050">
              <a:solidFill>
                <a:srgbClr val="AC600D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0.462833017706871</c:v>
              </c:pt>
              <c:pt idx="1">
                <c:v>0.462833017706871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8.20644513986765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.20644513986765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AD7C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BM Plex Sans"/>
                    <a:ea typeface="IBM Plex Sans"/>
                    <a:cs typeface="IBM Plex Sans"/>
                  </a:rPr>
                  <a:t>Density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50112"/>
      </c:valAx>
      <c:valAx>
        <c:axId val="48650112"/>
        <c:scaling>
          <c:orientation val="minMax"/>
          <c:max val="0.8"/>
          <c:min val="0.2"/>
        </c:scaling>
        <c:delete val="0"/>
        <c:axPos val="b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7F6F2"/>
        </a:solidFill>
      </c:spPr>
    </c:plotArea>
    <c:plotVisOnly val="1"/>
  </c:chart>
  <c:spPr>
    <a:solidFill xmlns:a="http://schemas.openxmlformats.org/drawingml/2006/main">
      <a:srgbClr val="F7F6F2"/>
    </a:solidFill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latin typeface="IBM Plex Sans"/>
                <a:ea typeface="IBM Plex Sans"/>
                <a:cs typeface="IBM Plex Sans"/>
              </a:rPr>
              <a:t>CpG fraction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latin typeface="IBM Plex Sans"/>
              <a:ea typeface="IBM Plex Sans"/>
              <a:cs typeface="IBM Plex Sans"/>
            </a:defRPr>
          </a:pPr>
        </a:p>
      </c:txPr>
    </c:title>
    <c:plotArea>
      <c:scatterChart>
        <c:scatterStyle val="line"/>
        <c:ser>
          <c:idx val="0"/>
          <c:order val="0"/>
          <c:tx>
            <c:v>Training histogram</c:v>
          </c:tx>
          <c:spPr>
            <a:ln xmlns:a="http://schemas.openxmlformats.org/drawingml/2006/main" w="17145">
              <a:solidFill>
                <a:srgbClr val="215FA9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38"/>
              <c:pt idx="0">
                <c:v>0.003006012024048096</c:v>
              </c:pt>
              <c:pt idx="1">
                <c:v>0.00501002004008016</c:v>
              </c:pt>
              <c:pt idx="2">
                <c:v>0.00501002004008016</c:v>
              </c:pt>
              <c:pt idx="3">
                <c:v>0.0070140280561122245</c:v>
              </c:pt>
              <c:pt idx="4">
                <c:v>0.0070140280561122245</c:v>
              </c:pt>
              <c:pt idx="5">
                <c:v>0.009018036072144289</c:v>
              </c:pt>
              <c:pt idx="6">
                <c:v>0.009018036072144289</c:v>
              </c:pt>
              <c:pt idx="7">
                <c:v>0.011022044088176353</c:v>
              </c:pt>
              <c:pt idx="8">
                <c:v>0.011022044088176353</c:v>
              </c:pt>
              <c:pt idx="9">
                <c:v>0.013026052104208416</c:v>
              </c:pt>
              <c:pt idx="10">
                <c:v>0.013026052104208416</c:v>
              </c:pt>
              <c:pt idx="11">
                <c:v>0.01503006012024048</c:v>
              </c:pt>
              <c:pt idx="12">
                <c:v>0.01503006012024048</c:v>
              </c:pt>
              <c:pt idx="13">
                <c:v>0.017034068136272545</c:v>
              </c:pt>
              <c:pt idx="14">
                <c:v>0.017034068136272545</c:v>
              </c:pt>
              <c:pt idx="15">
                <c:v>0.01903807615230461</c:v>
              </c:pt>
              <c:pt idx="16">
                <c:v>0.01903807615230461</c:v>
              </c:pt>
              <c:pt idx="17">
                <c:v>0.021042084168336674</c:v>
              </c:pt>
              <c:pt idx="18">
                <c:v>0.021042084168336674</c:v>
              </c:pt>
              <c:pt idx="19">
                <c:v>0.023046092184368736</c:v>
              </c:pt>
              <c:pt idx="20">
                <c:v>0.023046092184368736</c:v>
              </c:pt>
              <c:pt idx="21">
                <c:v>0.025050100200400802</c:v>
              </c:pt>
              <c:pt idx="22">
                <c:v>0.025050100200400802</c:v>
              </c:pt>
              <c:pt idx="23">
                <c:v>0.027054108216432865</c:v>
              </c:pt>
              <c:pt idx="24">
                <c:v>0.027054108216432865</c:v>
              </c:pt>
              <c:pt idx="25">
                <c:v>0.02905811623246493</c:v>
              </c:pt>
              <c:pt idx="26">
                <c:v>0.02905811623246493</c:v>
              </c:pt>
              <c:pt idx="27">
                <c:v>0.031062124248496994</c:v>
              </c:pt>
              <c:pt idx="28">
                <c:v>0.031062124248496994</c:v>
              </c:pt>
              <c:pt idx="29">
                <c:v>0.033066132264529056</c:v>
              </c:pt>
              <c:pt idx="30">
                <c:v>0.033066132264529056</c:v>
              </c:pt>
              <c:pt idx="31">
                <c:v>0.03507014028056112</c:v>
              </c:pt>
              <c:pt idx="32">
                <c:v>0.03507014028056112</c:v>
              </c:pt>
              <c:pt idx="33">
                <c:v>0.03707414829659319</c:v>
              </c:pt>
              <c:pt idx="34">
                <c:v>0.03707414829659319</c:v>
              </c:pt>
              <c:pt idx="35">
                <c:v>0.03907815631262525</c:v>
              </c:pt>
              <c:pt idx="36">
                <c:v>0.03907815631262525</c:v>
              </c:pt>
              <c:pt idx="37">
                <c:v>0.041082164328657314</c:v>
              </c:pt>
              <c:pt idx="38">
                <c:v>0.041082164328657314</c:v>
              </c:pt>
              <c:pt idx="39">
                <c:v>0.04308617234468938</c:v>
              </c:pt>
              <c:pt idx="40">
                <c:v>0.04308617234468938</c:v>
              </c:pt>
              <c:pt idx="41">
                <c:v>0.045090180360721446</c:v>
              </c:pt>
              <c:pt idx="42">
                <c:v>0.045090180360721446</c:v>
              </c:pt>
              <c:pt idx="43">
                <c:v>0.047094188376753505</c:v>
              </c:pt>
              <c:pt idx="44">
                <c:v>0.047094188376753505</c:v>
              </c:pt>
              <c:pt idx="45">
                <c:v>0.04909819639278557</c:v>
              </c:pt>
              <c:pt idx="46">
                <c:v>0.04909819639278557</c:v>
              </c:pt>
              <c:pt idx="47">
                <c:v>0.05110220440881764</c:v>
              </c:pt>
              <c:pt idx="48">
                <c:v>0.05110220440881764</c:v>
              </c:pt>
              <c:pt idx="49">
                <c:v>0.0531062124248497</c:v>
              </c:pt>
              <c:pt idx="50">
                <c:v>0.0531062124248497</c:v>
              </c:pt>
              <c:pt idx="51">
                <c:v>0.05511022044088176</c:v>
              </c:pt>
              <c:pt idx="52">
                <c:v>0.05511022044088176</c:v>
              </c:pt>
              <c:pt idx="53">
                <c:v>0.05711422845691383</c:v>
              </c:pt>
              <c:pt idx="54">
                <c:v>0.05711422845691383</c:v>
              </c:pt>
              <c:pt idx="55">
                <c:v>0.05911823647294589</c:v>
              </c:pt>
              <c:pt idx="56">
                <c:v>0.05911823647294589</c:v>
              </c:pt>
              <c:pt idx="57">
                <c:v>0.061122244488977955</c:v>
              </c:pt>
              <c:pt idx="58">
                <c:v>0.061122244488977955</c:v>
              </c:pt>
              <c:pt idx="59">
                <c:v>0.06312625250501001</c:v>
              </c:pt>
              <c:pt idx="60">
                <c:v>0.06312625250501001</c:v>
              </c:pt>
              <c:pt idx="61">
                <c:v>0.06513026052104208</c:v>
              </c:pt>
              <c:pt idx="62">
                <c:v>0.06513026052104208</c:v>
              </c:pt>
              <c:pt idx="63">
                <c:v>0.06713426853707415</c:v>
              </c:pt>
              <c:pt idx="64">
                <c:v>0.06713426853707415</c:v>
              </c:pt>
              <c:pt idx="65">
                <c:v>0.06913827655310621</c:v>
              </c:pt>
              <c:pt idx="66">
                <c:v>0.06913827655310621</c:v>
              </c:pt>
              <c:pt idx="67">
                <c:v>0.07114228456913828</c:v>
              </c:pt>
              <c:pt idx="68">
                <c:v>0.07114228456913828</c:v>
              </c:pt>
              <c:pt idx="69">
                <c:v>0.07314629258517034</c:v>
              </c:pt>
              <c:pt idx="70">
                <c:v>0.07314629258517034</c:v>
              </c:pt>
              <c:pt idx="71">
                <c:v>0.07515030060120241</c:v>
              </c:pt>
              <c:pt idx="72">
                <c:v>0.07515030060120241</c:v>
              </c:pt>
              <c:pt idx="73">
                <c:v>0.07715430861723446</c:v>
              </c:pt>
              <c:pt idx="74">
                <c:v>0.07715430861723446</c:v>
              </c:pt>
              <c:pt idx="75">
                <c:v>0.07915831663326653</c:v>
              </c:pt>
              <c:pt idx="76">
                <c:v>0.07915831663326653</c:v>
              </c:pt>
              <c:pt idx="77">
                <c:v>0.0811623246492986</c:v>
              </c:pt>
              <c:pt idx="78">
                <c:v>0.0811623246492986</c:v>
              </c:pt>
              <c:pt idx="79">
                <c:v>0.08316633266533066</c:v>
              </c:pt>
              <c:pt idx="80">
                <c:v>0.08316633266533066</c:v>
              </c:pt>
              <c:pt idx="81">
                <c:v>0.08517034068136273</c:v>
              </c:pt>
              <c:pt idx="82">
                <c:v>0.08517034068136273</c:v>
              </c:pt>
              <c:pt idx="83">
                <c:v>0.0871743486973948</c:v>
              </c:pt>
              <c:pt idx="84">
                <c:v>0.0871743486973948</c:v>
              </c:pt>
              <c:pt idx="85">
                <c:v>0.08917835671342686</c:v>
              </c:pt>
              <c:pt idx="86">
                <c:v>0.08917835671342686</c:v>
              </c:pt>
              <c:pt idx="87">
                <c:v>0.09118236472945891</c:v>
              </c:pt>
              <c:pt idx="88">
                <c:v>0.09118236472945891</c:v>
              </c:pt>
              <c:pt idx="89">
                <c:v>0.09318637274549098</c:v>
              </c:pt>
              <c:pt idx="90">
                <c:v>0.09318637274549098</c:v>
              </c:pt>
              <c:pt idx="91">
                <c:v>0.09519038076152304</c:v>
              </c:pt>
              <c:pt idx="92">
                <c:v>0.09519038076152304</c:v>
              </c:pt>
              <c:pt idx="93">
                <c:v>0.09719438877755511</c:v>
              </c:pt>
              <c:pt idx="94">
                <c:v>0.09719438877755511</c:v>
              </c:pt>
              <c:pt idx="95">
                <c:v>0.09919839679358718</c:v>
              </c:pt>
              <c:pt idx="96">
                <c:v>0.09919839679358718</c:v>
              </c:pt>
              <c:pt idx="97">
                <c:v>0.10120240480961924</c:v>
              </c:pt>
              <c:pt idx="98">
                <c:v>0.10120240480961924</c:v>
              </c:pt>
              <c:pt idx="99">
                <c:v>0.10320641282565131</c:v>
              </c:pt>
              <c:pt idx="100">
                <c:v>0.10320641282565131</c:v>
              </c:pt>
              <c:pt idx="101">
                <c:v>0.10521042084168336</c:v>
              </c:pt>
              <c:pt idx="102">
                <c:v>0.10521042084168336</c:v>
              </c:pt>
              <c:pt idx="103">
                <c:v>0.10721442885771543</c:v>
              </c:pt>
              <c:pt idx="104">
                <c:v>0.10721442885771543</c:v>
              </c:pt>
              <c:pt idx="105">
                <c:v>0.1092184368737475</c:v>
              </c:pt>
              <c:pt idx="106">
                <c:v>0.1092184368737475</c:v>
              </c:pt>
              <c:pt idx="107">
                <c:v>0.11122244488977956</c:v>
              </c:pt>
              <c:pt idx="108">
                <c:v>0.11122244488977956</c:v>
              </c:pt>
              <c:pt idx="109">
                <c:v>0.11322645290581163</c:v>
              </c:pt>
              <c:pt idx="110">
                <c:v>0.11322645290581163</c:v>
              </c:pt>
              <c:pt idx="111">
                <c:v>0.11523046092184369</c:v>
              </c:pt>
              <c:pt idx="112">
                <c:v>0.11523046092184369</c:v>
              </c:pt>
              <c:pt idx="113">
                <c:v>0.11723446893787576</c:v>
              </c:pt>
              <c:pt idx="114">
                <c:v>0.11723446893787576</c:v>
              </c:pt>
              <c:pt idx="115">
                <c:v>0.11923847695390781</c:v>
              </c:pt>
              <c:pt idx="116">
                <c:v>0.11923847695390781</c:v>
              </c:pt>
              <c:pt idx="117">
                <c:v>0.12124248496993988</c:v>
              </c:pt>
              <c:pt idx="118">
                <c:v>0.12124248496993988</c:v>
              </c:pt>
              <c:pt idx="119">
                <c:v>0.12324649298597194</c:v>
              </c:pt>
              <c:pt idx="120">
                <c:v>0.12324649298597194</c:v>
              </c:pt>
              <c:pt idx="121">
                <c:v>0.125250501002004</c:v>
              </c:pt>
              <c:pt idx="122">
                <c:v>0.125250501002004</c:v>
              </c:pt>
              <c:pt idx="123">
                <c:v>0.12725450901803606</c:v>
              </c:pt>
              <c:pt idx="124">
                <c:v>0.12725450901803606</c:v>
              </c:pt>
              <c:pt idx="125">
                <c:v>0.12925851703406813</c:v>
              </c:pt>
              <c:pt idx="126">
                <c:v>0.12925851703406813</c:v>
              </c:pt>
              <c:pt idx="127">
                <c:v>0.1312625250501002</c:v>
              </c:pt>
              <c:pt idx="128">
                <c:v>0.1312625250501002</c:v>
              </c:pt>
              <c:pt idx="129">
                <c:v>0.13326653306613226</c:v>
              </c:pt>
              <c:pt idx="130">
                <c:v>0.13326653306613226</c:v>
              </c:pt>
              <c:pt idx="131">
                <c:v>0.13527054108216433</c:v>
              </c:pt>
              <c:pt idx="132">
                <c:v>0.13527054108216433</c:v>
              </c:pt>
              <c:pt idx="133">
                <c:v>0.1372745490981964</c:v>
              </c:pt>
              <c:pt idx="134">
                <c:v>0.1372745490981964</c:v>
              </c:pt>
              <c:pt idx="135">
                <c:v>0.13927855711422846</c:v>
              </c:pt>
              <c:pt idx="136">
                <c:v>0.13927855711422846</c:v>
              </c:pt>
              <c:pt idx="137">
                <c:v>0.14128256513026052</c:v>
              </c:pt>
            </c:numLit>
          </c:xVal>
          <c:yVal>
            <c:numLit>
              <c:formatCode>0</c:formatCode>
              <c:ptCount val="138"/>
              <c:pt idx="0">
                <c:v>0.005960201619645972</c:v>
              </c:pt>
              <c:pt idx="1">
                <c:v>0.005960201619645972</c:v>
              </c:pt>
              <c:pt idx="2">
                <c:v>0.011920403239291942</c:v>
              </c:pt>
              <c:pt idx="3">
                <c:v>0.011920403239291942</c:v>
              </c:pt>
              <c:pt idx="4">
                <c:v>0.05364181457681373</c:v>
              </c:pt>
              <c:pt idx="5">
                <c:v>0.05364181457681373</c:v>
              </c:pt>
              <c:pt idx="6">
                <c:v>0.1609254437304412</c:v>
              </c:pt>
              <c:pt idx="7">
                <c:v>0.1609254437304412</c:v>
              </c:pt>
              <c:pt idx="8">
                <c:v>0.33377129070017464</c:v>
              </c:pt>
              <c:pt idx="9">
                <c:v>0.33377129070017464</c:v>
              </c:pt>
              <c:pt idx="10">
                <c:v>0.6913833878789326</c:v>
              </c:pt>
              <c:pt idx="11">
                <c:v>0.6913833878789326</c:v>
              </c:pt>
              <c:pt idx="12">
                <c:v>1.1980005255488402</c:v>
              </c:pt>
              <c:pt idx="13">
                <c:v>1.1980005255488402</c:v>
              </c:pt>
              <c:pt idx="14">
                <c:v>2.229115405747591</c:v>
              </c:pt>
              <c:pt idx="15">
                <c:v>2.229115405747591</c:v>
              </c:pt>
              <c:pt idx="16">
                <c:v>3.623802584744753</c:v>
              </c:pt>
              <c:pt idx="17">
                <c:v>3.623802584744753</c:v>
              </c:pt>
              <c:pt idx="18">
                <c:v>5.584708917608279</c:v>
              </c:pt>
              <c:pt idx="19">
                <c:v>5.584708917608279</c:v>
              </c:pt>
              <c:pt idx="20">
                <c:v>7.921107952509488</c:v>
              </c:pt>
              <c:pt idx="21">
                <c:v>7.921107952509488</c:v>
              </c:pt>
              <c:pt idx="22">
                <c:v>10.251546785791078</c:v>
              </c:pt>
              <c:pt idx="23">
                <c:v>10.251546785791078</c:v>
              </c:pt>
              <c:pt idx="24">
                <c:v>13.625020902510677</c:v>
              </c:pt>
              <c:pt idx="25">
                <c:v>13.625020902510677</c:v>
              </c:pt>
              <c:pt idx="26">
                <c:v>16.789887962542714</c:v>
              </c:pt>
              <c:pt idx="27">
                <c:v>16.789887962542714</c:v>
              </c:pt>
              <c:pt idx="28">
                <c:v>19.7699887723657</c:v>
              </c:pt>
              <c:pt idx="29">
                <c:v>19.7699887723657</c:v>
              </c:pt>
              <c:pt idx="30">
                <c:v>22.80969159838511</c:v>
              </c:pt>
              <c:pt idx="31">
                <c:v>22.80969159838511</c:v>
              </c:pt>
              <c:pt idx="32">
                <c:v>25.134170230047033</c:v>
              </c:pt>
              <c:pt idx="33">
                <c:v>25.134170230047033</c:v>
              </c:pt>
              <c:pt idx="34">
                <c:v>27.703017128114542</c:v>
              </c:pt>
              <c:pt idx="35">
                <c:v>27.703017128114542</c:v>
              </c:pt>
              <c:pt idx="36">
                <c:v>28.787773822890014</c:v>
              </c:pt>
              <c:pt idx="37">
                <c:v>28.787773822890014</c:v>
              </c:pt>
              <c:pt idx="38">
                <c:v>28.620888177539925</c:v>
              </c:pt>
              <c:pt idx="39">
                <c:v>28.620888177539925</c:v>
              </c:pt>
              <c:pt idx="40">
                <c:v>27.983146604237806</c:v>
              </c:pt>
              <c:pt idx="41">
                <c:v>27.983146604237806</c:v>
              </c:pt>
              <c:pt idx="42">
                <c:v>28.036788418814716</c:v>
              </c:pt>
              <c:pt idx="43">
                <c:v>28.036788418814716</c:v>
              </c:pt>
              <c:pt idx="44">
                <c:v>26.32025035235658</c:v>
              </c:pt>
              <c:pt idx="45">
                <c:v>26.32025035235658</c:v>
              </c:pt>
              <c:pt idx="46">
                <c:v>25.169931439764913</c:v>
              </c:pt>
              <c:pt idx="47">
                <c:v>25.169931439764913</c:v>
              </c:pt>
              <c:pt idx="48">
                <c:v>22.916975227538817</c:v>
              </c:pt>
              <c:pt idx="49">
                <c:v>22.916975227538817</c:v>
              </c:pt>
              <c:pt idx="50">
                <c:v>20.99183010439309</c:v>
              </c:pt>
              <c:pt idx="51">
                <c:v>20.99183010439309</c:v>
              </c:pt>
              <c:pt idx="52">
                <c:v>19.36469506222974</c:v>
              </c:pt>
              <c:pt idx="53">
                <c:v>19.36469506222974</c:v>
              </c:pt>
              <c:pt idx="54">
                <c:v>16.950813406273184</c:v>
              </c:pt>
              <c:pt idx="55">
                <c:v>16.950813406273184</c:v>
              </c:pt>
              <c:pt idx="56">
                <c:v>14.16739924989846</c:v>
              </c:pt>
              <c:pt idx="57">
                <c:v>14.16739924989846</c:v>
              </c:pt>
              <c:pt idx="58">
                <c:v>13.029000740546126</c:v>
              </c:pt>
              <c:pt idx="59">
                <c:v>13.029000740546126</c:v>
              </c:pt>
              <c:pt idx="60">
                <c:v>11.264781061130874</c:v>
              </c:pt>
              <c:pt idx="61">
                <c:v>11.264781061130874</c:v>
              </c:pt>
              <c:pt idx="62">
                <c:v>9.196591099113725</c:v>
              </c:pt>
              <c:pt idx="63">
                <c:v>9.196591099113725</c:v>
              </c:pt>
              <c:pt idx="64">
                <c:v>8.511167912854438</c:v>
              </c:pt>
              <c:pt idx="65">
                <c:v>8.511167912854438</c:v>
              </c:pt>
              <c:pt idx="66">
                <c:v>7.104560330617991</c:v>
              </c:pt>
              <c:pt idx="67">
                <c:v>7.104560330617991</c:v>
              </c:pt>
              <c:pt idx="68">
                <c:v>5.793315974295878</c:v>
              </c:pt>
              <c:pt idx="69">
                <c:v>5.793315974295878</c:v>
              </c:pt>
              <c:pt idx="70">
                <c:v>4.970808150784736</c:v>
              </c:pt>
              <c:pt idx="71">
                <c:v>4.970808150784736</c:v>
              </c:pt>
              <c:pt idx="72">
                <c:v>4.124459520795036</c:v>
              </c:pt>
              <c:pt idx="73">
                <c:v>4.124459520795036</c:v>
              </c:pt>
              <c:pt idx="74">
                <c:v>3.719165810659082</c:v>
              </c:pt>
              <c:pt idx="75">
                <c:v>3.719165810659082</c:v>
              </c:pt>
              <c:pt idx="76">
                <c:v>2.9324191968658146</c:v>
              </c:pt>
              <c:pt idx="77">
                <c:v>2.9324191968658146</c:v>
              </c:pt>
              <c:pt idx="78">
                <c:v>2.235075607367237</c:v>
              </c:pt>
              <c:pt idx="79">
                <c:v>2.235075607367237</c:v>
              </c:pt>
              <c:pt idx="80">
                <c:v>1.8059410907527274</c:v>
              </c:pt>
              <c:pt idx="81">
                <c:v>1.8059410907527274</c:v>
              </c:pt>
              <c:pt idx="82">
                <c:v>1.531771816249013</c:v>
              </c:pt>
              <c:pt idx="83">
                <c:v>1.531771816249013</c:v>
              </c:pt>
              <c:pt idx="84">
                <c:v>1.203960727168485</c:v>
              </c:pt>
              <c:pt idx="85">
                <c:v>1.203960727168485</c:v>
              </c:pt>
              <c:pt idx="86">
                <c:v>1.007274073720175</c:v>
              </c:pt>
              <c:pt idx="87">
                <c:v>1.007274073720175</c:v>
              </c:pt>
              <c:pt idx="88">
                <c:v>0.7688660089343295</c:v>
              </c:pt>
              <c:pt idx="89">
                <c:v>0.7688660089343295</c:v>
              </c:pt>
              <c:pt idx="90">
                <c:v>0.5900599603449506</c:v>
              </c:pt>
              <c:pt idx="91">
                <c:v>0.5900599603449506</c:v>
              </c:pt>
              <c:pt idx="92">
                <c:v>0.4470151214734474</c:v>
              </c:pt>
              <c:pt idx="93">
                <c:v>0.4470151214734474</c:v>
              </c:pt>
              <c:pt idx="94">
                <c:v>0.3576120971787579</c:v>
              </c:pt>
              <c:pt idx="95">
                <c:v>0.3576120971787579</c:v>
              </c:pt>
              <c:pt idx="96">
                <c:v>0.3099304842215902</c:v>
              </c:pt>
              <c:pt idx="97">
                <c:v>0.3099304842215902</c:v>
              </c:pt>
              <c:pt idx="98">
                <c:v>0.17880604858937896</c:v>
              </c:pt>
              <c:pt idx="99">
                <c:v>0.17880604858937896</c:v>
              </c:pt>
              <c:pt idx="100">
                <c:v>0.15496524211079618</c:v>
              </c:pt>
              <c:pt idx="101">
                <c:v>0.15496524211079618</c:v>
              </c:pt>
              <c:pt idx="102">
                <c:v>0.12516423401256527</c:v>
              </c:pt>
              <c:pt idx="103">
                <c:v>0.12516423401256527</c:v>
              </c:pt>
              <c:pt idx="104">
                <c:v>0.11920403239291931</c:v>
              </c:pt>
              <c:pt idx="105">
                <c:v>0.11920403239291931</c:v>
              </c:pt>
              <c:pt idx="106">
                <c:v>0.10132342753398141</c:v>
              </c:pt>
              <c:pt idx="107">
                <c:v>0.10132342753398141</c:v>
              </c:pt>
              <c:pt idx="108">
                <c:v>0.017880604858937898</c:v>
              </c:pt>
              <c:pt idx="109">
                <c:v>0.017880604858937898</c:v>
              </c:pt>
              <c:pt idx="110">
                <c:v>0.041721411337521754</c:v>
              </c:pt>
              <c:pt idx="111">
                <c:v>0.041721411337521754</c:v>
              </c:pt>
              <c:pt idx="112">
                <c:v>0.029801008098229827</c:v>
              </c:pt>
              <c:pt idx="113">
                <c:v>0.029801008098229827</c:v>
              </c:pt>
              <c:pt idx="114">
                <c:v>0.029801008098230032</c:v>
              </c:pt>
              <c:pt idx="115">
                <c:v>0.029801008098230032</c:v>
              </c:pt>
              <c:pt idx="116">
                <c:v>0.011920403239291931</c:v>
              </c:pt>
              <c:pt idx="117">
                <c:v>0.011920403239291931</c:v>
              </c:pt>
              <c:pt idx="118">
                <c:v>0.041721411337521754</c:v>
              </c:pt>
              <c:pt idx="119">
                <c:v>0.041721411337521754</c:v>
              </c:pt>
              <c:pt idx="120">
                <c:v>0.005960201619646006</c:v>
              </c:pt>
              <c:pt idx="121">
                <c:v>0.005960201619646006</c:v>
              </c:pt>
              <c:pt idx="122">
                <c:v>0.011920403239291931</c:v>
              </c:pt>
              <c:pt idx="123">
                <c:v>0.011920403239291931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0</c:v>
              </c:pt>
              <c:pt idx="128">
                <c:v>0</c:v>
              </c:pt>
              <c:pt idx="129">
                <c:v>0</c:v>
              </c:pt>
              <c:pt idx="130">
                <c:v>0</c:v>
              </c:pt>
              <c:pt idx="131">
                <c:v>0</c:v>
              </c:pt>
              <c:pt idx="132">
                <c:v>0.005960201619645966</c:v>
              </c:pt>
              <c:pt idx="133">
                <c:v>0.005960201619645966</c:v>
              </c:pt>
              <c:pt idx="134">
                <c:v>0</c:v>
              </c:pt>
              <c:pt idx="135">
                <c:v>0</c:v>
              </c:pt>
              <c:pt idx="136">
                <c:v>0.011920403239291931</c:v>
              </c:pt>
              <c:pt idx="137">
                <c:v>0.011920403239291931</c:v>
              </c:pt>
            </c:numLit>
          </c:yVal>
        </c:ser>
        <c:ser>
          <c:idx val="1"/>
          <c:order val="1"/>
          <c:tx>
            <c:v>q50</c:v>
          </c:tx>
          <c:spPr>
            <a:ln xmlns:a="http://schemas.openxmlformats.org/drawingml/2006/main" w="19050">
              <a:solidFill>
                <a:srgbClr val="5D3CA6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0.046092186123132706</c:v>
              </c:pt>
              <c:pt idx="1">
                <c:v>0.046092186123132706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31.090795728721215</c:v>
              </c:pt>
            </c:numLit>
          </c:yVal>
        </c:ser>
        <c:ser>
          <c:idx val="2"/>
          <c:order val="2"/>
          <c:tx>
            <c:v>Lower band edge</c:v>
          </c:tx>
          <c:spPr>
            <a:ln xmlns:a="http://schemas.openxmlformats.org/drawingml/2006/main" w="19050">
              <a:solidFill>
                <a:srgbClr val="AC600D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0.037274550852591626</c:v>
              </c:pt>
              <c:pt idx="1">
                <c:v>0.037274550852591626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31.090795728721215</c:v>
              </c:pt>
            </c:numLit>
          </c:yVal>
        </c:ser>
        <c:ser>
          <c:idx val="3"/>
          <c:order val="3"/>
          <c:tx>
            <c:v>Upper band edge</c:v>
          </c:tx>
          <c:spPr>
            <a:ln xmlns:a="http://schemas.openxmlformats.org/drawingml/2006/main" w="19050">
              <a:solidFill>
                <a:srgbClr val="AC600D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0.054909821393673786</c:v>
              </c:pt>
              <c:pt idx="1">
                <c:v>0.054909821393673786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31.090795728721215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1.090795728721215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AD7C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BM Plex Sans"/>
                    <a:ea typeface="IBM Plex Sans"/>
                    <a:cs typeface="IBM Plex Sans"/>
                  </a:rPr>
                  <a:t>Density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50112"/>
      </c:valAx>
      <c:valAx>
        <c:axId val="48650112"/>
        <c:scaling>
          <c:orientation val="minMax"/>
          <c:max val="0.15"/>
          <c:min val="0"/>
        </c:scaling>
        <c:delete val="0"/>
        <c:axPos val="b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7F6F2"/>
        </a:solidFill>
      </c:spPr>
    </c:plotArea>
    <c:plotVisOnly val="1"/>
  </c:chart>
  <c:spPr>
    <a:solidFill xmlns:a="http://schemas.openxmlformats.org/drawingml/2006/main">
      <a:srgbClr val="F7F6F2"/>
    </a:solidFill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latin typeface="IBM Plex Sans"/>
                <a:ea typeface="IBM Plex Sans"/>
                <a:cs typeface="IBM Plex Sans"/>
              </a:rPr>
              <a:t>BDG τₘ = 0.5 minus plug-in (pp)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latin typeface="IBM Plex Sans"/>
              <a:ea typeface="IBM Plex Sans"/>
              <a:cs typeface="IBM Plex San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w = 4</c:v>
          </c:tx>
          <c:spPr>
            <a:solidFill xmlns:a="http://schemas.openxmlformats.org/drawingml/2006/main">
              <a:srgbClr val="215FA9"/>
            </a:solidFill>
          </c:spPr>
          <c:cat>
            <c:strLit>
              <c:ptCount val="3"/>
              <c:pt idx="0">
                <c:v>GC .5</c:v>
              </c:pt>
              <c:pt idx="1">
                <c:v>GC .3</c:v>
              </c:pt>
              <c:pt idx="2">
                <c:v>CpG .5</c:v>
              </c:pt>
            </c:strLit>
          </c:cat>
          <c:val>
            <c:numLit>
              <c:formatCode>General</c:formatCode>
              <c:ptCount val="3"/>
              <c:pt idx="0">
                <c:v>2.3166666428248077</c:v>
              </c:pt>
              <c:pt idx="1">
                <c:v>7.083332538604736</c:v>
              </c:pt>
              <c:pt idx="2">
                <c:v>16.833335161209106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AD7CF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7F6F2"/>
        </a:solidFill>
      </c:spPr>
    </c:plotArea>
    <c:plotVisOnly val="1"/>
  </c:chart>
  <c:spPr>
    <a:solidFill xmlns:a="http://schemas.openxmlformats.org/drawingml/2006/main">
      <a:srgbClr val="F7F6F2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0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E7F41EDC-1ACE-4A7D-9D9D-F0A4ACA5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812720"/>
            <a:ext cx="1015968" cy="5072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26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2BC3B2E6-4452-4D0D-B8C7-60C9E0A1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1066598"/>
            <a:ext cx="10883529" cy="256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B4E3"/>
              </a:buClr>
              <a:buSzPts val="1300"/>
              <a:buFont typeface="IBM Plex Sans"/>
              <a:buNone/>
            </a:pPr>
            <a:r>
              <a:rPr sz="1300" b="1" i="0" u="none" cap="none">
                <a:solidFill>
                  <a:srgbClr val="8FB4E3"/>
                </a:solidFill>
                <a:latin typeface="IBM Plex Sans"/>
                <a:ea typeface="IBM Plex Sans"/>
                <a:cs typeface="IBM Plex Sans"/>
              </a:rPr>
              <a:t>CIS 6270 · PROJECT 1 DEFENSE · GROUP 2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3C85C427-2D1E-4C8D-AB15-D00C2FCA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1500900"/>
            <a:ext cx="10883529" cy="1122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4000"/>
              <a:buFont typeface="Source Serif 4"/>
              <a:buNone/>
            </a:pPr>
            <a:r>
              <a:rPr sz="4000" b="1" i="0" u="none" cap="none">
                <a:solidFill>
                  <a:srgbClr val="F7F6F2"/>
                </a:solidFill>
                <a:latin typeface="Source Serif 4"/>
                <a:ea typeface="Source Serif 4"/>
                <a:cs typeface="Source Serif 4"/>
              </a:rPr>
              <a:t>BDG: Batch-Dispersion Guidance for Property-Band Generation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5C3429ED-F7D6-46AC-B8AE-5A387D42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2801270"/>
            <a:ext cx="10883529" cy="558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DD9"/>
              </a:buClr>
              <a:buSzPts val="1500"/>
              <a:buFont typeface="IBM Plex Sans"/>
              <a:buNone/>
            </a:pPr>
            <a:r>
              <a:rPr sz="1500" b="0" i="0" u="none" cap="none">
                <a:solidFill>
                  <a:srgbClr val="C3CDD9"/>
                </a:solidFill>
                <a:latin typeface="IBM Plex Sans"/>
                <a:ea typeface="IBM Plex Sans"/>
                <a:cs typeface="IBM Plex Sans"/>
              </a:rPr>
              <a:t>Batch-variance feedback for property-band control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DD9"/>
              </a:buClr>
              <a:buSzPts val="1500"/>
              <a:buFont typeface="IBM Plex Sans"/>
              <a:buNone/>
            </a:pPr>
            <a:r>
              <a:rPr sz="1500" b="0" i="0" u="none" cap="none">
                <a:solidFill>
                  <a:srgbClr val="C3CDD9"/>
                </a:solidFill>
                <a:latin typeface="IBM Plex Sans"/>
                <a:ea typeface="IBM Plex Sans"/>
                <a:cs typeface="IBM Plex Sans"/>
              </a:rPr>
              <a:t>QM9 3D molecules and DeepFlyBrain DNA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1F6880E5-97C0-45CF-A69C-FFC559F1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5781242"/>
            <a:ext cx="3607475" cy="289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600"/>
              <a:buFont typeface="IBM Plex Sans"/>
              <a:buNone/>
            </a:pPr>
            <a:r>
              <a:rPr sz="1600" b="0" i="0" u="none" cap="none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Bobo Li · Henry Huang · Idea Idehpour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71907F95-CFEF-41A1-907A-05F94EB1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9167" y="5582976"/>
            <a:ext cx="1990086" cy="487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DD9"/>
              </a:buClr>
              <a:buSzPts val="1300"/>
              <a:buFont typeface="IBM Plex Sans"/>
              <a:buNone/>
            </a:pPr>
            <a:r>
              <a:rPr sz="1300" b="0" i="0" u="none" cap="none">
                <a:solidFill>
                  <a:srgbClr val="C3CDD9"/>
                </a:solidFill>
                <a:latin typeface="IBM Plex Sans"/>
                <a:ea typeface="IBM Plex Sans"/>
                <a:cs typeface="IBM Plex Sans"/>
              </a:rPr>
              <a:t>University of Pennsylvania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3CDD9"/>
              </a:buClr>
              <a:buSzPts val="1300"/>
              <a:buFont typeface="IBM Plex Sans"/>
              <a:buNone/>
            </a:pPr>
            <a:r>
              <a:rPr sz="1300" b="0" i="0" u="none" cap="none">
                <a:solidFill>
                  <a:srgbClr val="C3CDD9"/>
                </a:solidFill>
                <a:latin typeface="IBM Plex Sans"/>
                <a:ea typeface="IBM Plex Sans"/>
                <a:cs typeface="IBM Plex Sans"/>
              </a:rPr>
              <a:t>30 September 2026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5A6788-6A2E-4C0D-97A8-12E52DC2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482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Deck v4 · paper v9</a:t>
            </a:r>
          </a:p>
        </p:txBody>
      </p:sp>
    </p:spTree>
    <p:extLst>
      <p:ext uri="{BB962C8B-B14F-4D97-AF65-F5344CB8AC3E}">
        <p14:creationId xmlns:p14="http://schemas.microsoft.com/office/powerpoint/2010/main" val="2111554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4BFDB-EA06-4735-A51E-354E9594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1 · SET UP THE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0C6A4-D883-427E-A58B-724CA34D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Property-band generation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925B6-685A-4B61-9688-31391F67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1E8AA-8E1D-42E4-871A-171A15B1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872C0-65A1-41C1-A389-AA481CC8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[1] Ramakrishnan et al. 2014 (QM9) · [4] Stark et al. 2024 (DeepFlyBrain)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3CB8B-6118-47B4-B988-87BCDC27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The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8B264-B72A-4200-99F1-E0DF4963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05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Guide a frozen generator so the decoded property falls inside a target band, y ± δ. Coverage is the fraction of samples in that band.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28A35-3D05-4206-9286-D394F560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194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The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7CD92-DDB5-47D7-8999-C7972076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0045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Can a requested batch spread improve band coverage while retaining sample quality?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2CCBC-BFCD-4789-99CC-01E4699E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192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QM9 molecules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5B724-D08C-48BB-ABB7-A3B0B5BB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764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Up to 29 atoms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3D coordinates + 5 type channels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Euclidean symmetry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485A5-D64B-48E4-9594-2E594545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718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DeepFlyBrain DNA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50F9D-10BE-496B-B164-BE77F342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29075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500 positions × 4 bases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One probability simplex per position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B13C2-F907-43B7-9EFD-71B7FB03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768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Hypothesis: a batch-dispersion setpoint adds useful control beyond guidance strength.</a:t>
            </a:r>
          </a:p>
        </p:txBody>
      </p:sp>
    </p:spTree>
    <p:extLst>
      <p:ext uri="{BB962C8B-B14F-4D97-AF65-F5344CB8AC3E}">
        <p14:creationId xmlns:p14="http://schemas.microsoft.com/office/powerpoint/2010/main" val="12018892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6DCA0-274B-46E6-9502-849AE813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1 · DATA AND REPRESENTATIONS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26775-BEE1-42EF-B395-DA9F0003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Datasets and independent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0C311-BF59-4CE5-B7B5-87599449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DE718-3C9E-4FEC-BE23-85C5B602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3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3F68D-D3F5-4D66-929D-CE3E8C2E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[1] Ramakrishnan et al. 2014 · [2] Hoogeboom et al. 2022 · [4] Stark et al. 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3FB66-8B3D-49AC-9036-3F0162BE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668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QM9: 133,885 molecules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809625" y="1924050"/>
          <a:ext xmlns:a="http://schemas.openxmlformats.org/drawingml/2006/main" cx="5095875" cy="2095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085850"/>
                <a:gridCol w="3028950"/>
                <a:gridCol w="981075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Split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Role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train_a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Generator + guide f_A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51,527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train_b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Evaluator f_B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51,527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Validation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Selection + size masks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17,748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Test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Held out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13,083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0AC8B-AE6B-4182-B2D2-66DB5E3E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91000"/>
            <a:ext cx="5095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Explicit H. Centred Å coordinates, padded to 29. Keep EDM’s 3,054 excluded structures. Split seed 20260917. Targets: dipole magnitude μ, polarizability α and HOMO–LUMO gap.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0FB08-EA39-47BA-8446-AF3FB063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6685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DeepFlyBrain: 500-bp enhancers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286500" y="1924050"/>
          <a:ext xmlns:a="http://schemas.openxmlformats.org/drawingml/2006/main" cx="5095875" cy="1676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143000"/>
                <a:gridCol w="3000375"/>
                <a:gridCol w="95250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Split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Role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Generator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83,722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Validation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Model selection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10,505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Test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Held out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10,434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6BF8C-A101-43A6-8E11-54CE5C72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509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Remove four ambiguous training sequences. Use A/C/G/T one-hot encoding. The generator receives no cell-type labels.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005BD-F359-423C-9084-B834E4E5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72050"/>
            <a:ext cx="509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f_A and f_B train on disjoint halves. DNA uses exact decoded counts, with a separate soft guidance score.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40092-2988-4779-9A70-D2BD1CC7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007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QM9 normalization uses train_a. Neither random split establishes generalization to unseen molecular or sequence families.</a:t>
            </a:r>
          </a:p>
        </p:txBody>
      </p:sp>
    </p:spTree>
    <p:extLst>
      <p:ext uri="{BB962C8B-B14F-4D97-AF65-F5344CB8AC3E}">
        <p14:creationId xmlns:p14="http://schemas.microsoft.com/office/powerpoint/2010/main" val="8656907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798A2-4B84-4CC9-BA55-AF01B0BE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1 · DATA AND REPRESENTATIONS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C7C07-4CDD-4925-9835-02A6A864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Representation and decoded metrics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71107-ECBF-437E-9362-F03422C9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29050-3747-4365-B990-0363A099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4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23849-E680-454C-9323-FFB9E6E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[2] Hoogeboom et al. 2022 (stability) · [4] Stark et al. 2024 (DNA) · [9] Satorras et al. 2021 (EGNN)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09625" y="1495425"/>
          <a:ext xmlns:a="http://schemas.openxmlformats.org/drawingml/2006/main" cx="10572750" cy="2571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28750"/>
                <a:gridCol w="4572000"/>
                <a:gridCol w="4572000"/>
              </a:tblGrid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/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QM9 molecules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DeepFlyBrain DNA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Sampling state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Real coordinates + 5 continuous type channels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500 × 4 probabilities, each row sums to 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Constraints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Mask padding and remove centre of mass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Clamp to ≥ 0 and renormalize each position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Conditioning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Atom mask only. Property enters through guidance.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No class/property input to the generator.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Decoding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Type argmax, then distance-based bonds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Base argmax at each position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F5636-582D-4672-A5DA-6431F897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243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QM9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28829-3EA8-49BB-8F6A-D72E7211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05350"/>
            <a:ext cx="50958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In-band (IB): |f_B(decoded x) − y| ≤ δ.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Stability: all atom valences satisfied.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Validity: RDKit sanitization succeeds.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Uniqueness: distinct / valid molecules.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DV: distinct valid molecules / attempts.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0C417-4A7B-40C4-9D98-9A2EC5A7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DNA metrics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136B6-5674-4489-B3A9-4DF342D3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50958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GC: fraction of C/G bases. CpG: C–G pair fraction.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IB: exact decoded property inside the band.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3-mer JSD: divergence from training composition.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Hamming: mean fraction of differing bases.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Soft and decoded property scores can disagree.</a:t>
            </a:r>
          </a:p>
        </p:txBody>
      </p:sp>
    </p:spTree>
    <p:extLst>
      <p:ext uri="{BB962C8B-B14F-4D97-AF65-F5344CB8AC3E}">
        <p14:creationId xmlns:p14="http://schemas.microsoft.com/office/powerpoint/2010/main" val="16346112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2944D-0CDC-4673-8205-7628306E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1 · FLOW MATCHING 1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8032C-D05B-43AF-9712-35F0149B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Flow matching: state, velocity and loss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2B901-E81D-44DC-A3B8-22FB9CE3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85220-8B8C-4F4C-8BA9-A06B2E34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5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F4972-26D7-4F45-8597-36C924C4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[6] Lipman et al. 2022 · [7] Liu et al. 2022 · [8] Albergo et al. 2025 · implementation: train_fm.py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109C8-2AAE-44A8-BC47-E66BED46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573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xₜ = (1 − t)x₀ + tx₁        v* = x₁ − x₀        t ∼ Uniform(0, 1)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B419C-ABA7-4002-B11B-7E90621B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716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At t = 0: masked Gaussian noise in both arrays (coordinates centred).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At t = 1: real positions + one-hot types, e.g. carbon [0, 1, 0, 0, 0] in H/C/N/O/F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425C6-D2CB-4644-BF2C-53361BB2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62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Types stay continuous during training and sampling, so each type channel can be noised and denoised.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809625" y="3314700"/>
          <a:ext xmlns:a="http://schemas.openxmlformats.org/drawingml/2006/main" cx="10572750" cy="1428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3762375"/>
                <a:gridCol w="3762375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Per-molecule tensor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Coordinates c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Type channels f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Velocity v = (vᶜ, vᶠ)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How fast each position changes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How fast each type number changes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Error z = vθ − v*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zᶜ: 29 × 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zᶠ: 29 × 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912D0-2F70-454D-90F5-28295490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434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LFM = E [ Σ M(zᶜ)² / (3ΣM)  +  Σ M(zᶠ)² / (5ΣM) 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04818-74D6-4A05-A51C-591E515D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102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full error is 29 × 8. M masks padded atoms. Average each part separately, then add with equal weight.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38776-DF7C-4202-AAF8-1163722F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76925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Endpoint estimate for guidance: m = xₜ + (1 − t)vθ(xₜ, t). The generator has no property input.</a:t>
            </a:r>
          </a:p>
        </p:txBody>
      </p:sp>
    </p:spTree>
    <p:extLst>
      <p:ext uri="{BB962C8B-B14F-4D97-AF65-F5344CB8AC3E}">
        <p14:creationId xmlns:p14="http://schemas.microsoft.com/office/powerpoint/2010/main" val="3610735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791C2-A245-456C-A107-6477A0FC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1 · FLOW MATCHING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C323B-15EE-48F1-878B-A73E034D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Flow matching: training and sampling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2935F-9EF7-4419-9420-E1501054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6A31A-10A3-4B09-8D71-DBD58459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6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943C1-35A1-4512-AE26-A919CB83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[6] Lipman et al. 2022 (FM) · [9] Satorras et al. 2021 (EGNN) · recorded training/checkpoint metadata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D2859-E6EB-4048-9457-640CFEA1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097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Generator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9B47E-4160-43B9-9432-AF16FAA9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90725"/>
            <a:ext cx="5095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Our EGNNVelocity, trained from scratch.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256 hidden channels × 8 layers, SiLU.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3,753,229 parameters, no attention.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Time joins the input type features.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57582-4297-4800-856C-EA367719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97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CC158-FC01-4071-965D-7166233F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90725"/>
            <a:ext cx="5095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train_a, batch 256, Adam 2 × 10⁻⁴.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Cosine decay to 5%, gradient clip 5.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EMA 0.9999, seed 20260918.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1,500 epochs, 303k updates.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A9C78-FBC7-48D9-8A68-E3ED8183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528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Checkpoint used in this study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DE28E-385D-42D7-9002-21D44795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33850"/>
            <a:ext cx="50958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Evaluate the final-epoch EMA: epoch 1,500.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trainer also tracks validation atom stability every 25 epochs on 512 samples, with validation loss as the tie-break.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F1AC4-E757-485A-B950-13DF9592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Sampling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25227-F146-4D15-9DB6-D0B30C23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3850"/>
            <a:ext cx="50958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100 uniform Euler steps, noise to data.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One generator evaluation per step: NFE 100.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After each step: apply the atom mask and remove centre of mass. Decode once at the end.</a:t>
            </a:r>
          </a:p>
        </p:txBody>
      </p:sp>
    </p:spTree>
    <p:extLst>
      <p:ext uri="{BB962C8B-B14F-4D97-AF65-F5344CB8AC3E}">
        <p14:creationId xmlns:p14="http://schemas.microsoft.com/office/powerpoint/2010/main" val="5303426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Google Shape;151;p9">
            <a:extLst xmlns:a="http://schemas.openxmlformats.org/drawingml/2006/main">
              <a:ext uri="{FF2B5EF4-FFF2-40B4-BE49-F238E27FC236}">
                <a16:creationId xmlns:a16="http://schemas.microsoft.com/office/drawing/2014/main" id="{7CCAD8EA-627E-4016-8266-3CD5814A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507938"/>
            <a:ext cx="10883529" cy="238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sz="1200" b="1" i="0" u="none" cap="none">
                <a:solidFill>
                  <a:srgbClr val="1F5FA9"/>
                </a:solidFill>
                <a:latin typeface="IBM Plex Sans"/>
                <a:ea typeface="IBM Plex Sans"/>
                <a:cs typeface="IBM Plex Sans"/>
              </a:rPr>
              <a:t>PART 1 · SET UP THE STUDY · DIFFUSION 1 OF 2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" name="Google Shape;152;p9">
            <a:extLst xmlns:a="http://schemas.openxmlformats.org/drawingml/2006/main">
              <a:ext uri="{FF2B5EF4-FFF2-40B4-BE49-F238E27FC236}">
                <a16:creationId xmlns:a16="http://schemas.microsoft.com/office/drawing/2014/main" id="{D130E14B-A080-47FC-9B2D-101C9502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746692"/>
            <a:ext cx="10883529" cy="416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sz="2800" b="1" i="0" u="none" cap="none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Diffusion baseline: the formulation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9">
            <a:extLst xmlns:a="http://schemas.openxmlformats.org/drawingml/2006/main">
              <a:ext uri="{FF2B5EF4-FFF2-40B4-BE49-F238E27FC236}">
                <a16:creationId xmlns:a16="http://schemas.microsoft.com/office/drawing/2014/main" id="{F8F60E94-4E42-4CE7-9C27-37C496E4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1239323"/>
            <a:ext cx="10883529" cy="523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400"/>
              <a:buFont typeface="IBM Plex Sans"/>
              <a:buNone/>
            </a:pPr>
            <a:r>
              <a:rPr sz="14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Variance-preserving (VP) diffusion in continuous time [2, 10, 11]. Noising time u runs from 0 (data) to 1 (noise); the network εφ predicts the added noise.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4" name="Google Shape;154;p9">
            <a:extLst xmlns:a="http://schemas.openxmlformats.org/drawingml/2006/main">
              <a:ext uri="{FF2B5EF4-FFF2-40B4-BE49-F238E27FC236}">
                <a16:creationId xmlns:a16="http://schemas.microsoft.com/office/drawing/2014/main" id="{3D597DD2-F81E-4F39-9666-6794D257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95" y="1841826"/>
            <a:ext cx="10560183" cy="3941857"/>
          </a:xfrm>
          <a:prstGeom xmlns:a="http://schemas.openxmlformats.org/drawingml/2006/main" prst="roundRect">
            <a:avLst>
              <a:gd name="adj" fmla="val 2175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" name="Google Shape;155;p9"/>
          <p:cNvCxnSpPr/>
          <p:nvPr/>
        </p:nvCxnSpPr>
        <p:spPr>
          <a:xfrm xmlns:a="http://schemas.openxmlformats.org/drawingml/2006/main">
            <a:off x="1021674" y="2342236"/>
            <a:ext cx="1014862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4E1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p9">
            <a:extLst xmlns:a="http://schemas.openxmlformats.org/drawingml/2006/main">
              <a:ext uri="{FF2B5EF4-FFF2-40B4-BE49-F238E27FC236}">
                <a16:creationId xmlns:a16="http://schemas.microsoft.com/office/drawing/2014/main" id="{091FBDC8-B6A9-4FB7-9180-3625A5FA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74" y="1979312"/>
            <a:ext cx="1962099" cy="263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sz="150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Noise schedule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88" name="Google Shape;157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e49d45bded4270">
            <a:alphaModFix/>
          </a:blip>
          <a:srcRect xmlns:a="http://schemas.openxmlformats.org/drawingml/2006/main" l="-505" t="0" r="-505" b="0"/>
          <a:stretch xmlns:a="http://schemas.openxmlformats.org/drawingml/2006/main"/>
        </p:blipFill>
        <p:spPr>
          <a:xfrm xmlns:a="http://schemas.openxmlformats.org/drawingml/2006/main">
            <a:off x="3129781" y="1939640"/>
            <a:ext cx="4552879" cy="3174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189" name="Google Shape;158;p9"/>
          <p:cNvCxnSpPr/>
          <p:nvPr/>
        </p:nvCxnSpPr>
        <p:spPr>
          <a:xfrm xmlns:a="http://schemas.openxmlformats.org/drawingml/2006/main">
            <a:off x="1021674" y="2913035"/>
            <a:ext cx="1014862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4E1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" name="Google Shape;159;p9">
            <a:extLst xmlns:a="http://schemas.openxmlformats.org/drawingml/2006/main">
              <a:ext uri="{FF2B5EF4-FFF2-40B4-BE49-F238E27FC236}">
                <a16:creationId xmlns:a16="http://schemas.microsoft.com/office/drawing/2014/main" id="{88963B38-323C-40B8-912F-9CBB75A5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74" y="2508898"/>
            <a:ext cx="1962099" cy="263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sz="150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Forward process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91" name="Google Shape;160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a222a584644a19">
            <a:alphaModFix/>
          </a:blip>
          <a:srcRect xmlns:a="http://schemas.openxmlformats.org/drawingml/2006/main" l="-406" t="0" r="-406" b="0"/>
          <a:stretch xmlns:a="http://schemas.openxmlformats.org/drawingml/2006/main"/>
        </p:blipFill>
        <p:spPr>
          <a:xfrm xmlns:a="http://schemas.openxmlformats.org/drawingml/2006/main">
            <a:off x="3129781" y="2427926"/>
            <a:ext cx="6915137" cy="3999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192" name="Google Shape;161;p9"/>
          <p:cNvCxnSpPr/>
          <p:nvPr/>
        </p:nvCxnSpPr>
        <p:spPr>
          <a:xfrm xmlns:a="http://schemas.openxmlformats.org/drawingml/2006/main">
            <a:off x="1021674" y="3986788"/>
            <a:ext cx="1014862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4E1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" name="Google Shape;162;p9">
            <a:extLst xmlns:a="http://schemas.openxmlformats.org/drawingml/2006/main">
              <a:ext uri="{FF2B5EF4-FFF2-40B4-BE49-F238E27FC236}">
                <a16:creationId xmlns:a16="http://schemas.microsoft.com/office/drawing/2014/main" id="{16F092BF-88E1-4C11-862D-83FC4D6E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74" y="3331127"/>
            <a:ext cx="1962099" cy="263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sz="150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Loss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94" name="Google Shape;163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b8991ab62d461a">
            <a:alphaModFix/>
          </a:blip>
          <a:srcRect xmlns:a="http://schemas.openxmlformats.org/drawingml/2006/main" l="-380" t="0" r="-380" b="0"/>
          <a:stretch xmlns:a="http://schemas.openxmlformats.org/drawingml/2006/main"/>
        </p:blipFill>
        <p:spPr>
          <a:xfrm xmlns:a="http://schemas.openxmlformats.org/drawingml/2006/main">
            <a:off x="3129781" y="2998722"/>
            <a:ext cx="3124166" cy="4190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4" name="Google Shape;164;p9">
            <a:extLst xmlns:a="http://schemas.openxmlformats.org/drawingml/2006/main">
              <a:ext uri="{FF2B5EF4-FFF2-40B4-BE49-F238E27FC236}">
                <a16:creationId xmlns:a16="http://schemas.microsoft.com/office/drawing/2014/main" id="{A4C239D1-2A73-4346-AE90-06F9B2FC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781" y="3455848"/>
            <a:ext cx="8281733" cy="471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sz="13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same masked norm as flow matching; ε projected to zero centre of mass; u ~ U(10⁻³, 1) keeps σ away from zero.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96" name="Google Shape;165;p9"/>
          <p:cNvCxnSpPr/>
          <p:nvPr/>
        </p:nvCxnSpPr>
        <p:spPr>
          <a:xfrm xmlns:a="http://schemas.openxmlformats.org/drawingml/2006/main">
            <a:off x="1021674" y="4977302"/>
            <a:ext cx="1014862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4E1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9">
            <a:extLst xmlns:a="http://schemas.openxmlformats.org/drawingml/2006/main">
              <a:ext uri="{FF2B5EF4-FFF2-40B4-BE49-F238E27FC236}">
                <a16:creationId xmlns:a16="http://schemas.microsoft.com/office/drawing/2014/main" id="{1C813DA4-66C0-4981-A621-0DE920FF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74" y="4363309"/>
            <a:ext cx="1962099" cy="263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sz="150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Sampler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98" name="Google Shape;167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5404e29c514d16">
            <a:alphaModFix/>
          </a:blip>
          <a:srcRect xmlns:a="http://schemas.openxmlformats.org/drawingml/2006/main" l="-288" t="0" r="-288" b="0"/>
          <a:stretch xmlns:a="http://schemas.openxmlformats.org/drawingml/2006/main"/>
        </p:blipFill>
        <p:spPr>
          <a:xfrm xmlns:a="http://schemas.openxmlformats.org/drawingml/2006/main">
            <a:off x="3129781" y="4072474"/>
            <a:ext cx="4711655" cy="558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8" name="Google Shape;168;p9">
            <a:extLst xmlns:a="http://schemas.openxmlformats.org/drawingml/2006/main">
              <a:ext uri="{FF2B5EF4-FFF2-40B4-BE49-F238E27FC236}">
                <a16:creationId xmlns:a16="http://schemas.microsoft.com/office/drawing/2014/main" id="{0481A92F-66E5-41E1-A852-88CCF7F7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781" y="4669265"/>
            <a:ext cx="8281733" cy="248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sz="13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100 Euler steps from u = 1 to 0.001, then a final denoising evaluation: NFE 101.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9" name="Google Shape;169;p9">
            <a:extLst xmlns:a="http://schemas.openxmlformats.org/drawingml/2006/main">
              <a:ext uri="{FF2B5EF4-FFF2-40B4-BE49-F238E27FC236}">
                <a16:creationId xmlns:a16="http://schemas.microsoft.com/office/drawing/2014/main" id="{5B57A907-2713-489A-94E1-8A1FC313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74" y="5255369"/>
            <a:ext cx="1962099" cy="263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sz="150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Endpoint estimate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01" name="Google Shape;170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4faeb4be954066">
            <a:alphaModFix/>
          </a:blip>
          <a:srcRect xmlns:a="http://schemas.openxmlformats.org/drawingml/2006/main" l="-441" t="0" r="-441" b="0"/>
          <a:stretch xmlns:a="http://schemas.openxmlformats.org/drawingml/2006/main"/>
        </p:blipFill>
        <p:spPr>
          <a:xfrm xmlns:a="http://schemas.openxmlformats.org/drawingml/2006/main">
            <a:off x="3129781" y="5062990"/>
            <a:ext cx="3352774" cy="3619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1" name="Google Shape;171;p9">
            <a:extLst xmlns:a="http://schemas.openxmlformats.org/drawingml/2006/main">
              <a:ext uri="{FF2B5EF4-FFF2-40B4-BE49-F238E27FC236}">
                <a16:creationId xmlns:a16="http://schemas.microsoft.com/office/drawing/2014/main" id="{83459C99-E372-407A-B898-9757EB01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781" y="5462966"/>
            <a:ext cx="8281733" cy="248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sz="13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Tweedie's posterior mean: the diffusion counterpart of x_t + (1 − t)vθ, and what guidance differentiates.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2" name="Google Shape;172;p9">
            <a:extLst xmlns:a="http://schemas.openxmlformats.org/drawingml/2006/main">
              <a:ext uri="{FF2B5EF4-FFF2-40B4-BE49-F238E27FC236}">
                <a16:creationId xmlns:a16="http://schemas.microsoft.com/office/drawing/2014/main" id="{99FF3EC8-563B-4996-AA52-3D7B1514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5888391"/>
            <a:ext cx="10883529" cy="231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Coordinate and type errors use the same separately normalized masked loss as FM (1c).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3" name="Google Shape;173;p9">
            <a:extLst xmlns:a="http://schemas.openxmlformats.org/drawingml/2006/main">
              <a:ext uri="{FF2B5EF4-FFF2-40B4-BE49-F238E27FC236}">
                <a16:creationId xmlns:a16="http://schemas.microsoft.com/office/drawing/2014/main" id="{A1015290-C79B-4B59-936E-10CA7563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571" y="330141"/>
            <a:ext cx="1117591" cy="451873"/>
          </a:xfrm>
          <a:prstGeom xmlns:a="http://schemas.openxmlformats.org/drawingml/2006/main" prst="roundRect">
            <a:avLst>
              <a:gd name="adj" fmla="val 19674"/>
            </a:avLst>
          </a:prstGeom>
          <a:solidFill xmlns:a="http://schemas.openxmlformats.org/drawingml/2006/main">
            <a:srgbClr val="1F5F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>
            <a:extLst xmlns:a="http://schemas.openxmlformats.org/drawingml/2006/main">
              <a:ext uri="{FF2B5EF4-FFF2-40B4-BE49-F238E27FC236}">
                <a16:creationId xmlns:a16="http://schemas.microsoft.com/office/drawing/2014/main" id="{4CED086D-7B0B-4BEC-8976-920D9ACB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371" y="380941"/>
            <a:ext cx="1015991" cy="375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sz="2400" b="1" i="0" u="none" cap="none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1d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5" name="Google Shape;175;p9">
            <a:extLst xmlns:a="http://schemas.openxmlformats.org/drawingml/2006/main">
              <a:ext uri="{FF2B5EF4-FFF2-40B4-BE49-F238E27FC236}">
                <a16:creationId xmlns:a16="http://schemas.microsoft.com/office/drawing/2014/main" id="{62F6BA9D-841C-4409-9375-9E5E764C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6444062"/>
            <a:ext cx="1962099" cy="18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sz="900" b="0" i="0" u="none" cap="none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7 / 31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6" name="Google Shape;176;p9">
            <a:extLst xmlns:a="http://schemas.openxmlformats.org/drawingml/2006/main">
              <a:ext uri="{FF2B5EF4-FFF2-40B4-BE49-F238E27FC236}">
                <a16:creationId xmlns:a16="http://schemas.microsoft.com/office/drawing/2014/main" id="{092E62A0-3208-4959-A919-3E423665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716" y="6455476"/>
            <a:ext cx="8790356" cy="173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sz="900" b="0" i="0" u="none" cap="none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[2] Hoogeboom et al. 2022 (EDM, molecules) · [10] Song et al. 2021 (Score SDE) · [11] Karras et al. 2022 (EDM design space)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74880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5F211-9B49-4CFE-A0BF-311FB4C3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1 · VP DIFFUSION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27187-0E65-43E4-94FB-67876D5B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VP diffusion: training and sampling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ACE3C-B4AC-4F7C-A021-7E881E89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5EB00-AD50-49AC-BA98-20DEE8EA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8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AE007-D9E3-40C3-B518-8F47343D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[9] Satorras et al. 2021 · [10] Song et al. 2021 · checkpoint and 18 benchmark cells measured in this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BD830-0236-46F2-A77A-693B79B5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525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Same architecture, different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DA16B-E277-4249-8489-BE17C5B0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33575"/>
            <a:ext cx="5095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Use the same EGNNVelocity class and 3.75M parameters. For VP, interpret its coordinate and type outputs as predicted noise ε, and train against noise.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0427B-DD0F-4E25-8C70-DA4CB440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525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Matched configured recipe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A3632-8C75-42E1-A56E-D419BFE9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33575"/>
            <a:ext cx="5095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Same train_a, optimizer, batch size, EMA, clipping, seed and 1,500-epoch budget as FM. A common budget does not imply identical selected checkpoints.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FBACA-369B-47E2-8E90-9B89DD02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766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Selected checkpoint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E31DA-F41A-4255-8C96-F799B759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57650"/>
            <a:ext cx="5095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Validation atom stability selects epoch 1,475, with loss as the tie-break. Evaluate its EMA weights (MD5 prefix 8a3390a6). FM uses its final-epoch EMA.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EECDB-37CC-4491-AC20-6CC2E75C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Sampling and completed benchmark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A1FED-D4E5-4ADF-A57C-17BC7266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5095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100 reverse probability-flow ODE steps + a final denoising evaluation: NFE 101.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18 cells: 2 arms × 3 properties × 3 seeds, 2,000 molecules each.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4B95D-224B-4904-9F22-4D59F474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VP results are complete. VP used B200 MIG hardware, so cross-family runtimes are not matched.</a:t>
            </a:r>
          </a:p>
        </p:txBody>
      </p:sp>
    </p:spTree>
    <p:extLst>
      <p:ext uri="{BB962C8B-B14F-4D97-AF65-F5344CB8AC3E}">
        <p14:creationId xmlns:p14="http://schemas.microsoft.com/office/powerpoint/2010/main" val="14797705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2F78B-DB42-4152-9565-BC4626A7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1 · COMPARISON PROTOCOL 1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307B2-8373-42B2-83B9-58A809F4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Evaluation protocol and fixed molecule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2883D-F654-4AF4-B7EF-94725B63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812BC-AD4C-4B1B-A47D-D8356A3A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9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B76C1-F2F1-4866-8AF0-79D6239A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Registered QM9 protocol · transfer_sweep.py:2382–2426 · verified data/qm9.pt validation masks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809625" y="1447800"/>
          <a:ext xmlns:a="http://schemas.openxmlformats.org/drawingml/2006/main" cx="10572750" cy="2686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8001000"/>
              </a:tblGrid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Protocol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QM9 headline comparison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Target and band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Training median q50. δ = 2 × evaluator calibration MAE.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Band half-widths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μ: 0.17541 D     α: 0.5062 Bohr³     gap: 0.00748 Ha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Sampling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 seeds × 2,000 samples. Four batches of 500 per seed.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Guidance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100 Euler steps. Guide in the second half, headline w = 1.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Uncertainty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Mean ± seed SD. Registered pooled-binomial |z| ≥ 2.99 (18 contrasts).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4552D-3F6D-40F3-88BD-3C45B869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434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The same 2,000 atom counts in every arm, seed and 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5D208-9AEA-4881-985B-879C93E9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006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Molecule i uses validation mask i. Seeds change initial noise only. No histogram draw, target-dependent sizing or size filtering.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94630-2A1D-4EEE-AC7F-004233CD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245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Size distribution: min 8   median 18   mean 17.87   max 29 atoms. Every size receives the same q50 target.</a:t>
            </a:r>
          </a:p>
        </p:txBody>
      </p:sp>
    </p:spTree>
    <p:extLst>
      <p:ext uri="{BB962C8B-B14F-4D97-AF65-F5344CB8AC3E}">
        <p14:creationId xmlns:p14="http://schemas.microsoft.com/office/powerpoint/2010/main" val="3368434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ED116D-06D0-4865-BDC2-3D10733F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1 · WHAT THE TARGET BAND MEASURES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0CA2E-2412-4782-9F8F-19B94A82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QM9 property distributions and target bands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5B9CF-8918-48A4-8C94-5F7DDF23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764A5-DE5B-43C9-B32A-7DF67B2A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10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C20D0-9818-4615-9301-FC0A9123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Measured QM9 train_a: 51,527 molecules · fixed targets and calibration widths from audited cells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7D020-7D6D-426D-8314-E97B6DD2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Blue: empirical training density     Purple: q50     Orange dashed: y − δ and y + δ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809625" y="2076450"/>
          <a:ext xmlns:a="http://schemas.openxmlformats.org/drawingml/2006/main" cx="3429000" cy="2809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71de4c8dce46a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FDA6B-79F1-4278-89E2-1CE066A7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q50 = 2.4932   ± δ = 0.17541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381500" y="2076450"/>
          <a:ext xmlns:a="http://schemas.openxmlformats.org/drawingml/2006/main" cx="3429000" cy="2809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6bbd0ad92d42c7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0E899-EF9B-4207-8914-B0124A6F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625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q50 = 75.54   ± δ = 0.50618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953375" y="2076450"/>
          <a:ext xmlns:a="http://schemas.openxmlformats.org/drawingml/2006/main" cx="3429000" cy="2809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c19ddbbb97443c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8C904-A585-44CE-AB8C-7564296E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625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q50 = 0.2496   ± δ = 0.0074801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8AABC-9EAF-4C18-9C15-45422B95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62600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Band half-width: δ = 2 × MAE_cal(f_B) = (2 / n_cal) Σⱼ |f_B(xⱼ) − yⱼ|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FD2E0-2F2F-4209-8FD7-9745ACA1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198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Our predictor pair; f_B is scored on held-out training-half examples. Full bandwidth = 2δ. BDG varies τ, while δ stays fixed.</a:t>
            </a:r>
          </a:p>
        </p:txBody>
      </p:sp>
    </p:spTree>
    <p:extLst>
      <p:ext uri="{BB962C8B-B14F-4D97-AF65-F5344CB8AC3E}">
        <p14:creationId xmlns:p14="http://schemas.microsoft.com/office/powerpoint/2010/main" val="10070180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D187D-C7E3-44BB-88F4-EA4A5060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1 · COMPARISON PROTOCOL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376A5-A109-400C-8FAC-7F51E8D3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Matched factors and disclosed differences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98F0E-EABE-4946-BE27-F92A8DDC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1e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FF46A-B5C6-4A2E-8731-C380C873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11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6A321-31AB-417F-9C2D-17BDABD3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protocol and checkpoint metadata (this work) · [9] Satorras et al. 2021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09625" y="1543050"/>
          <a:ext xmlns:a="http://schemas.openxmlformats.org/drawingml/2006/main" cx="1057275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62125"/>
                <a:gridCol w="4305300"/>
                <a:gridCol w="4505325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Factor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Held fixed for our FM and VP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Difference to retain in interpretation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Data + architecture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train_a, masks, EGNN 256 × 8, 3.75M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Linear path / velocity vs VP process / noise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Training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Optimizer, batch, EMA, clip, seed, budget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FM final EMA 1500 / VP selected EMA 1475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Sampling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100 ODE steps, same initial seeds + sizes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VP adds final denoising: NFE 101 vs 100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Evaluation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Same f_A, f_B, targets, bands and decoding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FM: RTX A6000 / VP: B200 MIG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Borrowed backends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Same evaluation procedure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Different training, scales and predictor pairs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35CE6-C759-4888-8C42-96FCEBE7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What coverage measures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61AC4-1F6F-4269-8A69-9CD11EC5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5095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It includes invalid molecules and inherits f_B’s prediction error. Report stability and validity beside coverage.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48F00-CF20-4832-832C-523FA8C3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What the uncertainty measures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0B9C2-7350-4C8B-9EF2-9129D9A1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5095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Seed SD describes run variation. Batch feedback couples samples, so pooled binomial tests have an independence limitation.</a:t>
            </a:r>
          </a:p>
        </p:txBody>
      </p:sp>
    </p:spTree>
    <p:extLst>
      <p:ext uri="{BB962C8B-B14F-4D97-AF65-F5344CB8AC3E}">
        <p14:creationId xmlns:p14="http://schemas.microsoft.com/office/powerpoint/2010/main" val="15895483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1" name="Google Shape;241;p13">
            <a:extLst xmlns:a="http://schemas.openxmlformats.org/drawingml/2006/main">
              <a:ext uri="{FF2B5EF4-FFF2-40B4-BE49-F238E27FC236}">
                <a16:creationId xmlns:a16="http://schemas.microsoft.com/office/drawing/2014/main" id="{B5612BD6-61C9-43D4-BB08-7F4A3000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507938"/>
            <a:ext cx="10883529" cy="238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sz="1200" b="1" i="0" u="none" cap="none">
                <a:solidFill>
                  <a:srgbClr val="1F5FA9"/>
                </a:solidFill>
                <a:latin typeface="IBM Plex Sans"/>
                <a:ea typeface="IBM Plex Sans"/>
                <a:cs typeface="IBM Plex Sans"/>
              </a:rPr>
              <a:t>PART 1 · SET UP THE STUDY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2" name="Google Shape;242;p13">
            <a:extLst xmlns:a="http://schemas.openxmlformats.org/drawingml/2006/main">
              <a:ext uri="{FF2B5EF4-FFF2-40B4-BE49-F238E27FC236}">
                <a16:creationId xmlns:a16="http://schemas.microsoft.com/office/drawing/2014/main" id="{F7D0A16A-9AD5-4BB8-8475-DAD1083D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746689"/>
            <a:ext cx="10883529" cy="416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sz="2800" b="1" i="0" u="none" cap="none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Study overview: one rule, two state spaces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3" name="Google Shape;243;p13">
            <a:extLst xmlns:a="http://schemas.openxmlformats.org/drawingml/2006/main">
              <a:ext uri="{FF2B5EF4-FFF2-40B4-BE49-F238E27FC236}">
                <a16:creationId xmlns:a16="http://schemas.microsoft.com/office/drawing/2014/main" id="{951F902D-EEF0-4CCE-B09E-09F97FFD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1257257"/>
            <a:ext cx="2158920" cy="293097"/>
          </a:xfrm>
          <a:prstGeom xmlns:a="http://schemas.openxmlformats.org/drawingml/2006/main" prst="roundRect">
            <a:avLst>
              <a:gd name="adj" fmla="val 17332"/>
            </a:avLst>
          </a:prstGeom>
          <a:solidFill xmlns:a="http://schemas.openxmlformats.org/drawingml/2006/main">
            <a:srgbClr val="1F5F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">
            <a:extLst xmlns:a="http://schemas.openxmlformats.org/drawingml/2006/main">
              <a:ext uri="{FF2B5EF4-FFF2-40B4-BE49-F238E27FC236}">
                <a16:creationId xmlns:a16="http://schemas.microsoft.com/office/drawing/2014/main" id="{2719E5BC-663C-40E4-9A6B-7A7F9023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336" y="1301707"/>
            <a:ext cx="2223687" cy="2295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150"/>
              <a:buFont typeface="IBM Plex Sans"/>
              <a:buNone/>
            </a:pPr>
            <a:r>
              <a:rPr sz="1150" b="1" i="0" u="none" cap="none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1 · BASELINES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5" name="Google Shape;245;p13">
            <a:extLst xmlns:a="http://schemas.openxmlformats.org/drawingml/2006/main">
              <a:ext uri="{FF2B5EF4-FFF2-40B4-BE49-F238E27FC236}">
                <a16:creationId xmlns:a16="http://schemas.microsoft.com/office/drawing/2014/main" id="{24F3314D-F842-45C0-9618-390C2815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571" y="1257257"/>
            <a:ext cx="2158920" cy="293097"/>
          </a:xfrm>
          <a:prstGeom xmlns:a="http://schemas.openxmlformats.org/drawingml/2006/main" prst="roundRect">
            <a:avLst>
              <a:gd name="adj" fmla="val 17332"/>
            </a:avLst>
          </a:prstGeom>
          <a:solidFill xmlns:a="http://schemas.openxmlformats.org/drawingml/2006/main">
            <a:srgbClr val="1F5F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">
            <a:extLst xmlns:a="http://schemas.openxmlformats.org/drawingml/2006/main">
              <a:ext uri="{FF2B5EF4-FFF2-40B4-BE49-F238E27FC236}">
                <a16:creationId xmlns:a16="http://schemas.microsoft.com/office/drawing/2014/main" id="{50B72DD2-3FE5-457C-B5C5-E5124893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187" y="1301707"/>
            <a:ext cx="2223687" cy="2295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150"/>
              <a:buFont typeface="IBM Plex Sans"/>
              <a:buNone/>
            </a:pPr>
            <a:r>
              <a:rPr sz="1150" b="1" i="0" u="none" cap="none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2 · DOES GUIDANCE WORK?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7" name="Google Shape;247;p13">
            <a:extLst xmlns:a="http://schemas.openxmlformats.org/drawingml/2006/main">
              <a:ext uri="{FF2B5EF4-FFF2-40B4-BE49-F238E27FC236}">
                <a16:creationId xmlns:a16="http://schemas.microsoft.com/office/drawing/2014/main" id="{4EA10C67-3F93-4C10-8145-F57805F0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332" y="1257257"/>
            <a:ext cx="2158920" cy="293097"/>
          </a:xfrm>
          <a:prstGeom xmlns:a="http://schemas.openxmlformats.org/drawingml/2006/main" prst="roundRect">
            <a:avLst>
              <a:gd name="adj" fmla="val 17332"/>
            </a:avLst>
          </a:prstGeom>
          <a:solidFill xmlns:a="http://schemas.openxmlformats.org/drawingml/2006/main">
            <a:srgbClr val="1F5F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>
            <a:extLst xmlns:a="http://schemas.openxmlformats.org/drawingml/2006/main">
              <a:ext uri="{FF2B5EF4-FFF2-40B4-BE49-F238E27FC236}">
                <a16:creationId xmlns:a16="http://schemas.microsoft.com/office/drawing/2014/main" id="{7CE9F2E4-535D-4673-9298-B213C5F9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948" y="1301707"/>
            <a:ext cx="2223687" cy="2295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150"/>
              <a:buFont typeface="IBM Plex Sans"/>
              <a:buNone/>
            </a:pPr>
            <a:r>
              <a:rPr sz="1150" b="1" i="0" u="none" cap="none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3 · THE INNOVATION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9" name="Google Shape;249;p13">
            <a:extLst xmlns:a="http://schemas.openxmlformats.org/drawingml/2006/main">
              <a:ext uri="{FF2B5EF4-FFF2-40B4-BE49-F238E27FC236}">
                <a16:creationId xmlns:a16="http://schemas.microsoft.com/office/drawing/2014/main" id="{29CBCF02-0A0D-45D2-886B-5F01B028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183" y="1257257"/>
            <a:ext cx="2158920" cy="293097"/>
          </a:xfrm>
          <a:prstGeom xmlns:a="http://schemas.openxmlformats.org/drawingml/2006/main" prst="roundRect">
            <a:avLst>
              <a:gd name="adj" fmla="val 17332"/>
            </a:avLst>
          </a:prstGeom>
          <a:solidFill xmlns:a="http://schemas.openxmlformats.org/drawingml/2006/main">
            <a:srgbClr val="1F5F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>
            <a:extLst xmlns:a="http://schemas.openxmlformats.org/drawingml/2006/main">
              <a:ext uri="{FF2B5EF4-FFF2-40B4-BE49-F238E27FC236}">
                <a16:creationId xmlns:a16="http://schemas.microsoft.com/office/drawing/2014/main" id="{4F495336-40C6-455B-BF61-0D4C91A2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799" y="1301707"/>
            <a:ext cx="2223687" cy="2295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150"/>
              <a:buFont typeface="IBM Plex Sans"/>
              <a:buNone/>
            </a:pPr>
            <a:r>
              <a:rPr sz="1150" b="1" i="0" u="none" cap="none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4 · EVIDENCE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1" name="Google Shape;251;p13">
            <a:extLst xmlns:a="http://schemas.openxmlformats.org/drawingml/2006/main">
              <a:ext uri="{FF2B5EF4-FFF2-40B4-BE49-F238E27FC236}">
                <a16:creationId xmlns:a16="http://schemas.microsoft.com/office/drawing/2014/main" id="{1323C79B-7F28-484C-94AB-214B082D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1600169"/>
            <a:ext cx="2223687" cy="211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050"/>
              <a:buFont typeface="IBM Plex Sans"/>
              <a:buNone/>
            </a:pPr>
            <a:r>
              <a:rPr sz="1050" b="1" i="0" u="none" cap="none">
                <a:solidFill>
                  <a:srgbClr val="1F5FA9"/>
                </a:solidFill>
                <a:latin typeface="IBM Plex Sans"/>
                <a:ea typeface="IBM Plex Sans"/>
                <a:cs typeface="IBM Plex Sans"/>
              </a:rPr>
              <a:t>MODALITY 1 · QM9 MOLECULES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2" name="Google Shape;252;p13">
            <a:extLst xmlns:a="http://schemas.openxmlformats.org/drawingml/2006/main">
              <a:ext uri="{FF2B5EF4-FFF2-40B4-BE49-F238E27FC236}">
                <a16:creationId xmlns:a16="http://schemas.microsoft.com/office/drawing/2014/main" id="{166B3003-195C-43FA-A479-FD99437A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3416269"/>
            <a:ext cx="2616163" cy="211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050"/>
              <a:buFont typeface="IBM Plex Sans"/>
              <a:buNone/>
            </a:pPr>
            <a:r>
              <a:rPr sz="1050" b="1" i="0" u="none" cap="none">
                <a:solidFill>
                  <a:srgbClr val="1F5FA9"/>
                </a:solidFill>
                <a:latin typeface="IBM Plex Sans"/>
                <a:ea typeface="IBM Plex Sans"/>
                <a:cs typeface="IBM Plex Sans"/>
              </a:rPr>
              <a:t>MODALITY 2 · DEEPFLYBRAIN DNA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3" name="Google Shape;253;p13">
            <a:extLst xmlns:a="http://schemas.openxmlformats.org/drawingml/2006/main">
              <a:ext uri="{FF2B5EF4-FFF2-40B4-BE49-F238E27FC236}">
                <a16:creationId xmlns:a16="http://schemas.microsoft.com/office/drawing/2014/main" id="{2774681A-59D3-4C01-BCA6-909A1AD5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95" y="1857313"/>
            <a:ext cx="2152570" cy="1301718"/>
          </a:xfrm>
          <a:prstGeom xmlns:a="http://schemas.openxmlformats.org/drawingml/2006/main" prst="roundRect">
            <a:avLst>
              <a:gd name="adj" fmla="val 5610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">
            <a:extLst xmlns:a="http://schemas.openxmlformats.org/drawingml/2006/main">
              <a:ext uri="{FF2B5EF4-FFF2-40B4-BE49-F238E27FC236}">
                <a16:creationId xmlns:a16="http://schemas.microsoft.com/office/drawing/2014/main" id="{9B03CC4C-7602-447B-85B0-A109E8CC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01" y="1961468"/>
            <a:ext cx="1950158" cy="215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50"/>
              <a:buFont typeface="IBM Plex Sans"/>
              <a:buNone/>
            </a:pPr>
            <a:r>
              <a:rPr sz="125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Train two, matched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5" name="Google Shape;255;p13">
            <a:extLst xmlns:a="http://schemas.openxmlformats.org/drawingml/2006/main">
              <a:ext uri="{FF2B5EF4-FFF2-40B4-BE49-F238E27FC236}">
                <a16:creationId xmlns:a16="http://schemas.microsoft.com/office/drawing/2014/main" id="{9C98AFBB-DE8C-4C02-8175-7FBEA520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01" y="2196325"/>
            <a:ext cx="1950158" cy="388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sz="11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Flow matching and VP diffusion, one recipe (1c–1e)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6" name="Google Shape;256;p13">
            <a:extLst xmlns:a="http://schemas.openxmlformats.org/drawingml/2006/main">
              <a:ext uri="{FF2B5EF4-FFF2-40B4-BE49-F238E27FC236}">
                <a16:creationId xmlns:a16="http://schemas.microsoft.com/office/drawing/2014/main" id="{AD29DB4C-C139-4911-9EF6-0160E920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01" y="2603729"/>
            <a:ext cx="1950158" cy="206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sz="1100" b="1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FM carried forward</a:t>
            </a:r>
            <a:r>
              <a:rPr sz="11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 (2a)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7" name="Google Shape;257;p13">
            <a:extLst xmlns:a="http://schemas.openxmlformats.org/drawingml/2006/main">
              <a:ext uri="{FF2B5EF4-FFF2-40B4-BE49-F238E27FC236}">
                <a16:creationId xmlns:a16="http://schemas.microsoft.com/office/drawing/2014/main" id="{3D960176-360A-468E-86EA-83F4E332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46" y="1857313"/>
            <a:ext cx="2152570" cy="1301718"/>
          </a:xfrm>
          <a:prstGeom xmlns:a="http://schemas.openxmlformats.org/drawingml/2006/main" prst="roundRect">
            <a:avLst>
              <a:gd name="adj" fmla="val 5610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>
            <a:extLst xmlns:a="http://schemas.openxmlformats.org/drawingml/2006/main">
              <a:ext uri="{FF2B5EF4-FFF2-40B4-BE49-F238E27FC236}">
                <a16:creationId xmlns:a16="http://schemas.microsoft.com/office/drawing/2014/main" id="{867E354C-77E7-454B-BE8C-428ADF8C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352" y="1961468"/>
            <a:ext cx="1950158" cy="215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50"/>
              <a:buFont typeface="IBM Plex Sans"/>
              <a:buNone/>
            </a:pPr>
            <a:r>
              <a:rPr sz="125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Frozen FM + frozen f_A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9" name="Google Shape;259;p13">
            <a:extLst xmlns:a="http://schemas.openxmlformats.org/drawingml/2006/main">
              <a:ext uri="{FF2B5EF4-FFF2-40B4-BE49-F238E27FC236}">
                <a16:creationId xmlns:a16="http://schemas.microsoft.com/office/drawing/2014/main" id="{FE69E2C0-A0F4-4FC3-98CD-61C43282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352" y="2196325"/>
            <a:ext cx="1950158" cy="388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sz="11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Unguided vs DPS-style plug-in, w = 1, t ≥ 0.5 (2b)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0" name="Google Shape;260;p13">
            <a:extLst xmlns:a="http://schemas.openxmlformats.org/drawingml/2006/main">
              <a:ext uri="{FF2B5EF4-FFF2-40B4-BE49-F238E27FC236}">
                <a16:creationId xmlns:a16="http://schemas.microsoft.com/office/drawing/2014/main" id="{B3828C3A-6F06-4D1B-B36A-4E620D8D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9358" y="1857313"/>
            <a:ext cx="2152570" cy="1301718"/>
          </a:xfrm>
          <a:prstGeom xmlns:a="http://schemas.openxmlformats.org/drawingml/2006/main" prst="roundRect">
            <a:avLst>
              <a:gd name="adj" fmla="val 5610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>
            <a:extLst xmlns:a="http://schemas.openxmlformats.org/drawingml/2006/main">
              <a:ext uri="{FF2B5EF4-FFF2-40B4-BE49-F238E27FC236}">
                <a16:creationId xmlns:a16="http://schemas.microsoft.com/office/drawing/2014/main" id="{639AE25A-AC5D-402D-898B-384BCE4C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964" y="1961468"/>
            <a:ext cx="1950158" cy="191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63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102"/>
              <a:buFont typeface="IBM Plex Sans"/>
              <a:buNone/>
            </a:pPr>
            <a:r>
              <a:rPr sz="1102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Ablations + comparison</a:t>
            </a:r>
            <a:endParaRPr sz="1102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2" name="Google Shape;262;p13">
            <a:extLst xmlns:a="http://schemas.openxmlformats.org/drawingml/2006/main">
              <a:ext uri="{FF2B5EF4-FFF2-40B4-BE49-F238E27FC236}">
                <a16:creationId xmlns:a16="http://schemas.microsoft.com/office/drawing/2014/main" id="{EA49E781-0C25-4D01-B684-B0656546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964" y="2172413"/>
            <a:ext cx="1950158" cy="342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968"/>
              <a:buFont typeface="IBM Plex Sans"/>
              <a:buNone/>
            </a:pPr>
            <a:r>
              <a:rPr sz="969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η = 0, gain, setpoint — 612 cells (2d)</a:t>
            </a:r>
            <a:endParaRPr sz="969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3" name="Google Shape;263;p13">
            <a:extLst xmlns:a="http://schemas.openxmlformats.org/drawingml/2006/main">
              <a:ext uri="{FF2B5EF4-FFF2-40B4-BE49-F238E27FC236}">
                <a16:creationId xmlns:a16="http://schemas.microsoft.com/office/drawing/2014/main" id="{6912760A-5D38-4ED0-94B7-A9811CA9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964" y="2534258"/>
            <a:ext cx="1950158" cy="342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968"/>
              <a:buFont typeface="IBM Plex Sans"/>
              <a:buNone/>
            </a:pPr>
            <a:r>
              <a:rPr sz="969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vs plug-in · TMPD · LGD-MC · TFG (2e)</a:t>
            </a:r>
            <a:endParaRPr sz="969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4" name="Google Shape;264;p13">
            <a:extLst xmlns:a="http://schemas.openxmlformats.org/drawingml/2006/main">
              <a:ext uri="{FF2B5EF4-FFF2-40B4-BE49-F238E27FC236}">
                <a16:creationId xmlns:a16="http://schemas.microsoft.com/office/drawing/2014/main" id="{C4358003-5900-493F-9C69-0D9FD646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964" y="2896102"/>
            <a:ext cx="1950158" cy="184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980"/>
              <a:buFont typeface="IBM Plex Sans"/>
              <a:buNone/>
            </a:pPr>
            <a:r>
              <a:rPr sz="98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Scored by held-out f_B</a:t>
            </a:r>
            <a:endParaRPr sz="98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5" name="Google Shape;265;p13">
            <a:extLst xmlns:a="http://schemas.openxmlformats.org/drawingml/2006/main">
              <a:ext uri="{FF2B5EF4-FFF2-40B4-BE49-F238E27FC236}">
                <a16:creationId xmlns:a16="http://schemas.microsoft.com/office/drawing/2014/main" id="{B9182C8F-A26D-4368-8E14-C85344EF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95" y="3673413"/>
            <a:ext cx="2152570" cy="1301718"/>
          </a:xfrm>
          <a:prstGeom xmlns:a="http://schemas.openxmlformats.org/drawingml/2006/main" prst="roundRect">
            <a:avLst>
              <a:gd name="adj" fmla="val 5610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>
            <a:extLst xmlns:a="http://schemas.openxmlformats.org/drawingml/2006/main">
              <a:ext uri="{FF2B5EF4-FFF2-40B4-BE49-F238E27FC236}">
                <a16:creationId xmlns:a16="http://schemas.microsoft.com/office/drawing/2014/main" id="{3DE9CE91-7AFA-4552-B52D-B308873F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01" y="3777568"/>
            <a:ext cx="1950158" cy="215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50"/>
              <a:buFont typeface="IBM Plex Sans"/>
              <a:buNone/>
            </a:pPr>
            <a:r>
              <a:rPr sz="125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Train one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7" name="Google Shape;267;p13">
            <a:extLst xmlns:a="http://schemas.openxmlformats.org/drawingml/2006/main">
              <a:ext uri="{FF2B5EF4-FFF2-40B4-BE49-F238E27FC236}">
                <a16:creationId xmlns:a16="http://schemas.microsoft.com/office/drawing/2014/main" id="{5DD4B80C-A731-47E8-A48A-5F1FF52D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01" y="4012425"/>
            <a:ext cx="1950158" cy="388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sz="11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Simplex flow matching, Dirichlet → one-hot (3a)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8" name="Google Shape;268;p13">
            <a:extLst xmlns:a="http://schemas.openxmlformats.org/drawingml/2006/main">
              <a:ext uri="{FF2B5EF4-FFF2-40B4-BE49-F238E27FC236}">
                <a16:creationId xmlns:a16="http://schemas.microsoft.com/office/drawing/2014/main" id="{CE70217E-6C8B-4DD5-94CC-4A35CBB2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46" y="3673413"/>
            <a:ext cx="2152570" cy="1301718"/>
          </a:xfrm>
          <a:prstGeom xmlns:a="http://schemas.openxmlformats.org/drawingml/2006/main" prst="roundRect">
            <a:avLst>
              <a:gd name="adj" fmla="val 5610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>
            <a:extLst xmlns:a="http://schemas.openxmlformats.org/drawingml/2006/main">
              <a:ext uri="{FF2B5EF4-FFF2-40B4-BE49-F238E27FC236}">
                <a16:creationId xmlns:a16="http://schemas.microsoft.com/office/drawing/2014/main" id="{522CBE5A-C5E1-453F-9417-6E11A463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352" y="3777568"/>
            <a:ext cx="1950158" cy="406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50"/>
              <a:buFont typeface="IBM Plex Sans"/>
              <a:buNone/>
            </a:pPr>
            <a:r>
              <a:rPr sz="125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Frozen CNN + analytic guide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0" name="Google Shape;270;p13">
            <a:extLst xmlns:a="http://schemas.openxmlformats.org/drawingml/2006/main">
              <a:ext uri="{FF2B5EF4-FFF2-40B4-BE49-F238E27FC236}">
                <a16:creationId xmlns:a16="http://schemas.microsoft.com/office/drawing/2014/main" id="{A4D5C9E3-A375-4C9A-AAAE-10896B29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352" y="4202900"/>
            <a:ext cx="1950158" cy="388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sz="11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Soft GC or CpG steers; each step projected back (3a)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1" name="Google Shape;271;p13">
            <a:extLst xmlns:a="http://schemas.openxmlformats.org/drawingml/2006/main">
              <a:ext uri="{FF2B5EF4-FFF2-40B4-BE49-F238E27FC236}">
                <a16:creationId xmlns:a16="http://schemas.microsoft.com/office/drawing/2014/main" id="{93D488C0-FFE9-4FBC-9B48-F377C396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9358" y="3673413"/>
            <a:ext cx="2152570" cy="1301718"/>
          </a:xfrm>
          <a:prstGeom xmlns:a="http://schemas.openxmlformats.org/drawingml/2006/main" prst="roundRect">
            <a:avLst>
              <a:gd name="adj" fmla="val 5610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>
            <a:extLst xmlns:a="http://schemas.openxmlformats.org/drawingml/2006/main">
              <a:ext uri="{FF2B5EF4-FFF2-40B4-BE49-F238E27FC236}">
                <a16:creationId xmlns:a16="http://schemas.microsoft.com/office/drawing/2014/main" id="{59778988-11C5-4859-A3FD-F4A4EC6E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964" y="3777568"/>
            <a:ext cx="1950158" cy="215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250"/>
              <a:buFont typeface="IBM Plex Sans"/>
              <a:buNone/>
            </a:pPr>
            <a:r>
              <a:rPr sz="125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Transfer comparison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3" name="Google Shape;273;p13">
            <a:extLst xmlns:a="http://schemas.openxmlformats.org/drawingml/2006/main">
              <a:ext uri="{FF2B5EF4-FFF2-40B4-BE49-F238E27FC236}">
                <a16:creationId xmlns:a16="http://schemas.microsoft.com/office/drawing/2014/main" id="{0CD33DAE-50F8-497A-8C06-B5B192C7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964" y="4012425"/>
            <a:ext cx="1950158" cy="388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sz="11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vs plug-in · TMPD · LGD-MC · TFG-MC (3b)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4" name="Google Shape;274;p13">
            <a:extLst xmlns:a="http://schemas.openxmlformats.org/drawingml/2006/main">
              <a:ext uri="{FF2B5EF4-FFF2-40B4-BE49-F238E27FC236}">
                <a16:creationId xmlns:a16="http://schemas.microsoft.com/office/drawing/2014/main" id="{EBF0B8FD-80E4-452D-9A79-CB355C58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964" y="4419829"/>
            <a:ext cx="1950158" cy="388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00"/>
              <a:buFont typeface="IBM Plex Sans"/>
              <a:buNone/>
            </a:pPr>
            <a:r>
              <a:rPr sz="11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Scored by exact counts + 3-mer JSD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5" name="Google Shape;275;p13">
            <a:extLst xmlns:a="http://schemas.openxmlformats.org/drawingml/2006/main">
              <a:ext uri="{FF2B5EF4-FFF2-40B4-BE49-F238E27FC236}">
                <a16:creationId xmlns:a16="http://schemas.microsoft.com/office/drawing/2014/main" id="{2B9D474F-F256-4BB4-B839-D97C3129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857" y="1863663"/>
            <a:ext cx="2139870" cy="3105116"/>
          </a:xfrm>
          <a:prstGeom xmlns:a="http://schemas.openxmlformats.org/drawingml/2006/main" prst="roundRect">
            <a:avLst>
              <a:gd name="adj" fmla="val 3709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19050" cmpd="sng">
            <a:solidFill>
              <a:srgbClr val="5B3E9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>
            <a:extLst xmlns:a="http://schemas.openxmlformats.org/drawingml/2006/main">
              <a:ext uri="{FF2B5EF4-FFF2-40B4-BE49-F238E27FC236}">
                <a16:creationId xmlns:a16="http://schemas.microsoft.com/office/drawing/2014/main" id="{1DA7C0AA-B3AE-40F7-9CBF-E99D8ABC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067" y="2497851"/>
            <a:ext cx="1874032" cy="253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3E9B"/>
              </a:buClr>
              <a:buSzPts val="1500"/>
              <a:buFont typeface="IBM Plex Sans"/>
              <a:buNone/>
            </a:pPr>
            <a:r>
              <a:rPr sz="1500" b="1" i="0" u="none" cap="none">
                <a:solidFill>
                  <a:srgbClr val="5B3E9B"/>
                </a:solidFill>
                <a:latin typeface="IBM Plex Sans"/>
                <a:ea typeface="IBM Plex Sans"/>
                <a:cs typeface="IBM Plex Sans"/>
              </a:rPr>
              <a:t>BDG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7" name="Google Shape;277;p13">
            <a:extLst xmlns:a="http://schemas.openxmlformats.org/drawingml/2006/main">
              <a:ext uri="{FF2B5EF4-FFF2-40B4-BE49-F238E27FC236}">
                <a16:creationId xmlns:a16="http://schemas.microsoft.com/office/drawing/2014/main" id="{735648C2-3DB5-423E-BCA6-CEB03DB8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067" y="2802539"/>
            <a:ext cx="1874032" cy="616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50"/>
              <a:buFont typeface="IBM Plex Sans"/>
              <a:buNone/>
            </a:pPr>
            <a:r>
              <a:rPr sz="115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Ask for a spread: setpoint </a:t>
            </a:r>
            <a:r>
              <a:rPr sz="1150" b="1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τ</a:t>
            </a:r>
            <a:r>
              <a:rPr sz="115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gain </a:t>
            </a:r>
            <a:r>
              <a:rPr sz="1150" b="1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η</a:t>
            </a:r>
            <a:r>
              <a:rPr sz="115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 → the deviation gain w_eff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8" name="Google Shape;278;p13">
            <a:extLst xmlns:a="http://schemas.openxmlformats.org/drawingml/2006/main">
              <a:ext uri="{FF2B5EF4-FFF2-40B4-BE49-F238E27FC236}">
                <a16:creationId xmlns:a16="http://schemas.microsoft.com/office/drawing/2014/main" id="{4494DC66-2233-410E-B010-A009FB76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067" y="3469977"/>
            <a:ext cx="1874032" cy="222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150"/>
              <a:buFont typeface="IBM Plex Sans"/>
              <a:buNone/>
            </a:pPr>
            <a:r>
              <a:rPr sz="115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Plug-in is exactly </a:t>
            </a:r>
            <a:r>
              <a:rPr sz="1150" b="1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η = 0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9" name="Google Shape;279;p13">
            <a:extLst xmlns:a="http://schemas.openxmlformats.org/drawingml/2006/main">
              <a:ext uri="{FF2B5EF4-FFF2-40B4-BE49-F238E27FC236}">
                <a16:creationId xmlns:a16="http://schemas.microsoft.com/office/drawing/2014/main" id="{EB5A0B0A-621E-402E-BFE9-B38E676E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067" y="3743238"/>
            <a:ext cx="1874032" cy="616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5B3E9B"/>
              </a:buClr>
              <a:buSzPts val="1150"/>
              <a:buFont typeface="IBM Plex Sans"/>
              <a:buNone/>
            </a:pPr>
            <a:r>
              <a:rPr sz="1150" b="1" i="0" u="none" cap="none">
                <a:solidFill>
                  <a:srgbClr val="5B3E9B"/>
                </a:solidFill>
                <a:latin typeface="IBM Plex Sans"/>
                <a:ea typeface="IBM Plex Sans"/>
                <a:cs typeface="IBM Plex Sans"/>
              </a:rPr>
              <a:t>The same rule and the same code in both modalities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36" name="Google Shape;280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997cc975574aa2">
            <a:alphaModFix/>
          </a:blip>
          <a:srcRect xmlns:a="http://schemas.openxmlformats.org/drawingml/2006/main" l="-29" t="0" r="-29" b="0"/>
          <a:stretch xmlns:a="http://schemas.openxmlformats.org/drawingml/2006/main"/>
        </p:blipFill>
        <p:spPr>
          <a:xfrm xmlns:a="http://schemas.openxmlformats.org/drawingml/2006/main">
            <a:off x="2971730" y="2457363"/>
            <a:ext cx="558750" cy="1015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7" name="Google Shape;281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997cc975574aa2">
            <a:alphaModFix/>
          </a:blip>
          <a:srcRect xmlns:a="http://schemas.openxmlformats.org/drawingml/2006/main" l="-29" t="0" r="-29" b="0"/>
          <a:stretch xmlns:a="http://schemas.openxmlformats.org/drawingml/2006/main"/>
        </p:blipFill>
        <p:spPr>
          <a:xfrm xmlns:a="http://schemas.openxmlformats.org/drawingml/2006/main">
            <a:off x="5689581" y="2457363"/>
            <a:ext cx="558750" cy="1015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8" name="Google Shape;282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997cc975574aa2">
            <a:alphaModFix/>
          </a:blip>
          <a:srcRect xmlns:a="http://schemas.openxmlformats.org/drawingml/2006/main" l="-29" t="0" r="-29" b="0"/>
          <a:stretch xmlns:a="http://schemas.openxmlformats.org/drawingml/2006/main"/>
        </p:blipFill>
        <p:spPr>
          <a:xfrm xmlns:a="http://schemas.openxmlformats.org/drawingml/2006/main">
            <a:off x="8407342" y="2457363"/>
            <a:ext cx="558750" cy="1015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9" name="Google Shape;283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997cc975574aa2">
            <a:alphaModFix/>
          </a:blip>
          <a:srcRect xmlns:a="http://schemas.openxmlformats.org/drawingml/2006/main" l="-29" t="0" r="-29" b="0"/>
          <a:stretch xmlns:a="http://schemas.openxmlformats.org/drawingml/2006/main"/>
        </p:blipFill>
        <p:spPr>
          <a:xfrm xmlns:a="http://schemas.openxmlformats.org/drawingml/2006/main">
            <a:off x="2971730" y="4273550"/>
            <a:ext cx="558750" cy="1015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0" name="Google Shape;284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997cc975574aa2">
            <a:alphaModFix/>
          </a:blip>
          <a:srcRect xmlns:a="http://schemas.openxmlformats.org/drawingml/2006/main" l="-29" t="0" r="-29" b="0"/>
          <a:stretch xmlns:a="http://schemas.openxmlformats.org/drawingml/2006/main"/>
        </p:blipFill>
        <p:spPr>
          <a:xfrm xmlns:a="http://schemas.openxmlformats.org/drawingml/2006/main">
            <a:off x="5689581" y="4273550"/>
            <a:ext cx="558750" cy="1015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1" name="Google Shape;285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997cc975574aa2">
            <a:alphaModFix/>
          </a:blip>
          <a:srcRect xmlns:a="http://schemas.openxmlformats.org/drawingml/2006/main" l="-29" t="0" r="-29" b="0"/>
          <a:stretch xmlns:a="http://schemas.openxmlformats.org/drawingml/2006/main"/>
        </p:blipFill>
        <p:spPr>
          <a:xfrm xmlns:a="http://schemas.openxmlformats.org/drawingml/2006/main">
            <a:off x="8407342" y="4273550"/>
            <a:ext cx="558750" cy="1015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6" name="Google Shape;286;p13">
            <a:extLst xmlns:a="http://schemas.openxmlformats.org/drawingml/2006/main">
              <a:ext uri="{FF2B5EF4-FFF2-40B4-BE49-F238E27FC236}">
                <a16:creationId xmlns:a16="http://schemas.microsoft.com/office/drawing/2014/main" id="{F172D451-3CBB-44AC-88FE-5E1A6920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5181550"/>
            <a:ext cx="10621754" cy="41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1150"/>
              <a:buFont typeface="IBM Plex Sans"/>
              <a:buNone/>
            </a:pPr>
            <a:r>
              <a:rPr sz="1150" b="0" i="0" u="none" cap="none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All main-path models are trained from scratch. We evaluate borrowed EquiFM and EDM checkpoints separately, and never pool backends.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7" name="Google Shape;287;p13">
            <a:extLst xmlns:a="http://schemas.openxmlformats.org/drawingml/2006/main">
              <a:ext uri="{FF2B5EF4-FFF2-40B4-BE49-F238E27FC236}">
                <a16:creationId xmlns:a16="http://schemas.microsoft.com/office/drawing/2014/main" id="{8831F47D-DCD7-425E-9277-71F2DEE8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571" y="330144"/>
            <a:ext cx="1117591" cy="451873"/>
          </a:xfrm>
          <a:prstGeom xmlns:a="http://schemas.openxmlformats.org/drawingml/2006/main" prst="roundRect">
            <a:avLst>
              <a:gd name="adj" fmla="val 19674"/>
            </a:avLst>
          </a:prstGeom>
          <a:solidFill xmlns:a="http://schemas.openxmlformats.org/drawingml/2006/main">
            <a:srgbClr val="1F5F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>
            <a:extLst xmlns:a="http://schemas.openxmlformats.org/drawingml/2006/main">
              <a:ext uri="{FF2B5EF4-FFF2-40B4-BE49-F238E27FC236}">
                <a16:creationId xmlns:a16="http://schemas.microsoft.com/office/drawing/2014/main" id="{28EE1F2A-43B1-4A2F-AE66-57609A14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371" y="380944"/>
            <a:ext cx="1015991" cy="375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sz="2400" b="1" i="0" u="none" cap="none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1f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9" name="Google Shape;289;p13">
            <a:extLst xmlns:a="http://schemas.openxmlformats.org/drawingml/2006/main">
              <a:ext uri="{FF2B5EF4-FFF2-40B4-BE49-F238E27FC236}">
                <a16:creationId xmlns:a16="http://schemas.microsoft.com/office/drawing/2014/main" id="{91C181B3-29EB-4523-94B5-F887CB27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6444066"/>
            <a:ext cx="1962099" cy="18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sz="900" b="0" i="0" u="none" cap="none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12 / 31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0" name="Google Shape;290;p13">
            <a:extLst xmlns:a="http://schemas.openxmlformats.org/drawingml/2006/main">
              <a:ext uri="{FF2B5EF4-FFF2-40B4-BE49-F238E27FC236}">
                <a16:creationId xmlns:a16="http://schemas.microsoft.com/office/drawing/2014/main" id="{17D94DFD-E730-4F97-BD95-4D5E62E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716" y="6455476"/>
            <a:ext cx="8790356" cy="173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sz="900" b="0" i="0" u="none" cap="none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figure (this work)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72626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3A008-9DD0-4074-A443-66051DF0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2 · BASE-MODEL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6362D-C72C-4FEF-B949-7693918F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Flow matching is the base model we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A89E5-6D1A-450D-8C3D-3DC2B6FE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B9A59-E357-4380-BD00-39D294D0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13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0133C-1B7F-4FDB-A7F3-81333AB3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[2] Hoogeboom et al. 2022 · [24] Song et al. 2023 (EquiFM) · [15] Ye et al. 2024 (EDMsecond release)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809625" y="1676400"/>
          <a:ext xmlns:a="http://schemas.openxmlformats.org/drawingml/2006/main" cx="10572750" cy="2667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00375"/>
                <a:gridCol w="1952625"/>
                <a:gridCol w="1952625"/>
                <a:gridCol w="1333500"/>
                <a:gridCol w="857250"/>
                <a:gridCol w="1476375"/>
              </a:tblGrid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Generator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Mol. stable %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Valid %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Unique %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NFE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s/sample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Our FM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39.7 ± 0.6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75.6 ± 1.1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99.8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0.051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Our VP diffusion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28.8 ± 1.3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66.2 ± 0.7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99.9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0.048*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EquiFM [24] · flow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86.2 ± 0.3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93.8 ± 0.6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99.7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0.086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EDMsecond [15] · diffusion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67.2 ± 1.3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86.0 ± 1.3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99.8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0.087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B3C6E-B01F-4E9D-83A2-65E01913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38650"/>
            <a:ext cx="10572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Unguided. 3 seeds × 2,000. Mean ± seed SD. Uniqueness is conditional on validity.</a:t>
            </a:r>
          </a:p>
          <a:p xmlns:a="http://schemas.openxmlformats.org/drawingml/2006/main">
            <a:pPr>
              <a:def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*VP: B200 MIG. Others: RTX A6000. Runtime includes scoring and is not hardware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BABAC-B965-4F70-8AB8-6929DE09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578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Our FM gains 10.9 stability points and 9.4 validity points over our VP, with one fewer evaluation. This motivates carrying FM forward.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C6CF7-4A4E-472A-BDC2-737B6658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436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EquiFM is also flow matching, and EDMsecond is diffusion. Their measured ordering is consistent with this choice, but external training differs.</a:t>
            </a:r>
          </a:p>
        </p:txBody>
      </p:sp>
    </p:spTree>
    <p:extLst>
      <p:ext uri="{BB962C8B-B14F-4D97-AF65-F5344CB8AC3E}">
        <p14:creationId xmlns:p14="http://schemas.microsoft.com/office/powerpoint/2010/main" val="287914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F5817-9EDC-4369-B5F1-026EB046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2 · GUIDANCE STRATEGY 1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4D8E7-D3C9-4EDB-8567-ED18D042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Plug-in guidance through the frozen generator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BD9E1-91EC-4FD7-9E52-71718F26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9F247-7921-472D-BF16-61993FA1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14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387BC-A0FB-4B32-ABA3-9FCF06EB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[12] Chung et al. 2023 (DPS-style adaptation) · original implemented Gaussian-energy guidance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31C89-9306-497F-BD0A-86795B70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430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mᵢ = xₜ,ᵢ + (1 − t)vθ(xₜ,ᵢ, t)       Fᵢ = f_A(mᵢ)       Jᵢ = ∂mᵢ/∂xₜ,ᵢ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6F023-4D49-4519-9323-F3C5DDC4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57425"/>
            <a:ext cx="1057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24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Gᵢ = [(y − Fᵢ) / s²] Jᵢᵀ ∇f_A(mᵢ)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95E2B-4850-4A3E-93FB-5AA22101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guide scores a predicted endpoint. Differentiation passes through both the property network and the frozen generator.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74EA3-CFDD-4140-9479-26FF5C0C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719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Target, scale and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835F6-C7F0-42C7-BA7E-52828C44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5095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y is q50. s is the calibration property SD.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For FM, add w(1 − t)/t times G for t ≥ 0.5.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Clip each correction to the base velocity norm.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VP uses its Tweedie endpoint and VP mapping.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F3ADB-FEB3-41C5-9EDA-8B327A63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Three networks, three roles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F531C-2E67-4689-83F4-99A4EF60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52925"/>
            <a:ext cx="5095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Generator: evolves the noisy molecule.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f_A: provides the property gradient.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f_B: evaluates decoded samples afterwards.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All weights stay frozen during sampling.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91080-D15C-4E1F-B78F-B809741B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912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BDG retains this gradient computation and modifies the scalar residual.</a:t>
            </a:r>
          </a:p>
        </p:txBody>
      </p:sp>
    </p:spTree>
    <p:extLst>
      <p:ext uri="{BB962C8B-B14F-4D97-AF65-F5344CB8AC3E}">
        <p14:creationId xmlns:p14="http://schemas.microsoft.com/office/powerpoint/2010/main" val="7476018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11D09-AC25-4E7E-880B-99F86F6F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2 · GUIDED VERSUS UNGUIDED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E342C-8A60-4F95-AF8A-C030736F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Guidance improves μ and gap in both families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48099-02E4-4FFF-8C12-66AAEA91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4582A-F49B-49EF-A111-FA3ED602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15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61657-CBCE-4A6B-9929-134C8598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[12] Chung et al. 2023 · results/v3/{fm,vp}/v3/n2000, audited in paper v9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809625" y="1590675"/>
          <a:ext xmlns:a="http://schemas.openxmlformats.org/drawingml/2006/main" cx="10572750" cy="32670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1714500"/>
                <a:gridCol w="1714500"/>
                <a:gridCol w="1714500"/>
                <a:gridCol w="1857375"/>
                <a:gridCol w="185737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Property / model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Unguided IB %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Plug-in IB %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ΔIB (z)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Stable %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Valid %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μ / FM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7.8 ± 0.1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10.6 ± 0.4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+2.75 (5.22)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39.7 → 35.6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75.6 → 72.5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μ / VP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8.7 ± 0.8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10.8 ± 0.4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+2.13 (3.94)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28.8 → 26.2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66.2 → 61.8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α / FM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5.0 ± 0.3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6.1 ± 0.3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+1.07 (2.56)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39.7 → 37.2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75.6 → 73.7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α / VP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5.2 ± 0.6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5.4 ± 0.4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+0.15 (0.37)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28.8 → 25.2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66.2 → 58.7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gap / FM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10.3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12.6 ± 0.7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+2.35 (4.04)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39.7 → 33.6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75.6 → 69.9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gap / VP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9.8 ± 0.6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12.4 ± 1.2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+2.60 (4.55)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28.8 → 23.2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66.2 → 57.3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CD5A3-E8B6-4D7D-BE38-4DA3240B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81575"/>
            <a:ext cx="1057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q50, w = 1, second-half guidance. Each arm uses 3 seeds × 2,000 with the same masks and seeds. IB: mean ± seed SD. Quality: mean, unguided → guided.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98C10-172B-4FA9-A084-43B2BCB5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864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μ and gap clear |z| = 2.99 in both families (z = 3.94–5.22). α remains unresolved.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4B20D-2A8B-473D-8DA7-150EE2D1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579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Guidance trades some chemical quality for coverage. FM retains the stronger starting stability and validity.</a:t>
            </a:r>
          </a:p>
        </p:txBody>
      </p:sp>
    </p:spTree>
    <p:extLst>
      <p:ext uri="{BB962C8B-B14F-4D97-AF65-F5344CB8AC3E}">
        <p14:creationId xmlns:p14="http://schemas.microsoft.com/office/powerpoint/2010/main" val="5765965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C5397-EF7C-45A5-B170-FE2F6E56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2 · INNOVATION 1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F1576-F288-4CCC-B993-1E95F702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BDG adds feedback on batch dispersion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AE93C-26BB-4A1E-BE3D-C684DA98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0249B-14DC-464D-B689-CE92BD4F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16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1E89A-C445-41AA-B5F2-C30A4E36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[12] Chung 2023 · [15] Ye 2024 · [22] Boys 2024 · [23] Song 2023 · related batch/moment work [16–21]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90738-0C95-457F-B05C-AC6A541A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049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21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Plug-in residual:     y − Fᵢ = (y − F̄) − (Fᵢ − F̄)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76C14-45D0-4D1F-985C-8FC68CD5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574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 single strength scales both centring and contraction. BDG keeps the centring coefficient and adjusts the deviation coefficient using the measured batch variance.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809625" y="3000375"/>
          <a:ext xmlns:a="http://schemas.openxmlformats.org/drawingml/2006/main" cx="10572750" cy="2514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742950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Method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Information used for the correction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DPS-style plug-in [12]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One sample’s property residual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TMPD-inspired [22]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 local surrogate for endpoint uncertainty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LGD-MC [23]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Monte Carlo samples around an endpoint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TFG [15]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Additional optimization of predicted endpoints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Batch property variance relative to a requested spread τ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44718-22CE-4DB5-9AB6-FF06E9E4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340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Contribution: this batch-dependent deviation rule within property-gradient guidance, reused on Euclidean molecules and simplex DNA. Prior work already studies batch interactions and moment control [16–21].</a:t>
            </a:r>
          </a:p>
        </p:txBody>
      </p:sp>
    </p:spTree>
    <p:extLst>
      <p:ext uri="{BB962C8B-B14F-4D97-AF65-F5344CB8AC3E}">
        <p14:creationId xmlns:p14="http://schemas.microsoft.com/office/powerpoint/2010/main" val="12090223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1" name="Google Shape;391;p18">
            <a:extLst xmlns:a="http://schemas.openxmlformats.org/drawingml/2006/main">
              <a:ext uri="{FF2B5EF4-FFF2-40B4-BE49-F238E27FC236}">
                <a16:creationId xmlns:a16="http://schemas.microsoft.com/office/drawing/2014/main" id="{2F8A9500-416B-42DF-82DE-44305CAF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507938"/>
            <a:ext cx="10883529" cy="234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196"/>
              <a:buFont typeface="IBM Plex Sans"/>
              <a:buNone/>
            </a:pPr>
            <a:r>
              <a:rPr sz="1196" b="1" i="0" u="none" cap="none">
                <a:solidFill>
                  <a:srgbClr val="1F5FA9"/>
                </a:solidFill>
                <a:latin typeface="IBM Plex Sans"/>
                <a:ea typeface="IBM Plex Sans"/>
                <a:cs typeface="IBM Plex Sans"/>
              </a:rPr>
              <a:t>PART 2 · EVIDENCE FOR MODALITY 1 · INNOVATION 2 OF 4</a:t>
            </a:r>
            <a:endParaRPr sz="1196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2" name="Google Shape;392;p18">
            <a:extLst xmlns:a="http://schemas.openxmlformats.org/drawingml/2006/main">
              <a:ext uri="{FF2B5EF4-FFF2-40B4-BE49-F238E27FC236}">
                <a16:creationId xmlns:a16="http://schemas.microsoft.com/office/drawing/2014/main" id="{49AF8CAA-A69A-4007-8864-ED58C647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742249"/>
            <a:ext cx="10883529" cy="408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997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748"/>
              <a:buFont typeface="Source Serif 4"/>
              <a:buNone/>
            </a:pPr>
            <a:r>
              <a:rPr sz="2748" b="1" i="0" u="none" cap="none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BDG: the mechanism</a:t>
            </a:r>
            <a:endParaRPr sz="2748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3" name="Google Shape;393;p18">
            <a:extLst xmlns:a="http://schemas.openxmlformats.org/drawingml/2006/main">
              <a:ext uri="{FF2B5EF4-FFF2-40B4-BE49-F238E27FC236}">
                <a16:creationId xmlns:a16="http://schemas.microsoft.com/office/drawing/2014/main" id="{BBE74D70-A870-4033-86E1-2A8B710C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95" y="1255359"/>
            <a:ext cx="10560183" cy="3368887"/>
          </a:xfrm>
          <a:prstGeom xmlns:a="http://schemas.openxmlformats.org/drawingml/2006/main" prst="roundRect">
            <a:avLst>
              <a:gd name="adj" fmla="val 2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2" name="Google Shape;394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51aed06e8c4175">
            <a:alphaModFix/>
          </a:blip>
          <a:srcRect xmlns:a="http://schemas.openxmlformats.org/drawingml/2006/main" l="0" t="-92" r="0" b="-92"/>
          <a:stretch xmlns:a="http://schemas.openxmlformats.org/drawingml/2006/main"/>
        </p:blipFill>
        <p:spPr>
          <a:xfrm xmlns:a="http://schemas.openxmlformats.org/drawingml/2006/main">
            <a:off x="2444771" y="1346826"/>
            <a:ext cx="7302431" cy="325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95" name="Google Shape;395;p18">
            <a:extLst xmlns:a="http://schemas.openxmlformats.org/drawingml/2006/main">
              <a:ext uri="{FF2B5EF4-FFF2-40B4-BE49-F238E27FC236}">
                <a16:creationId xmlns:a16="http://schemas.microsoft.com/office/drawing/2014/main" id="{7FA27520-CED2-43BD-B37A-EDCF42B1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95" y="4757582"/>
            <a:ext cx="3422688" cy="1360682"/>
          </a:xfrm>
          <a:prstGeom xmlns:a="http://schemas.openxmlformats.org/drawingml/2006/main" prst="roundRect">
            <a:avLst>
              <a:gd name="adj" fmla="val 6300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8">
            <a:extLst xmlns:a="http://schemas.openxmlformats.org/drawingml/2006/main">
              <a:ext uri="{FF2B5EF4-FFF2-40B4-BE49-F238E27FC236}">
                <a16:creationId xmlns:a16="http://schemas.microsoft.com/office/drawing/2014/main" id="{853A301F-E2B1-4A3F-B76D-E3E93582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862" y="4861737"/>
            <a:ext cx="3206136" cy="263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sz="150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One coefficient changes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7" name="Google Shape;397;p18">
            <a:extLst xmlns:a="http://schemas.openxmlformats.org/drawingml/2006/main">
              <a:ext uri="{FF2B5EF4-FFF2-40B4-BE49-F238E27FC236}">
                <a16:creationId xmlns:a16="http://schemas.microsoft.com/office/drawing/2014/main" id="{B48D2789-425D-4511-BC9A-5CB74132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862" y="5150489"/>
            <a:ext cx="3206136" cy="471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sz="13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centring term keeps coefficient 1; η = 0 gives plug-in [12] exactly.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8" name="Google Shape;398;p18">
            <a:extLst xmlns:a="http://schemas.openxmlformats.org/drawingml/2006/main">
              <a:ext uri="{FF2B5EF4-FFF2-40B4-BE49-F238E27FC236}">
                <a16:creationId xmlns:a16="http://schemas.microsoft.com/office/drawing/2014/main" id="{A7FD02AA-70FE-41F0-A49B-3891FF37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597" y="4757582"/>
            <a:ext cx="3422688" cy="1360682"/>
          </a:xfrm>
          <a:prstGeom xmlns:a="http://schemas.openxmlformats.org/drawingml/2006/main" prst="roundRect">
            <a:avLst>
              <a:gd name="adj" fmla="val 6300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8">
            <a:extLst xmlns:a="http://schemas.openxmlformats.org/drawingml/2006/main">
              <a:ext uri="{FF2B5EF4-FFF2-40B4-BE49-F238E27FC236}">
                <a16:creationId xmlns:a16="http://schemas.microsoft.com/office/drawing/2014/main" id="{E4421D04-64F2-427D-B6E2-AA9CEDA2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564" y="4861737"/>
            <a:ext cx="3206136" cy="263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sz="150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Same network calls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0" name="Google Shape;400;p18">
            <a:extLst xmlns:a="http://schemas.openxmlformats.org/drawingml/2006/main">
              <a:ext uri="{FF2B5EF4-FFF2-40B4-BE49-F238E27FC236}">
                <a16:creationId xmlns:a16="http://schemas.microsoft.com/office/drawing/2014/main" id="{4C0D04B7-DC3D-483C-A1E2-DF235A9F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564" y="5150489"/>
            <a:ext cx="3206136" cy="471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300"/>
              <a:buFont typeface="IBM Plex Sans"/>
              <a:buNone/>
            </a:pPr>
            <a:r>
              <a:rPr sz="13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Both terms share one gradient; BDG adds two batch reductions.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1" name="Google Shape;401;p18">
            <a:extLst xmlns:a="http://schemas.openxmlformats.org/drawingml/2006/main">
              <a:ext uri="{FF2B5EF4-FFF2-40B4-BE49-F238E27FC236}">
                <a16:creationId xmlns:a16="http://schemas.microsoft.com/office/drawing/2014/main" id="{1AECD91B-2CE1-44BE-BCAB-F762C8D6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00" y="4757582"/>
            <a:ext cx="3422688" cy="1360682"/>
          </a:xfrm>
          <a:prstGeom xmlns:a="http://schemas.openxmlformats.org/drawingml/2006/main" prst="roundRect">
            <a:avLst>
              <a:gd name="adj" fmla="val 6300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 cmpd="sng">
            <a:solidFill>
              <a:srgbClr val="DDD9C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8">
            <a:extLst xmlns:a="http://schemas.openxmlformats.org/drawingml/2006/main">
              <a:ext uri="{FF2B5EF4-FFF2-40B4-BE49-F238E27FC236}">
                <a16:creationId xmlns:a16="http://schemas.microsoft.com/office/drawing/2014/main" id="{AFF1FAC1-3FA9-4B18-9782-298F275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67" y="4861737"/>
            <a:ext cx="3206136" cy="25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1500"/>
              <a:buFont typeface="IBM Plex Sans"/>
              <a:buNone/>
            </a:pPr>
            <a:r>
              <a:rPr sz="1500" b="1" i="0" u="none" cap="none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Two knobs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3" name="Google Shape;403;p18">
            <a:extLst xmlns:a="http://schemas.openxmlformats.org/drawingml/2006/main">
              <a:ext uri="{FF2B5EF4-FFF2-40B4-BE49-F238E27FC236}">
                <a16:creationId xmlns:a16="http://schemas.microsoft.com/office/drawing/2014/main" id="{2303F36C-E355-42AB-8B60-11755201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267" y="5144598"/>
            <a:ext cx="3206136" cy="894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4984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72"/>
              <a:buFont typeface="IBM Plex Sans"/>
              <a:buNone/>
            </a:pPr>
            <a:r>
              <a:rPr sz="1272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Gain η ≥ 0. Requested spread τ = τₘs &gt; 0, where s is the calibration property SD. τₘ controls the setpoint.</a:t>
            </a:r>
            <a:endParaRPr sz="1272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4" name="Google Shape;404;p18">
            <a:extLst xmlns:a="http://schemas.openxmlformats.org/drawingml/2006/main">
              <a:ext uri="{FF2B5EF4-FFF2-40B4-BE49-F238E27FC236}">
                <a16:creationId xmlns:a16="http://schemas.microsoft.com/office/drawing/2014/main" id="{367B179B-27AF-4CDF-B066-3CA36727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571" y="330138"/>
            <a:ext cx="1117591" cy="451873"/>
          </a:xfrm>
          <a:prstGeom xmlns:a="http://schemas.openxmlformats.org/drawingml/2006/main" prst="roundRect">
            <a:avLst>
              <a:gd name="adj" fmla="val 19674"/>
            </a:avLst>
          </a:prstGeom>
          <a:solidFill xmlns:a="http://schemas.openxmlformats.org/drawingml/2006/main">
            <a:srgbClr val="1F5F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8">
            <a:extLst xmlns:a="http://schemas.openxmlformats.org/drawingml/2006/main">
              <a:ext uri="{FF2B5EF4-FFF2-40B4-BE49-F238E27FC236}">
                <a16:creationId xmlns:a16="http://schemas.microsoft.com/office/drawing/2014/main" id="{3F75C8F9-C105-4E85-AC96-FCF7D0A3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371" y="380938"/>
            <a:ext cx="1015991" cy="375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IBM Plex Sans"/>
              <a:buNone/>
            </a:pPr>
            <a:r>
              <a:rPr sz="2400" b="1" i="0" u="none" cap="none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2c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6" name="Google Shape;406;p18">
            <a:extLst xmlns:a="http://schemas.openxmlformats.org/drawingml/2006/main">
              <a:ext uri="{FF2B5EF4-FFF2-40B4-BE49-F238E27FC236}">
                <a16:creationId xmlns:a16="http://schemas.microsoft.com/office/drawing/2014/main" id="{453983D8-3ACE-4DFB-831E-C5AB959F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6444066"/>
            <a:ext cx="1962099" cy="18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sz="900" b="0" i="0" u="none" cap="none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17 / 31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7" name="Google Shape;407;p18">
            <a:extLst xmlns:a="http://schemas.openxmlformats.org/drawingml/2006/main">
              <a:ext uri="{FF2B5EF4-FFF2-40B4-BE49-F238E27FC236}">
                <a16:creationId xmlns:a16="http://schemas.microsoft.com/office/drawing/2014/main" id="{928E54F5-0810-4681-AD27-E576A4F0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716" y="6455476"/>
            <a:ext cx="8790356" cy="173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sz="900" b="0" i="0" u="none" cap="none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figure and formulation (this work) · plug-in base after [12] Chung et al. 2023 (DPS)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73062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96BBB-D3E6-44DF-81FC-3C4B94AF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2 · INNOVATION 3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7B919-7CAB-4130-885B-5C2E2897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What the added term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CEAF4-F91F-404A-85EC-317BF09F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EAD39-C015-481A-8887-FC68EE88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18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A674D-13F3-4537-BAC3-72C7D54C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formulation and algebra (paper v9) · reduction checks in proj1/tests/test_bdg.py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1B9A1-E336-48C3-B959-ACA35128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21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e = (Vᵦ − τ²) / τ²         w_eff = 1 + ηe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5A7F9-23B3-4178-9F1C-FE7D926F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050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21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nᵢ = (y − F̄) − w_eff(Fᵢ − F̄) = (y − Fᵢ) − ηe(Fᵢ − F̄)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7EDC7-47CD-4FE9-90B8-CD47F268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813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η = 0 recovers plug-in exactly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68313-88E4-4C45-ADC2-066DDEA2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62325"/>
            <a:ext cx="5095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This removes the extra residual term.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τ must stay positive: τ = 0 divides by zero.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Changing τₘ while η &gt; 0 changes the response to batch spread.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59213-666C-4DBD-B5F0-2007AB2F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813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Contraction and expansion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B6F90-DE4F-44A0-927E-57C1980D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62325"/>
            <a:ext cx="5095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 &gt; 0 increases contraction.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−1/η &lt; e &lt; 0 weakens contraction.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w_eff &lt; 0 permits expansion. Since Vᵦ ≥ 0, w_eff ≥ 1 − η. Velocity clipping still applies.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EE142-D8FC-4283-8908-15EA8861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33975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At each step: nᵢ = w_eff(y_eff − Fᵢ), where y_eff = (y + ηeF̄) / w_eff if w_eff ≠ 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28AB6-DAEB-4353-AE64-24E02EAD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53100"/>
            <a:ext cx="1057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added control is adaptive gain and target adjustment along the same gradient. Finite sampling, nonlinear response and decoding affect the achieved spread.</a:t>
            </a:r>
          </a:p>
        </p:txBody>
      </p:sp>
    </p:spTree>
    <p:extLst>
      <p:ext uri="{BB962C8B-B14F-4D97-AF65-F5344CB8AC3E}">
        <p14:creationId xmlns:p14="http://schemas.microsoft.com/office/powerpoint/2010/main" val="20838203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C1FD10-6774-4388-AA14-2E495C8D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2 · INNOVATION 4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568AA-9BCB-417B-9D04-8788ACF5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The setpoint controls spread on both flow backbones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EC5BA-21A3-4214-A862-337B5A5C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ECAA0-D470-45BB-9C58-F9221BD7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19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B83F8-6948-4F69-AC6F-B1013FFD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measurements · results/v3/{fm,equifm}/v3abl/n2000 · pooled decoded property SD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9AEF8-4DB8-4542-BE15-E1749080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668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η = 8, w = 1. Four setpoints, three properties, 3 seeds × 2,000 per point.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09625" y="1933575"/>
          <a:ext xmlns:a="http://schemas.openxmlformats.org/drawingml/2006/main" cx="512445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7b85bccc064569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257925" y="1933575"/>
          <a:ext xmlns:a="http://schemas.openxmlformats.org/drawingml/2006/main" cx="512445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ff01a44349411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4CD7F-624A-4249-B3C1-BA2AC7E9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625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All six curves increase monotonically: 0.67–0.77× at τₘ = 0.5, and 1.15–1.25× at τₘ = 1.5.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12B76-D0F7-4E63-9D77-2E814E0C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86450"/>
            <a:ext cx="1057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tested plug-in strengths w = 1 and 4 only narrow spread. BDG adds a wider operating range with the same network-call budget.</a:t>
            </a:r>
          </a:p>
        </p:txBody>
      </p:sp>
    </p:spTree>
    <p:extLst>
      <p:ext uri="{BB962C8B-B14F-4D97-AF65-F5344CB8AC3E}">
        <p14:creationId xmlns:p14="http://schemas.microsoft.com/office/powerpoint/2010/main" val="4558421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C9CBE-BC7E-40B2-BF74-95A3EAD0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2 · INNOVATION ABLATIONS 1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E5B6D-DA60-4068-B777-6A82FD0B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Dipole ablation: removing and adjusting the added term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BE416-DDFD-4DBB-B382-4590F7D8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7308A-D2A2-463C-8D3B-65968598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20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8F8AC-813A-44B4-8520-7CBFA31A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Paper v9 Table 2 · results/v3/fm/v3abl/n2000 · full FM and EquiFM grids in appendix A8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57A31-FC22-4C4C-98ED-9365F406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66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Our FM, q50 dipole: y = 2.4932 D, band ±0.17541 D. Decoded results, 3 seeds × 2,000.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09625" y="2000250"/>
          <a:ext xmlns:a="http://schemas.openxmlformats.org/drawingml/2006/main" cx="10572750" cy="3067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857250"/>
                <a:gridCol w="2143125"/>
                <a:gridCol w="1524000"/>
                <a:gridCol w="1524000"/>
                <a:gridCol w="1571625"/>
                <a:gridCol w="1619250"/>
              </a:tblGrid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w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IB % ↑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MAE D ↓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Mean 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Spread 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Stable % ↑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—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10.6 ± 0.4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0.969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2.615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1.209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35.6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—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13.4 ± 0.4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0.812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2.548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1.024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30.3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11.2 ± 1.1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0.903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2.609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1.113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35.1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8.9 ± 0.2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1.133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2.714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1.434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40.5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11.9 ± 0.3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0.861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2.603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1.064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34.0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7.6 ± 0.2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1.377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2.858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1.922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37.6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CC0F1-48DB-4651-B552-4F14C3CF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959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η = 0 removes BDG and returns plug-in. At fixed w = 1, τₘ = 0.5 raises mean coverage and lowers MAE. Raising τₘ widens the batch and changes in-band occupancy.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5BBBB-186D-42E6-912A-2CFCF025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769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w = 4 zero-gain row isolates stronger plug-in guidance. η = 8 tests a larger feedback gain.</a:t>
            </a:r>
          </a:p>
        </p:txBody>
      </p:sp>
    </p:spTree>
    <p:extLst>
      <p:ext uri="{BB962C8B-B14F-4D97-AF65-F5344CB8AC3E}">
        <p14:creationId xmlns:p14="http://schemas.microsoft.com/office/powerpoint/2010/main" val="11542221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15F66-B9A1-450A-B28A-EC0804C1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2 · INNOVATION ABLATIONS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D3BDC-544B-4702-ACE1-83F131D4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Ablations support an adjustable band-control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345C8-43C7-4E0E-99CB-A8FF2552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B1669-79D2-47C4-AB9C-6B05E23A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21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4044A-DAD8-4822-B151-A61061A2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analysis · paper v9 Tables 2, S4–S5 and full 612-cell molecular ablation grid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BD5C6-8B27-42E9-BD12-FD17953A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525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Better endpoint error at the tighter setting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89DE2-E3AB-4958-AF57-CF81975A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33575"/>
            <a:ext cx="50958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At η = 4, τₘ = 0.5, both flow backbones improve mean coverage and reduce decoded MAE on all three properties. Coverage gains are +0.45 to +1.52 points.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7C165-E915-4734-99BA-B2F29A74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525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Variation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7BAE3-CB15-4984-B0AA-AFE20F87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33575"/>
            <a:ext cx="50958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three gains on our FM have higher seed variation than plug-in. The registered |z| = 2.99 threshold leaves all six coverage differences unresolved.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30ECC-01B0-4B2F-9ABE-856D0C77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9570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A controllable spread changes occupancy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67994-4D40-4717-A44C-B2DAB709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76700"/>
            <a:ext cx="50958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Four setpoints change spread monotonically in all six tasks. τₘ = 0.5 concentrates more samples inside the band. τₘ = 1 gives a wider operating point, with lower coverage in three tasks and unresolved differences in three.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41068-99A3-41CB-92DF-447B1C91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Gain and strength are distinct controls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F14BB-1229-448A-BB21-3715B02A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0958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grid removes η, changes τₘ and changes w. At η = 8, the coverage gain per stability point lost exceeds stronger plug-in in 5 of 6 tasks (4 of 6 at η = 4). These are descriptive ratios.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78B04-D2CC-4140-BEEE-F379339C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The data establish the effect of the added term. Matched-force and replay controls would isolate the contribution of online feedback itself.</a:t>
            </a:r>
          </a:p>
        </p:txBody>
      </p:sp>
    </p:spTree>
    <p:extLst>
      <p:ext uri="{BB962C8B-B14F-4D97-AF65-F5344CB8AC3E}">
        <p14:creationId xmlns:p14="http://schemas.microsoft.com/office/powerpoint/2010/main" val="18065631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42937-84C9-46E8-8CA0-7B0E32F6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2 · RECENT-METHOD COMPARISON 1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24547-E0A8-4A9B-976D-68396260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Recent guidance methods on the same frozen FM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75446-70E8-4ECC-AE94-F260A784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B28F9-753A-4F92-A0F9-C8F38C52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22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A9E48-A7BB-4AEB-91E9-CBEEE7A8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[12] Chung 2023 (DPS) · [22] Boys 2024 (TMPD) · [23] Song 2023 (LGD-MC) · [15] Ye 2024 (TFG)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09625" y="1524000"/>
          <a:ext xmlns:a="http://schemas.openxmlformats.org/drawingml/2006/main" cx="1057275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1428750"/>
                <a:gridCol w="1428750"/>
                <a:gridCol w="1428750"/>
                <a:gridCol w="2095500"/>
                <a:gridCol w="904875"/>
                <a:gridCol w="904875"/>
              </a:tblGrid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13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Method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IB μ % ↑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IB α % ↑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IB gap % ↑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Stable μ/α/gap %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DV μ %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Time s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Unguided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7.8 ± 0.1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5.0 ± 0.3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10.3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39.7 / 39.7 / 39.7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75.5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0.051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DPS-style plug-in [12]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10.6 ± 0.4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6.1 ± 0.3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12.6 ± 0.7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35.6 / 37.2 / 33.6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72.4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0.119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TMPD-inspired [22]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9.0 ± 0.6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6.1 ± 0.4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11.6 ± 0.9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38.4 / 38.9 / 37.3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74.7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0.255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LGD-MC [23]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9.6 ± 0.8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5.2 ± 0.4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10.8 ± 0.7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39.9 / 39.2 / 39.5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75.4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0.229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TFG [15]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28.8 ± 1.6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10.5 ± 0.3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27.5 ± 0.3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24.5 / 26.8 / 14.4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62.7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0.122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BDG, τₘ = 0.5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11.2 ± 1.1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7.0 ± 0.5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14.2 ± 0.8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35.1 / 36.4 / 30.0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71.2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0.119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BDG, τₘ = 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8.9 ± 0.2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5.6 ± 0.5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10.6 ± 0.2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40.5 / 37.9 / 37.6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76.3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13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0.119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00549-97B7-4FD6-9910-BA28B16D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q50, w = 1, t ≥ 0.5. Mean ± seed SD for IB, means elsewhere. DV = distinct valid molecules / attempts. Time: μ cells, RTX A6000, including scoring.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FE540-8630-4C5C-9894-D5204485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531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BDG uses plug-in’s network calls and runtime. Its τₘ = 0.5 setting has the highest mean coverage among the non-TFG arms.</a:t>
            </a:r>
          </a:p>
        </p:txBody>
      </p:sp>
    </p:spTree>
    <p:extLst>
      <p:ext uri="{BB962C8B-B14F-4D97-AF65-F5344CB8AC3E}">
        <p14:creationId xmlns:p14="http://schemas.microsoft.com/office/powerpoint/2010/main" val="6906467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162C8-FA8C-4697-AC14-A15827A9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2 · RECENT-METHOD COMPARISON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77803-C5AA-4F3D-B3AC-4F86A8DF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Coverage, quality and comparison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EA090-2D04-448E-8423-7DA72323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2e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DA299-A56D-4417-BA62-9F94B123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23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9C42F-C602-4004-991D-B0DBCC4C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[12] Chung et al. 2023 · [22] Boys et al. 2024 · [23] Song et al. 2023 · [15] Ye et al. 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2203A-7351-4531-8B1D-61A6416A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525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Where BDG improves the operating 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13791-B741-4F41-BF19-BC6D8829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33575"/>
            <a:ext cx="50958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τₘ = 0.5 raises mean coverage and lowers MAE versus plug-in across six molecular tasks. On our FM’s μ task, τₘ = 1 has the highest guided stability (40.5%) and DV (76.3%).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D9C15-5291-4CB7-B86F-BD3191EE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525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Where TFG obtains more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E6855-394D-4C0B-8887-0850BCAF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33575"/>
            <a:ext cx="50958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TFG has higher mean coverage on our FM: μ 28.8% versus BDG’s 11.2%. Its stability is 24.5% versus 35.1%. Across the comparison, coverage comes with larger stability losses.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D3341-16A8-438D-98F2-3EEA32EE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290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All scores are our own measurements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28353-4D59-4248-B702-7BBA4890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100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Same generator, targets, seeds and evaluator within a backend. All four external methods operate at inference time on frozen models, which makes them relevant comparators.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2FBAA-BADC-4959-A7E3-5D9B59BA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Adaptations and limits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A2531-D2B9-42F7-91D4-1C9BF3B5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5095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Plug-in uses Gaussian energy. TMPD uses a local-linear scalar surrogate. TFG uses our deterministic ODE and feature scale. These runs compare implementations at fixed nominal settings, not optimally tuned methods.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4A19F-EBD0-4192-8D01-817F0B99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436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EquiFM uses a different released predictor pair and different calibrated bands. Compare arms within that backend.</a:t>
            </a:r>
          </a:p>
        </p:txBody>
      </p:sp>
    </p:spTree>
    <p:extLst>
      <p:ext uri="{BB962C8B-B14F-4D97-AF65-F5344CB8AC3E}">
        <p14:creationId xmlns:p14="http://schemas.microsoft.com/office/powerpoint/2010/main" val="45371845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E81B6-0BD1-4CD4-AE5B-A876B9B2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3 · TRANSFER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691EA-E73C-4F82-848F-568E384E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Transfer to DNA keeps the BDG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35551-560F-4DE1-9C18-E78C69B1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3a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0B5CE-9378-4021-A457-DE4D7FFB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24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A470A-FD15-4604-A816-06E401A8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[4] Stark et al. 2024 (DeepFlyBrain / Dirichlet FM) · proj1/m2/simplex_fm.py · original BDG transfer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51EB3-18C1-4A89-BC9F-FEDA7867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954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Keep the same F̄, Vᵦ, e, τ = τₘs and deviation gain w_eff. Only the generator, property map and state constraints change.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09625" y="2276475"/>
          <a:ext xmlns:a="http://schemas.openxmlformats.org/drawingml/2006/main" cx="10572750" cy="2286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4000500"/>
                <a:gridCol w="47625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Component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QM9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DNA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State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Coordinates + continuous type channels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500 × 4 probability simplex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Generator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EGNN velocity, 3.75M parameters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Dilated 1D CNN, 128 × 10, about 1.02M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Guide / evaluator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Learned f_A / independent learned f_B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Soft analytic GC or CpG / exact decoded count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Feasibility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Mask and recenter coordinates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Clamp and renormalize after each step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96431-AB00-4FCA-82E5-9360DF67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053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Training and checkpoint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6C89E-753E-4EF6-9238-5DDE8F15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86375"/>
            <a:ext cx="50958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83,722 sequences. Dirichlet-to-one-hot linear FM. Adam 2 × 10⁻³, batch 256, cosine to zero, no EMA. 1,500 epochs. Validation selects epoch 1,450 (loss 0.0634).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837C2-AEC5-4758-8174-1822C09F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053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Sampling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CA2A2-0166-406F-8200-D11767CA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86375"/>
            <a:ext cx="50958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100 Euler steps, batch 500, 3 × 2,000 per arm. Original t ≥ 0.5, w ∈ {1, 4}. New GC follow-up: t ≥ 0.3, w = 4. η = 4, τₘ = 0.5; CpG has no new early-window run.</a:t>
            </a:r>
          </a:p>
        </p:txBody>
      </p:sp>
    </p:spTree>
    <p:extLst>
      <p:ext uri="{BB962C8B-B14F-4D97-AF65-F5344CB8AC3E}">
        <p14:creationId xmlns:p14="http://schemas.microsoft.com/office/powerpoint/2010/main" val="126855704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64752-7943-44DA-9074-0213E34E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3 · TARGETS ON THE DNA SIMPLEX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AC764-F726-41ED-889F-AD26251E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DNA property distributions and target bands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D123C-716A-4C9E-8346-851F534C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3a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5F746-824A-4A60-86C0-FED48C05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25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FBEA5-30B5-4269-95C3-EDC57E5F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Measured DeepFlyBrain training distribution: 83,722 sequences · exact GC and CpG counts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E81B7-5E4E-4ED4-9173-7332BA4F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049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Blue: empirical density     Purple: q50     Orange dashed: band edges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3714750" cy="2933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42e4b386804b3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C1651-8DE3-402F-B3EC-417C9D5E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054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q50 = 0.454   ± δ = 0.008833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524375" y="2095500"/>
          <a:ext xmlns:a="http://schemas.openxmlformats.org/drawingml/2006/main" cx="3714750" cy="2933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9e5d8975b04578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D7346-8108-4AE7-8F2D-1B6985F1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054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q50 = 0.046092   ± δ = 0.0088176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0ED0F-DDF5-472C-9DEA-31523E84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10502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Band half-width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8D486-A40A-4A4F-8D59-EA3FA8D9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3842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δ = max(0.16s, 4.4q)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73097-FA8A-4586-90CB-D31371A8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448050"/>
            <a:ext cx="27146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 = training property SD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qGC = 1/500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qCpG = 1/499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Full bandwidth = 2δ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E4C86-1DA0-48C3-BF4B-4CC2F4F4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53100"/>
            <a:ext cx="10572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CpG’s discrete-count floor binds: δ/s = 0.598, versus 0.160 for GC. Different natural band occupancy helps explain why raw coverage is not comparable across properties.</a:t>
            </a:r>
          </a:p>
        </p:txBody>
      </p:sp>
    </p:spTree>
    <p:extLst>
      <p:ext uri="{BB962C8B-B14F-4D97-AF65-F5344CB8AC3E}">
        <p14:creationId xmlns:p14="http://schemas.microsoft.com/office/powerpoint/2010/main" val="114407770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A5811-7B2A-4954-99DB-07A45A05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3 · COMPARISON WITH RECENT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36E57-286C-489F-9A10-9C14E78A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DNA results: GC now guides earlier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21511-3FF3-46F6-9D81-B1202B8A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3b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67759-D122-4F47-AC35-2F176341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26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C813D-28A9-4AE3-B53B-24379222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measured results · m2win: cfc5d64 (28 Sep 22:47) · CpG: original m2 cells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64051-5AA4-43FD-9378-74C3775E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954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w = 4. GC: t ≥ 0.3 follow-up. CpG: original t ≥ 0.5. Compare arms within each column.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09625" y="2019300"/>
          <a:ext xmlns:a="http://schemas.openxmlformats.org/drawingml/2006/main" cx="10572750" cy="3276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1409700"/>
                <a:gridCol w="1409700"/>
                <a:gridCol w="1657350"/>
                <a:gridCol w="2095500"/>
                <a:gridCol w="1524000"/>
              </a:tblGrid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Method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GC ≥.3 IB %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CpG ≥.5 IB %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JSD GC/CpG ↓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Hamming GC/CpG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s/seq GC/CpG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Unguided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14.0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50.2 ± 1.6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4.53 / 4.53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0.021 / 0.049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DPS-style plug-in [12]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30.3 ± 2.0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51.6 ± 1.4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3.64 / 4.63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0.124 / 0.096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TMPD-inspired [22]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29.2 ± 2.1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51.6 ± 1.4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3.66 / 4.63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0.7455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0.145 / 0.124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LGD-MC [23]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30.0 ± 1.3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51.6 ± 1.4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3.61 / 4.63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0.7455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0.131 / 0.102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TFG-MC [15]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29.8 ± 1.8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51.1 ± 1.7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3.57 / 4.58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0.7455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0.109 / 0.084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BDG, τₘ = 0.5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37.3 ± 6.5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68.5 ± 1.2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4.24 / 7.73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0.7455 / 0.7457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0.122 / 0.076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BDG, τₘ = 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—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50.3 ± 1.5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— / 4.52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— / 0.7456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— / 0.076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7028D-59B0-4D67-9CFE-8806B475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38775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3 seeds × 2,000. IB: mean ± seed SD. JSD ×10⁻⁴. Hamming: first 256 sequences, including self-pairs. GC τₘ = 1 at t ≥ 0.3 was not run (—).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EE02E-C858-4B8A-8822-1AC01F3B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055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BDG τₘ = 0.5: GC +7.08 pp; CpG +16.83 pp vs each window’s plug-in. GC baselines now separate.</a:t>
            </a:r>
          </a:p>
        </p:txBody>
      </p:sp>
    </p:spTree>
    <p:extLst>
      <p:ext uri="{BB962C8B-B14F-4D97-AF65-F5344CB8AC3E}">
        <p14:creationId xmlns:p14="http://schemas.microsoft.com/office/powerpoint/2010/main" val="151727413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7CF45-25FC-4670-B283-0895C7B8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3 · CROSS-MODALITY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077AC-8AA5-4A7F-817D-5C6753BB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Transfer gains depend on the property and setting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89167-A841-42DF-A4CD-87BF21E5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3c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A4400-DE16-4AA7-926F-CBAA2FA8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27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37143-8710-4AAE-9893-0F74B68B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decoded contrasts, paper v9 · bars show mean differences · paired seed SD reported alongside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809625" y="1714500"/>
          <a:ext xmlns:a="http://schemas.openxmlformats.org/drawingml/2006/main" cx="5381625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4b6fb7b6634227"/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6572250" y="1809750"/>
          <a:ext xmlns:a="http://schemas.openxmlformats.org/drawingml/2006/main" cx="4810125" cy="1981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28750"/>
                <a:gridCol w="2095500"/>
                <a:gridCol w="128587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Property / t_min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ΔIB ± paired SD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Status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GC .5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+2.32 ± 0.28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Original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GC 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+7.08 ± 4.53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Follow-up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CpG .5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+16.83 ± 1.12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Original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A3635-0C7C-4A29-94BE-4C716C1F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24325"/>
            <a:ext cx="48101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Earlier GC guidance increases BDG’s mean gain, with greater seed variation. The GC follow-up was chosen after diagnosing the late-window regime.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E4366-D557-412D-A346-08734DC6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34050"/>
            <a:ext cx="1057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QM9: +0.45 to +1.52 pp, unresolved by the registered test. DNA: clear mean gains, with property, band and window differences retained in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27464465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43B62-2A75-4028-B095-0BA45925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3 · LIMITS OF THE CURRENT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C4DAC-A530-42B4-9A82-EE149CDF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Measured limitations and failure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F2F3D-F6C7-4A5F-B0B7-282B9834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3d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47D8C-9A9D-4BA6-87DE-D3196CA2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28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602C4-09F5-4760-8DDC-632E892B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diagnostics · paper v9 · results/v3 and results/m2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EC3F7-4622-4E2A-B1C3-E4F0EDC1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1. Coverage can cost sample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C49E1-7E00-4813-A4F4-D4946B51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50958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Molecular guidance reduces stability. Strong DNA coverage also shifts 3-mer composition. In-band coverage alone does not measure useful molecular yield.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5BDF1-DBF5-4C83-BC86-A11C9757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2. Guidance timing can dominate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F0962-5F0C-4B65-80E3-047C5F46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At t ≥ 0.3, GC baselines separate and BDG gains +7.08 pp. At t ≥ 0, the earlier w = 1 diagnostic put BDG 2.33 pp below plug-in. Timing changes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24E0C-0488-40B3-A4B8-6F612A92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3. Nominal strength does not match force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36041-D8C3-423D-AE47-8608A02F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24325"/>
            <a:ext cx="5095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GC at t ≥ 0.3: BDG clips 20.8% of guided sample-steps versus 14.9% for plug-in. CpG at t ≥ 0.5: 7.4% versus 0.21%. Match applied force to isolate feedback.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38EB8-A924-4ED6-97F7-CF517B7E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433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4. Scores and uncertainty have limits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11DB9-6E05-44B2-B0CE-58C895D7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4325"/>
            <a:ext cx="50958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QM9 inherits evaluator error. DNA soft scores differ from decoded counts. Batch feedback couples samples, while pooled binomial tests assume independence. Three seeds provide limited resolution.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D4DC8-3ADB-42FF-A3BC-E580CC7D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626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Next measurements: batch-aware paired intervals, in-band-and-stable yield, and open-loop replay of the recorded BDG gains.</a:t>
            </a:r>
          </a:p>
        </p:txBody>
      </p:sp>
    </p:spTree>
    <p:extLst>
      <p:ext uri="{BB962C8B-B14F-4D97-AF65-F5344CB8AC3E}">
        <p14:creationId xmlns:p14="http://schemas.microsoft.com/office/powerpoint/2010/main" val="203707668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41E90-818F-4F5B-91DF-B9710BAB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PART 3 · CONCLUSION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61A08-6417-48DF-886D-C07D2879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Conclusion: adjustable spread and positive transfer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E2EBB-FF27-4653-B2BB-349FB236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5FA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3e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6B326-A3E8-49B5-B4C2-AD9101A4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29 /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1C6A5-399A-494B-8815-1CAD7BA0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conclusions from two flow backbones and two modalities (paper v9)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EB3FA-81BC-4AC3-9628-AC48226B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BDG adds a batch-dispersion control to plug-in guidance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D8F4C-7589-4CB7-AD06-98FBEE8D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479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Molecules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9CE48-EFAB-4014-ABD3-08A442B5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28925"/>
            <a:ext cx="509587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setpoint changes decoded spread monotonically on both flow backbones. At τₘ = 0.5, all six tasks have higher mean coverage and lower MAE than plug-in, with unresolved coverage differences.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5FFFC-CEBB-4306-92A4-D5D999FB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479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DNA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DFEF1-C7A9-4768-9277-9A72994C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28925"/>
            <a:ext cx="509587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GC at t ≥ 0.3 gains +7.08 pp; CpG at t ≥ 0.5 gains +16.83 pp (w = 4). Hamming changes little. GC JSD improves over unguided, while CpG JSD rises.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57715-7839-488F-A319-68FF859A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482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The control uses plug-in’s network-call budget. η = 0 recovers plug-in, which makes the added term directly testable.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45FF8-07C7-4476-B7C4-6ED5C23D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Next: address confounding with tighter atom-count control and target-range tests that account for the local property distribution. Add matched-force controls and joint useful yield.</a:t>
            </a:r>
          </a:p>
        </p:txBody>
      </p:sp>
    </p:spTree>
    <p:extLst>
      <p:ext uri="{BB962C8B-B14F-4D97-AF65-F5344CB8AC3E}">
        <p14:creationId xmlns:p14="http://schemas.microsoft.com/office/powerpoint/2010/main" val="14477034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0" name="Google Shape;680;p30">
            <a:extLst xmlns:a="http://schemas.openxmlformats.org/drawingml/2006/main">
              <a:ext uri="{FF2B5EF4-FFF2-40B4-BE49-F238E27FC236}">
                <a16:creationId xmlns:a16="http://schemas.microsoft.com/office/drawing/2014/main" id="{01EA4456-A2AF-47C8-9C3B-ED203D6B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507938"/>
            <a:ext cx="10883529" cy="238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sz="1200" b="1" i="0" u="none" cap="none">
                <a:solidFill>
                  <a:srgbClr val="1F5FA9"/>
                </a:solidFill>
                <a:latin typeface="IBM Plex Sans"/>
                <a:ea typeface="IBM Plex Sans"/>
                <a:cs typeface="IBM Plex Sans"/>
              </a:rPr>
              <a:t>REFERENCES · 1 OF 2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1" name="Google Shape;681;p30">
            <a:extLst xmlns:a="http://schemas.openxmlformats.org/drawingml/2006/main">
              <a:ext uri="{FF2B5EF4-FFF2-40B4-BE49-F238E27FC236}">
                <a16:creationId xmlns:a16="http://schemas.microsoft.com/office/drawing/2014/main" id="{1747220F-A3D6-492D-87AD-92C541F2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746696"/>
            <a:ext cx="10883529" cy="416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sz="2800" b="1" i="0" u="none" cap="none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Bibliography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2" name="Google Shape;682;p30">
            <a:extLst xmlns:a="http://schemas.openxmlformats.org/drawingml/2006/main">
              <a:ext uri="{FF2B5EF4-FFF2-40B4-BE49-F238E27FC236}">
                <a16:creationId xmlns:a16="http://schemas.microsoft.com/office/drawing/2014/main" id="{3D62AF89-196F-449D-BF94-F84F1366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1290141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[1] R. Ramakrishnan, P. Dral, M. Rupp, O. von Lilienfeld. Quantum chemistry structures and properties of 134 kilo molecules.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Scientific Data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2014. (QM9)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3" name="Google Shape;683;p30">
            <a:extLst xmlns:a="http://schemas.openxmlformats.org/drawingml/2006/main">
              <a:ext uri="{FF2B5EF4-FFF2-40B4-BE49-F238E27FC236}">
                <a16:creationId xmlns:a16="http://schemas.microsoft.com/office/drawing/2014/main" id="{11772D4E-8889-41C7-97CB-C077EF49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1551719"/>
            <a:ext cx="10883529" cy="42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[2] E. Hoogeboom, V. Satorras, C. Vignac, M. Welling. Equivariant Diffusion for Molecule Generation in 3D.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ICML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2022. (EDM; our stability and validity conventions)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4" name="Google Shape;684;p30">
            <a:extLst xmlns:a="http://schemas.openxmlformats.org/drawingml/2006/main">
              <a:ext uri="{FF2B5EF4-FFF2-40B4-BE49-F238E27FC236}">
                <a16:creationId xmlns:a16="http://schemas.microsoft.com/office/drawing/2014/main" id="{A597E7E4-EB33-44FA-A4FA-C9162E59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2011375"/>
            <a:ext cx="10883529" cy="42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[3] T. Chen, Y. Zhang, S. Tang, P. Chatterjee. Multi-Objective-Guided Discrete Flow Matching for Controllable Biological Sequence Design. arXiv:2505.07086, 2025. (MOG-DFM)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5" name="Google Shape;685;p30">
            <a:extLst xmlns:a="http://schemas.openxmlformats.org/drawingml/2006/main">
              <a:ext uri="{FF2B5EF4-FFF2-40B4-BE49-F238E27FC236}">
                <a16:creationId xmlns:a16="http://schemas.microsoft.com/office/drawing/2014/main" id="{B0DBCA7A-A873-4569-BE6B-1C7F26AF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2471043"/>
            <a:ext cx="10883529" cy="42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[4] H. Stark, B. Jing, C. Wang, G. Corso, B. Berger, R. Barzilay, T. Jaakkola. Dirichlet Flow Matching with Applications to DNA Sequence Design.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ICML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2024. (Dirichlet FM; DeepFlyBrain data)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6" name="Google Shape;686;p30">
            <a:extLst xmlns:a="http://schemas.openxmlformats.org/drawingml/2006/main">
              <a:ext uri="{FF2B5EF4-FFF2-40B4-BE49-F238E27FC236}">
                <a16:creationId xmlns:a16="http://schemas.microsoft.com/office/drawing/2014/main" id="{F5395DFE-D1D1-4147-BAA2-6176EC0C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2930711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[5] O. Davis, S. Kessler, M. Petrache, I. Ceylan, M. Bronstein, A. Bose. Fisher Flow Matching for Generative Modeling over Discrete Data.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NeurIPS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2024.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7" name="Google Shape;687;p30">
            <a:extLst xmlns:a="http://schemas.openxmlformats.org/drawingml/2006/main">
              <a:ext uri="{FF2B5EF4-FFF2-40B4-BE49-F238E27FC236}">
                <a16:creationId xmlns:a16="http://schemas.microsoft.com/office/drawing/2014/main" id="{3A7BD110-F755-49E7-A430-3EC7BD15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3192289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[6] Y. Lipman, R. Chen, H. Ben-Hamu, M. Nickel, M. Le. Flow Matching for Generative Modeling. arXiv:2210.02747, 2022.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8" name="Google Shape;688;p30">
            <a:extLst xmlns:a="http://schemas.openxmlformats.org/drawingml/2006/main">
              <a:ext uri="{FF2B5EF4-FFF2-40B4-BE49-F238E27FC236}">
                <a16:creationId xmlns:a16="http://schemas.microsoft.com/office/drawing/2014/main" id="{236C3986-6DF6-4311-A91C-A0A74694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3453867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[7] X. Liu, C. Gong, Q. Liu. Flow Straight and Fast: Learning to Generate and Transfer Data with Rectified Flow. arXiv:2209.03003, 2022.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9" name="Google Shape;689;p30">
            <a:extLst xmlns:a="http://schemas.openxmlformats.org/drawingml/2006/main">
              <a:ext uri="{FF2B5EF4-FFF2-40B4-BE49-F238E27FC236}">
                <a16:creationId xmlns:a16="http://schemas.microsoft.com/office/drawing/2014/main" id="{F7644F4D-2411-47B0-84F9-A3D32D70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3715432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[8] M. Albergo, N. Boffi, E. Vanden-Eijnden. Stochastic Interpolants: A Unifying Framework for Flows and Diffusions.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JMLR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2025.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0" name="Google Shape;690;p30">
            <a:extLst xmlns:a="http://schemas.openxmlformats.org/drawingml/2006/main">
              <a:ext uri="{FF2B5EF4-FFF2-40B4-BE49-F238E27FC236}">
                <a16:creationId xmlns:a16="http://schemas.microsoft.com/office/drawing/2014/main" id="{DD95CC78-49C7-498B-BFFF-44CE81FB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3977010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[9] V. Satorras, E. Hoogeboom, M. Welling. E(n) Equivariant Graph Neural Networks.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ICML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2021. (our backbone)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1" name="Google Shape;691;p30">
            <a:extLst xmlns:a="http://schemas.openxmlformats.org/drawingml/2006/main">
              <a:ext uri="{FF2B5EF4-FFF2-40B4-BE49-F238E27FC236}">
                <a16:creationId xmlns:a16="http://schemas.microsoft.com/office/drawing/2014/main" id="{879567B5-C312-42A9-9D05-D47B40F8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4238588"/>
            <a:ext cx="10883529" cy="42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[10] Y. Song, J. Sohl-Dickstein, D. Kingma, A. Kumar, S. Ermon, B. Poole. Score-Based Generative Modeling through Stochastic Differential Equations.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ICLR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2021.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2" name="Google Shape;692;p30">
            <a:extLst xmlns:a="http://schemas.openxmlformats.org/drawingml/2006/main">
              <a:ext uri="{FF2B5EF4-FFF2-40B4-BE49-F238E27FC236}">
                <a16:creationId xmlns:a16="http://schemas.microsoft.com/office/drawing/2014/main" id="{B79C0650-7D47-4DC1-981F-F6E17D9F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4698256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[11] T. Karras, M. Aittala, T. Aila, S. Laine. Elucidating the Design Space of Diffusion-Based Generative Models.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NeurIPS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2022.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3" name="Google Shape;693;p30">
            <a:extLst xmlns:a="http://schemas.openxmlformats.org/drawingml/2006/main">
              <a:ext uri="{FF2B5EF4-FFF2-40B4-BE49-F238E27FC236}">
                <a16:creationId xmlns:a16="http://schemas.microsoft.com/office/drawing/2014/main" id="{A3695E26-7DA9-4A4D-9EFD-F41EB224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4959834"/>
            <a:ext cx="10883529" cy="42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[12] H. Chung, J. Kim, M. McCann, M. Klasky, J. Ye. Diffusion Posterior Sampling for General Noisy Inverse Problems.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ICLR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2023. (DPS; our plug-in arm's ancestor)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4" name="Google Shape;694;p30">
            <a:extLst xmlns:a="http://schemas.openxmlformats.org/drawingml/2006/main">
              <a:ext uri="{FF2B5EF4-FFF2-40B4-BE49-F238E27FC236}">
                <a16:creationId xmlns:a16="http://schemas.microsoft.com/office/drawing/2014/main" id="{E0C035EA-BEA8-4515-B633-890C2B65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5419489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[13] Velocity-relative correction cap: implementation choice in this study, shared by every guidance arm.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5" name="Google Shape;695;p30">
            <a:extLst xmlns:a="http://schemas.openxmlformats.org/drawingml/2006/main">
              <a:ext uri="{FF2B5EF4-FFF2-40B4-BE49-F238E27FC236}">
                <a16:creationId xmlns:a16="http://schemas.microsoft.com/office/drawing/2014/main" id="{91999C70-3EDE-42DE-AE60-B808D62D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6444072"/>
            <a:ext cx="1962099" cy="18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sz="900" b="0" i="0" u="none" cap="none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30 / 31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904991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1" name="Google Shape;701;p31">
            <a:extLst xmlns:a="http://schemas.openxmlformats.org/drawingml/2006/main">
              <a:ext uri="{FF2B5EF4-FFF2-40B4-BE49-F238E27FC236}">
                <a16:creationId xmlns:a16="http://schemas.microsoft.com/office/drawing/2014/main" id="{5DB833D7-CFFB-4F14-B126-A82BA961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507938"/>
            <a:ext cx="10883529" cy="238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5FA9"/>
              </a:buClr>
              <a:buSzPts val="1200"/>
              <a:buFont typeface="IBM Plex Sans"/>
              <a:buNone/>
            </a:pPr>
            <a:r>
              <a:rPr sz="1200" b="1" i="0" u="none" cap="none">
                <a:solidFill>
                  <a:srgbClr val="1F5FA9"/>
                </a:solidFill>
                <a:latin typeface="IBM Plex Sans"/>
                <a:ea typeface="IBM Plex Sans"/>
                <a:cs typeface="IBM Plex Sans"/>
              </a:rPr>
              <a:t>REFERENCES · 2 OF 2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2" name="Google Shape;702;p31">
            <a:extLst xmlns:a="http://schemas.openxmlformats.org/drawingml/2006/main">
              <a:ext uri="{FF2B5EF4-FFF2-40B4-BE49-F238E27FC236}">
                <a16:creationId xmlns:a16="http://schemas.microsoft.com/office/drawing/2014/main" id="{4E8C9991-D994-49EA-ABFF-6181B6CD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746696"/>
            <a:ext cx="10883529" cy="416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C"/>
              </a:buClr>
              <a:buSzPts val="2800"/>
              <a:buFont typeface="Source Serif 4"/>
              <a:buNone/>
            </a:pPr>
            <a:r>
              <a:rPr sz="2800" b="1" i="0" u="none" cap="none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Bibliography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3" name="Google Shape;703;p31">
            <a:extLst xmlns:a="http://schemas.openxmlformats.org/drawingml/2006/main">
              <a:ext uri="{FF2B5EF4-FFF2-40B4-BE49-F238E27FC236}">
                <a16:creationId xmlns:a16="http://schemas.microsoft.com/office/drawing/2014/main" id="{59E1CF71-5487-41BC-BC6A-4595B598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1290141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[14] J. Ho, T. Salimans. Classifier-Free Diffusion Guidance. arXiv:2207.12598, 2022.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4" name="Google Shape;704;p31">
            <a:extLst xmlns:a="http://schemas.openxmlformats.org/drawingml/2006/main">
              <a:ext uri="{FF2B5EF4-FFF2-40B4-BE49-F238E27FC236}">
                <a16:creationId xmlns:a16="http://schemas.microsoft.com/office/drawing/2014/main" id="{F9F53ED8-D0B9-42AA-9A9A-1D0C2769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1551719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[15] H. Ye, H. Lin, J. Han, M. Xu, S. Liu, Y. Liang, J. Ma, J. Zou, S. Ermon. TFG: Unified Training-Free Guidance for Diffusion Models.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NeurIPS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2024.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5" name="Google Shape;705;p31">
            <a:extLst xmlns:a="http://schemas.openxmlformats.org/drawingml/2006/main">
              <a:ext uri="{FF2B5EF4-FFF2-40B4-BE49-F238E27FC236}">
                <a16:creationId xmlns:a16="http://schemas.microsoft.com/office/drawing/2014/main" id="{A58B6B2C-775B-49C5-A041-F5CDC9E2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1813297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[16] H. Wang, Y. Liu, J. Chi, F. Liu, R. Xue, Y. Duan. CFG-Ctrl: Control-Based Classifier-Free Diffusion Guidance. arXiv:2603.03281, 2026.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6" name="Google Shape;706;p31">
            <a:extLst xmlns:a="http://schemas.openxmlformats.org/drawingml/2006/main">
              <a:ext uri="{FF2B5EF4-FFF2-40B4-BE49-F238E27FC236}">
                <a16:creationId xmlns:a16="http://schemas.microsoft.com/office/drawing/2014/main" id="{B471F183-DE73-4D2F-B67D-57D96891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2074875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[17] F. Koulischer, F. Handke, J. Deleu, T. Demeester, L. Ambrogioni. Feedback Guidance of Diffusion Models.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NeurIPS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2025. arXiv:2506.06085.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7" name="Google Shape;707;p31">
            <a:extLst xmlns:a="http://schemas.openxmlformats.org/drawingml/2006/main">
              <a:ext uri="{FF2B5EF4-FFF2-40B4-BE49-F238E27FC236}">
                <a16:creationId xmlns:a16="http://schemas.microsoft.com/office/drawing/2014/main" id="{05BC2D85-3B0B-4CAC-9BC8-9A2D6BAF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2336453"/>
            <a:ext cx="10883529" cy="42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[18] E. Lempereur, N. Cuvelle-Magar, F. Coeurdoux, S. Mallat, E. Vanden-Eijnden. MGD: Moment Guided Diffusion for Maximum Entropy Generation. arXiv:2602.17211, 2026. (closest prior art)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8" name="Google Shape;708;p31">
            <a:extLst xmlns:a="http://schemas.openxmlformats.org/drawingml/2006/main">
              <a:ext uri="{FF2B5EF4-FFF2-40B4-BE49-F238E27FC236}">
                <a16:creationId xmlns:a16="http://schemas.microsoft.com/office/drawing/2014/main" id="{1D7514E7-B2DD-49D9-AA3B-94CBE99C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2796108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[19] I. Azangulov, L. Zhang, K. Ashouritaklimi. Variance-Tilted Diffusion Models for Diverse Sampling. arXiv:2606.22239, 2026.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9" name="Google Shape;709;p31">
            <a:extLst xmlns:a="http://schemas.openxmlformats.org/drawingml/2006/main">
              <a:ext uri="{FF2B5EF4-FFF2-40B4-BE49-F238E27FC236}">
                <a16:creationId xmlns:a16="http://schemas.microsoft.com/office/drawing/2014/main" id="{362F04A2-0F2F-4744-B3D0-E33FD0D2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3057686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[20] G. Corso, Y. Xu, V. De Bortoli, R. Barzilay, T. Jaakkola. Particle Guidance: Non-I.I.D. Diverse Sampling with Diffusion Models.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ICLR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2024.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0" name="Google Shape;710;p31">
            <a:extLst xmlns:a="http://schemas.openxmlformats.org/drawingml/2006/main">
              <a:ext uri="{FF2B5EF4-FFF2-40B4-BE49-F238E27FC236}">
                <a16:creationId xmlns:a16="http://schemas.microsoft.com/office/drawing/2014/main" id="{1C848936-4DB6-4352-AC2F-52CB1CD6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3319264"/>
            <a:ext cx="10883529" cy="42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[21] E. Ventura, B. Achilli, L. Ambrogioni, C. Lucibello. Negative guidance reduces means and expands variances in diffusion models. arXiv:2602.00716, 2026.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1" name="Google Shape;711;p31">
            <a:extLst xmlns:a="http://schemas.openxmlformats.org/drawingml/2006/main">
              <a:ext uri="{FF2B5EF4-FFF2-40B4-BE49-F238E27FC236}">
                <a16:creationId xmlns:a16="http://schemas.microsoft.com/office/drawing/2014/main" id="{5988D6AB-3B4C-4633-AA25-E710B7E0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3778932"/>
            <a:ext cx="10883529" cy="42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[22] B. Boys, M. Girolami, J. Pidstrigach, S. Reich, A. Mosca, O. D. Akyildiz. Tweedie Moment Projected Diffusions for Inverse Problems.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TMLR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2024. (TMPD)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2" name="Google Shape;712;p31">
            <a:extLst xmlns:a="http://schemas.openxmlformats.org/drawingml/2006/main">
              <a:ext uri="{FF2B5EF4-FFF2-40B4-BE49-F238E27FC236}">
                <a16:creationId xmlns:a16="http://schemas.microsoft.com/office/drawing/2014/main" id="{BD8524B7-CEDC-489F-9E86-CF15B533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4238588"/>
            <a:ext cx="10883529" cy="42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[23] J. Song, Q. Zhang, H. Yin, M. Mardani, M.-Y. Liu, J. Kautz, Y. Chen, A. Vahdat. Loss-Guided Diffusion Models for Plug-and-Play Controllable Generation.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ICML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2023. (LGD-MC)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3" name="Google Shape;713;p31">
            <a:extLst xmlns:a="http://schemas.openxmlformats.org/drawingml/2006/main">
              <a:ext uri="{FF2B5EF4-FFF2-40B4-BE49-F238E27FC236}">
                <a16:creationId xmlns:a16="http://schemas.microsoft.com/office/drawing/2014/main" id="{F0FB3557-AB3E-42E7-9C25-56D8CE67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4698256"/>
            <a:ext cx="10883529" cy="42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[24] Y. Song, J. Gong, M. Xu, Z. Cao, Y. Lan, S. Ermon, H. Zhou, W.-Y. Ma. Equivariant Flow Matching with Hybrid Probability Transport for 3D Molecule Generation.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NeurIPS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2023. (EquiFM; appendix)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4" name="Google Shape;714;p31">
            <a:extLst xmlns:a="http://schemas.openxmlformats.org/drawingml/2006/main">
              <a:ext uri="{FF2B5EF4-FFF2-40B4-BE49-F238E27FC236}">
                <a16:creationId xmlns:a16="http://schemas.microsoft.com/office/drawing/2014/main" id="{E03D4E1A-DAEA-4627-8D4E-40D168AF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5157912"/>
            <a:ext cx="10883529" cy="223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4553"/>
              </a:buClr>
              <a:buSzPts val="1200"/>
              <a:buFont typeface="IBM Plex Sans"/>
              <a:buNone/>
            </a:pP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[25] F. Bao, M. Zhao, Z. Hao, P. Li, C. Li, J. Zhu. Equivariant Energy-Guided SDE for Inverse Molecular Design. </a:t>
            </a:r>
            <a:r>
              <a:rPr sz="1200" b="0" i="1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ICLR</a:t>
            </a:r>
            <a:r>
              <a:rPr sz="1200" b="0" i="0" u="none" cap="none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, 2023. (EEGSDE; appendix)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5" name="Google Shape;715;p31">
            <a:extLst xmlns:a="http://schemas.openxmlformats.org/drawingml/2006/main">
              <a:ext uri="{FF2B5EF4-FFF2-40B4-BE49-F238E27FC236}">
                <a16:creationId xmlns:a16="http://schemas.microsoft.com/office/drawing/2014/main" id="{584C3A4A-BF9B-49F4-A08B-B04F4BC5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20" y="6444059"/>
            <a:ext cx="1962099" cy="18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A77"/>
              </a:buClr>
              <a:buSzPts val="900"/>
              <a:buFont typeface="IBM Plex Sans"/>
              <a:buNone/>
            </a:pPr>
            <a:r>
              <a:rPr sz="900" b="0" i="0" u="none" cap="none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31 / 31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681857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620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94C8AF-5430-43CB-A035-9AFA83EF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144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APPENDIX · FOR 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A994C-C290-447D-BAA8-B30F57F7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09725"/>
            <a:ext cx="1057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7F6F2"/>
                </a:solidFill>
                <a:latin typeface="Source Serif 4"/>
                <a:ea typeface="Source Serif 4"/>
                <a:cs typeface="Source Serif 4"/>
              </a:defRPr>
            </a:pPr>
            <a:r>
              <a:rPr sz="3825" b="1">
                <a:solidFill>
                  <a:srgbClr val="F7F6F2"/>
                </a:solidFill>
                <a:latin typeface="Source Serif 4"/>
                <a:ea typeface="Source Serif 4"/>
                <a:cs typeface="Source Serif 4"/>
              </a:rPr>
              <a:t>Implementation and full comparisons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7F1D7-4839-4DB5-94F1-311CA79C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289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A1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C1206-2A00-4698-9270-604B21E1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2289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EquiFM and its adapter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CF90B-2E50-4FDA-8335-1500F5C6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909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A2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484F7-FF08-4251-96BB-8FE4D679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7909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EGNN, f_A and f_B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1199F-2A3A-47C3-85F2-C0FD55E1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A3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967DD-ED51-4EF4-8FBE-777C2428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3529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Data split and fixed sizes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D9C98-C16A-4E31-8CF5-93588C99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149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A4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6BC74-2061-4464-B895-637F7519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9149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Guidance rules and cost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ADF6A-275B-44A9-B4AD-FFE0B84C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768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A5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40842-9800-4C13-BDD3-FC96BC5E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4768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BDG algorithm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77BD8-65EE-4934-BDC0-BF983F9F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289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A6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F3DED-2F69-4CC8-9BB2-F6C005B5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2289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DNA model architecture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4AFB1-C4B7-4088-9E30-8E5C523A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909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A7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58D48-9B46-4FE9-A335-5E61CE52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7909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Point cloud to molecule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5C1741-008C-4529-95EE-9660C404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52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A8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31D62-6B4A-4234-8499-6C5FF36D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3529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All molecular ablation grids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6A3C4-B235-4824-92BC-4C203F10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149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8FB4E5"/>
                </a:solidFill>
                <a:latin typeface="IBM Plex Sans"/>
                <a:ea typeface="IBM Plex Sans"/>
                <a:cs typeface="IBM Plex Sans"/>
              </a:rPr>
              <a:t>A9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27019D-384D-4AEF-94CF-52917B03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9149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7F6F2"/>
                </a:solidFill>
                <a:latin typeface="IBM Plex Sans"/>
                <a:ea typeface="IBM Plex Sans"/>
                <a:cs typeface="IBM Plex Sans"/>
              </a:rPr>
              <a:t>DNA windows and strengths</a:t>
            </a:r>
          </a:p>
        </p:txBody>
      </p:sp>
    </p:spTree>
    <p:extLst>
      <p:ext uri="{BB962C8B-B14F-4D97-AF65-F5344CB8AC3E}">
        <p14:creationId xmlns:p14="http://schemas.microsoft.com/office/powerpoint/2010/main" val="14780789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42CBC-CAEA-414F-9A18-8A7600EB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A1 · BORROWED GENERATOR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171EA-66F2-4F96-BA4E-6A5DDEE1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EquiFM is a separate flow-matching backend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222EB-8B59-480F-9CAD-E0827CA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E16F0-5312-4B81-9888-4AE44632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FCC2F-3B86-4721-879A-0F9A2BF4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[24] Song et al. 2023 (EquiFM) · [2] Hoogeboom et al. 2022 · released checkpoint audit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10572750" cy="2686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7620000"/>
              </a:tblGrid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Released checkpoint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Configuration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Architecture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Equivariant GNN dynamics, 256 × 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Parameters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5,339,920 (EMA)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State per atom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 coordinates + one-hot types / 4 + charge / 10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Native time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τ = 1 at noise, τ = 0 at data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Sampling in our study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100 Euler steps, 3 seeds × 2,000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827B7-EB4E-4B10-BBD3-F8BAD914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Hybrid probability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0B787-39C7-40BA-AD4D-486D58AD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53000"/>
            <a:ext cx="50958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Coordinates use aligned noise (rotation and permutation matching). Type and charge channels use a variance-preserving path. These differ from our straight Gaussian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51B75-C6EF-4EFE-A30B-B0D7850F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Why include 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1E3A3-ECD2-4947-8230-BDE4AF12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0958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It tests the guidance rule on a second flow generator trained outside this project. Its 86.2% molecule stability provides a different starting operating point.</a:t>
            </a:r>
          </a:p>
        </p:txBody>
      </p:sp>
    </p:spTree>
    <p:extLst>
      <p:ext uri="{BB962C8B-B14F-4D97-AF65-F5344CB8AC3E}">
        <p14:creationId xmlns:p14="http://schemas.microsoft.com/office/powerpoint/2010/main" val="147824708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6EDCF-D36D-4FAA-9DDE-B5CAFB5C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A1 · BACKEND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6EA55-1579-48AE-8382-16BB4DBD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The EquiFM adapter preserves its native dynamics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5A194-D793-4D7C-A938-BF8D423C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327FE-3CD3-4628-88E3-36EC8E08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D5DA6-1F7C-467A-9726-F7A8E4D0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[24] Song et al. 2023 · [15] Ye et al. 2024 · transfer_sweep.py EquiFM backend and calibration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09625" y="1552575"/>
          <a:ext xmlns:a="http://schemas.openxmlformats.org/drawingml/2006/main" cx="10572750" cy="3371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09875"/>
                <a:gridCol w="7762875"/>
              </a:tblGrid>
              <a:tr h="5619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Adapter component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Treatment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Predicted endpoint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Use EquiFM’s regression-target algebra for coordinates and features.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Plug-in / BDG / TFG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Differentiate the adapted endpoint through its native model.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TMPD / LGD-MC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Use a covariance surrogate. It is approximate for aligned coordinates.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Feature channels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Keep the model’s normalization. Hold charge fixed during guidance.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Guide / evaluator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Use TFG’s released property pair, with backend-specific calibrated bands.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D9D55-6CA1-45C9-8915-F1E692A3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006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Band widths differ from our predictor pair: δ = 0.157 D (μ), 0.165 Bohr³ (α), 0.0037 Ha (gap). Compare guidance arms within EquiFM.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BD44B-0290-4156-BBD7-B9AF6422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817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Same-seed reruns can shift coverage by up to 0.7 points. Keep this numerical variation in view for small contrasts.</a:t>
            </a:r>
          </a:p>
        </p:txBody>
      </p:sp>
    </p:spTree>
    <p:extLst>
      <p:ext uri="{BB962C8B-B14F-4D97-AF65-F5344CB8AC3E}">
        <p14:creationId xmlns:p14="http://schemas.microsoft.com/office/powerpoint/2010/main" val="53839827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72B02B-2F5A-45F3-9CA9-765545F8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A2 · EGNN 1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18DCD-6625-4B6E-A9C0-443A4221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EGNN: the geometry built into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F5604-CE30-44E3-88E2-B009B27B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D7239-5D31-4C5A-B172-B48EACC0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05AD9-FA85-4D17-9346-25A1CF49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[9] Satorras, Hoogeboom &amp; Welling, E(n)-Equivariant Graph Neural Networks, ICML 2021 · egnn.py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8FBA9-4427-4FA4-8439-D765AE0F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430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EGNN = E(n)-Equivariant Graph Neural 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3AEE5-9AC7-4FCD-8E0B-2D8ABE55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6A5E5-D593-485C-9461-1E561858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50958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Each real atom is a node. Connect every pair of distinct real atoms (at most 29). The mask excludes padding and self-pairs.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8FCC3-1D44-492A-A3D3-1E1BE43F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E(n): Euclidean symmetry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CC58B-8F13-4E7C-8CD7-31131780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0958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Rotations, reflections and translations. In 3D, rotating a molecule rotates its coordinate updates. Scalar properties such as dipole magnitude remain unchanged.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199DA-4A02-4D4E-B119-D9965728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100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How each layer preserves symmetry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1CB50-35F5-49A7-944A-5CB29E4D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91050"/>
            <a:ext cx="5095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Squared distances do not change under rotation. Difference vectors rotate with the molecule. Learned scalar weights multiply those vectors. Summing neighbours removes dependence on their order.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B3766-B195-4E6F-A993-12FE667F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What we implemented and trained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78F52-63DA-42BB-BA3D-55DC0126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50958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Our plain-PyTorch EGNN and all “our” generators and predictors train from scratch on QM9. EquiFM and EDM use separate borrowed checkpoints.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046A0-8487-4306-9C6C-FD075B8E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00750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A dipole vector rotates with the molecule. Our target μ is its scalar magnitude. Recentring removes translation from coordinate velocities.</a:t>
            </a:r>
          </a:p>
        </p:txBody>
      </p:sp>
    </p:spTree>
    <p:extLst>
      <p:ext uri="{BB962C8B-B14F-4D97-AF65-F5344CB8AC3E}">
        <p14:creationId xmlns:p14="http://schemas.microsoft.com/office/powerpoint/2010/main" val="42201798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05CE41-B0C1-4E9D-89CC-934BD485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A2 · EGNN 2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A65DA-C1E4-43BC-A5D0-915EF3DC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One EGNN layer, step by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0C81F-781D-4B46-B83A-74F00C07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09E1B-96E8-4099-9E79-0864664E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5159A-B7DA-4E5E-A2ED-AF78BE87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[9] Satorras et al. 2021 · proj1/src/models/egnn.py:58–106 (our masked implementation)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AA64B-C3CA-4689-8A8E-CFFE19C4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95425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Atom i carries a feature vector hᵢ and a position xᵢ. Each φ is a small MLP.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C9C3D-FC04-4F9F-A284-60264058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336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1. Messages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FD36E-D077-4917-A749-A6C422CF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33600"/>
            <a:ext cx="800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mᵢⱼ = φₑ(hᵢ, hⱼ, ‖xᵢ − xⱼ‖²)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D10F1-A5EB-4D66-A1F9-99BB8495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2890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What atom j tells atom i, given their features and squared distance.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71184-7616-4BEF-96A2-F4FA7ECD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623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2. 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7C9A7-1640-406D-8A41-449F6110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62325"/>
            <a:ext cx="800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hᵢ ← hᵢ + φₕ(hᵢ, Σⱼ mᵢⱼ)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37F6B-95C7-4C1F-9BE1-5D0F6859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57625"/>
            <a:ext cx="800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Add the messages, then update atom i’s feature vector.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AD78E-E39C-4ED2-A041-5639147F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52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3. Coordinates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F208A-D0A7-4EC1-BC62-FFA3DD39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52950"/>
            <a:ext cx="8001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xᵢ ← xᵢ + Σⱼ (xᵢ − xⱼ) φₓ(mᵢⱼ) / (dᵢⱼ + 1)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CA4DE-11A6-41E6-A5E4-8B1B7AC7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114925"/>
            <a:ext cx="800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Move along atom-to-atom directions by learned scalar amounts.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dᵢⱼ = √(‖xᵢ − xⱼ‖² + 10⁻⁸) in code.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AF074-65AD-419A-806B-B9B65436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9122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Mask every update. One dense layer already reaches all atoms. Stacking layers learns more complex interactions.</a:t>
            </a:r>
          </a:p>
        </p:txBody>
      </p:sp>
    </p:spTree>
    <p:extLst>
      <p:ext uri="{BB962C8B-B14F-4D97-AF65-F5344CB8AC3E}">
        <p14:creationId xmlns:p14="http://schemas.microsoft.com/office/powerpoint/2010/main" val="36434517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C9D1D-5F11-4F76-A989-B57169D2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A2 · EGNN 3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C2DD8-84C5-4578-8B0B-91BED9D6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Two EGNN classes, two different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CEEE2-0737-4176-BD2D-F376EE05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76867-21FA-44D5-B6F4-1D6B2F8D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3B92F-0934-4382-AE2D-F32E6D11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[9] Satorras et al. 2021 · egnn.py: EGNNVelocity and EGNNScalar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A1436-8445-4175-89A4-66C33255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62100"/>
            <a:ext cx="509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EGNNVelocity: the generator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6BA9A-6C80-41D1-8D8D-28AFC384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14550"/>
            <a:ext cx="5095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Input: noisy coordinates, continuous type channels, time t and atom mask.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B22EA-8BE6-44D9-8B50-3117AEDB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14650"/>
            <a:ext cx="50958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Run the EGNN stack with coordinate updates.</a:t>
            </a:r>
          </a:p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Coordinate output = final − initial positions, then recenter.</a:t>
            </a:r>
          </a:p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Type output = MLP on each final atom feature.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5B9A4-30D7-4396-8409-447681C9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19625"/>
            <a:ext cx="5095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FM reads these outputs as velocity.</a:t>
            </a:r>
          </a:p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VP reads the same architecture’s outputs as noise ε. A 100-step FM sampler calls this generator once per step.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D7E17-EB0E-4C6D-87C0-D363A0E4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509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EGNNScalar: one property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42A78-CA82-4B61-AE11-17C58D5A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50958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Input: a molecule and its atom mask.</a:t>
            </a:r>
          </a:p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Keep coordinates fixed (update_coords=False).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2D064-4436-40F4-9701-BE69CEE0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57525"/>
            <a:ext cx="509587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1. Run the feature-message layers.</a:t>
            </a:r>
          </a:p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2. Average features over real atoms only.</a:t>
            </a:r>
          </a:p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3. Apply the pooling MLP: this is the embedding.</a:t>
            </a:r>
          </a:p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4. One linear head returns μ, α or gap.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91872-B1F5-4BFA-A4D9-4F220333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00625"/>
            <a:ext cx="509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pooled scalar is unchanged by atom order or rigid transformations. f_A and f_B are separately trained copies of this class.</a:t>
            </a:r>
          </a:p>
        </p:txBody>
      </p:sp>
    </p:spTree>
    <p:extLst>
      <p:ext uri="{BB962C8B-B14F-4D97-AF65-F5344CB8AC3E}">
        <p14:creationId xmlns:p14="http://schemas.microsoft.com/office/powerpoint/2010/main" val="172626862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D6945-0700-43F6-8BB9-239A2D06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A2 · PROPERTY PREDICTORS 4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FFE49-CD40-4704-9147-0F414777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f_A steers; f_B evaluates after decoding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F81C4-50F3-415D-8282-FA4F87CC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7072E-27F8-4DDF-B963-E4622AC6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047DA-9947-4CBA-807B-49AC2FD2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[9] Satorras et al. 2021 · predictor training and calibration audit · [15] Ye et al. 2024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09625" y="1533525"/>
          <a:ext xmlns:a="http://schemas.openxmlformats.org/drawingml/2006/main" cx="10572750" cy="3200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4429125"/>
                <a:gridCol w="4429125"/>
              </a:tblGrid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/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f_A: guide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f_B: evaluator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Training data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train_a, 51,527 molecules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train_b, 51,527 molecules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Architecture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EGNNScalar, width 128 × 4, 429,825 parameters per property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Same architecture, independent weights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Training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Standardized-target MSE, Adam 3 × 10⁻⁴ cosine, batch 128, 120 epochs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Best validation MAE, no EMA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Sampling role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Differentiate f_A(m) through the predicted endpoint 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Never called inside the guidance update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Evaluation role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Diagnostic guide score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Score final coordinates and decoded one-hot atom types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85CF7-79EC-43F1-9648-3B12C15B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720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Our pair evaluates our FM, VP and borrowed EDMsecond. EquiFM uses TFG’s released predictor pair and its own bands.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9D300-E837-4850-BA82-DF7CEEB9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10572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Calibration MAE of f_B: μ 0.0877 D, α 0.2531 Bohr³, gap 0.00374 Ha. Band half-width δ = 2 × MAE. Independent training reduces shared bias but does not eliminate evaluator error.</a:t>
            </a:r>
          </a:p>
        </p:txBody>
      </p:sp>
    </p:spTree>
    <p:extLst>
      <p:ext uri="{BB962C8B-B14F-4D97-AF65-F5344CB8AC3E}">
        <p14:creationId xmlns:p14="http://schemas.microsoft.com/office/powerpoint/2010/main" val="81041344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8ADAE-9E50-4626-8451-2AF9FD31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A3 · DATA AND SAMPLE SIZES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B9E67-F2C2-4C5A-9950-AAE62D81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Data split and fixed atom-count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94B50-8EEA-44B5-BC8E-4EF8FE5D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B3C7B-B93F-40DB-BEF5-05B9DF5F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EA89B-0C79-42C7-A8B5-0C59545D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QM9 split seed 20260917 · transfer_sweep.py:2382–2426 · first 2,000 validation masks in data/qm9.pt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809625" y="1533525"/>
          <a:ext xmlns:a="http://schemas.openxmlformats.org/drawingml/2006/main" cx="10572750" cy="2333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6524625"/>
                <a:gridCol w="17621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Split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Used by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train_a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Our FM, VP and f_A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51,527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train_b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Our f_B only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51,527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Validation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Checkpoint selection and the 2,000 size masks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17,748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Test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Held out from training and checkpoint selection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13,083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DF5FE-FA29-4386-B91E-D4C3C8BB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195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Exactly which sizes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C54DF-FD65-4F65-B3A5-5136BB39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00575"/>
            <a:ext cx="5095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Molecule i uses validation molecule i’s atom count for i = 0…1999. The same ordered list goes to every arm, seed and backend. Seeds change only initial noise.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858B5-5456-4440-93ED-91410293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95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Size and target are separate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1339E-6636-4874-A47B-AD9F9D61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00575"/>
            <a:ext cx="5095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Every molecule receives the same q50 property target, whatever its size. No histogram sampling, target-based filtering or size filtering. Min 8, median 18, mean 17.87, max 29.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16FEF-C3F6-4AF5-BB2F-1DC02009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7217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Calibration uses 3,000 molecules from train_a + train_b. Each of our predictors is scored on the half it did not train on.</a:t>
            </a:r>
          </a:p>
        </p:txBody>
      </p:sp>
    </p:spTree>
    <p:extLst>
      <p:ext uri="{BB962C8B-B14F-4D97-AF65-F5344CB8AC3E}">
        <p14:creationId xmlns:p14="http://schemas.microsoft.com/office/powerpoint/2010/main" val="53192820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BEAA2-CFA5-441D-9BD4-4F07D663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A4 · RULES 1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20782-9F0A-4BEF-B3EA-E836416B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Guidance rules in a shared endpoint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D0591-9A02-490F-8C51-B3184A15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65598-720E-44E6-8C3D-9CBFFCC1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A9CF4-F14B-42DC-8E24-177F836A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[12] Chung et al. 2023 · [22] Boys et al. 2024 · [23] Song et al. 2023 · [15] Ye et al. 2024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09625" y="1628775"/>
          <a:ext xmlns:a="http://schemas.openxmlformats.org/drawingml/2006/main" cx="10572750" cy="3771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81915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Arm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What changes relative to plug-in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DPS-style plug-in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Gaussian property residual (y − f_A(m)) / s², pulled back through Jᵀ.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TMPD-inspired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Divide by s² + gᵀΣg using a local covariance surrogate, g = ∇f_A(m).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LGD-MC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Average property gradients over Monte Carlo perturbations near m, with likelihood weights.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TFG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Add direct optimization of the predicted endpoint, with four refinement steps.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Replace the residual with (y − F̄) − (1 + ηe)(Fᵢ − F̄). Same gradient and pullback.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48B27-E8B2-4B8B-A138-93391EF7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292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All are adaptations on our frozen checkpoints. Shared atom masks, guidance window and velocity-relative cap. TMPD’s scalar surrogate and our TFG sampler differ from the original full algorithms.</a:t>
            </a:r>
          </a:p>
        </p:txBody>
      </p:sp>
    </p:spTree>
    <p:extLst>
      <p:ext uri="{BB962C8B-B14F-4D97-AF65-F5344CB8AC3E}">
        <p14:creationId xmlns:p14="http://schemas.microsoft.com/office/powerpoint/2010/main" val="179830541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BE29B-3FF0-431F-8BF1-DF10272B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A4 · RECORDED SAMPLING OPERATIONS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E4C5E-D8AD-4FB5-8086-495C2241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BDG retains plug-in’s network-call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57695-140A-476A-B0B0-C71C5F76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8F5BB-895D-4B74-ACD3-6884A2D9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A39E2-7DED-4934-951C-625BE50A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Recorded cost fields · our FM, μ, w = 1, 2,000-molecule cell · paper v9 cost table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09625" y="1666875"/>
          <a:ext xmlns:a="http://schemas.openxmlformats.org/drawingml/2006/main" cx="10572750" cy="3505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1581150"/>
                <a:gridCol w="1581150"/>
                <a:gridCol w="1581150"/>
                <a:gridCol w="1581150"/>
                <a:gridCol w="1581150"/>
              </a:tblGrid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Method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Gen. forward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Gen. VJP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Gen. JVP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Guide forward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Guide backward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Unguided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DPS-style plug-in [12]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TMPD-inspired [22]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LGD-MC [23]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TFG [15]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BDG, τₘ = 0.5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800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BDG, τₘ = 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800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22D36-CD83-42FF-9D1E-9E55367D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816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 VJP is a vector–Jacobian product. A JVP is a Jacobian–vector product. Forward and derivative calls are separate operations, not equal-cost units.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AEBE3-87F0-4C8F-A5FC-1B365EEA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483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BDG adds scalar batch reductions only. Main-table wall-clock also includes the evaluator.</a:t>
            </a:r>
          </a:p>
        </p:txBody>
      </p:sp>
    </p:spTree>
    <p:extLst>
      <p:ext uri="{BB962C8B-B14F-4D97-AF65-F5344CB8AC3E}">
        <p14:creationId xmlns:p14="http://schemas.microsoft.com/office/powerpoint/2010/main" val="152724975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D8122-8532-4987-B77F-ACCEDE35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A5 · ALGORITHM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DD6BD-770A-4FCA-A971-166C5F86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One BDG-guided Euler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335E1-ACFB-4E5C-AEC4-B4EB24FF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D49B0-0A9F-4770-BADA-61B8DD9D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E5417-FED8-4A37-AB0A-FF5CA427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algorithm · proj1/src/guidance.py and proj1/tests/test_bdg.py · η = 0 verified on our FM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09625" y="1476375"/>
          <a:ext xmlns:a="http://schemas.openxmlformats.org/drawingml/2006/main" cx="10572750" cy="43719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09625"/>
                <a:gridCol w="9763125"/>
              </a:tblGrid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Step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Computation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Compute v = vθ(xₜ, t). Before the guidance window, use xₜ₊ₕ = Π(xₜ + hv).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Predict endpoints mᵢ = xₜ,ᵢ + (1 − t)vᵢ, with differentiation enabled.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Evaluate Fᵢ = f_A(mᵢ), mean F̄ and unbiased batch variance Vᵦ.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Set τ = τₘs &gt; 0, e = (Vᵦ − τ²) / τ² and w_eff = 1 + ηe.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Detach aᵢ = [(y − Fᵢ) − ηe(Fᵢ − F̄)] / s².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One vector–Jacobian product: G = VJPₓ(F, a).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Set Cᵢ = w(1 − t)/max(t, ε) Gᵢ and cap ‖Cᵢ‖ at ‖vᵢ‖.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Return Π{xₜ + h(v + C)}.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04C27-DCF2-4629-A776-74D9164F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19800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Π masks and recentres molecules. For DNA, Π clamps and renormalizes each position. Batch size 500 means four independent controller batches per 2,000-sample cell.</a:t>
            </a:r>
          </a:p>
        </p:txBody>
      </p:sp>
    </p:spTree>
    <p:extLst>
      <p:ext uri="{BB962C8B-B14F-4D97-AF65-F5344CB8AC3E}">
        <p14:creationId xmlns:p14="http://schemas.microsoft.com/office/powerpoint/2010/main" val="158573487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AF244-5C52-4124-B1BA-14700FF0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A6 · SIMPLEX FM 1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BA5DE-0D27-42F1-91AD-6BC73267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DNA velocity network and 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38A11-BC66-4413-A30C-870F71B2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0F322-0F80-4BE7-AF7B-C9638F66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978B4-0D94-4A51-A701-E50D6AA9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[4] Stark et al. 2024 · our implementation: proj1/m2/simplex_fm.py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809625" y="1495425"/>
          <a:ext xmlns:a="http://schemas.openxmlformats.org/drawingml/2006/main" cx="10572750" cy="2933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838200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Stage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Implementation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Input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500 × 4 one-hot or relaxed base channels (A, C, G, T)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Stem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Conv1d 4 → 128, kernel 5, padding 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Body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 residual blocks: dilated Conv1d, GroupNorm(8), SiLU, 1×1 Conv1d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Dilations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1, 2, 4, 8 cycling across blocks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Time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Sinusoidal embedding + MLP, added within every block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Head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1×1 Conv1d 128 → 4, zero-initialized. About 1.02M parameters.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CF996-E38D-41C7-B23E-DFC12E69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720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Path and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C92AB-F037-4A39-99C2-48285D47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53025"/>
            <a:ext cx="509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Linear interpolation from Dirichlet(1,1,1,1) noise to one-hot sequences. Regress the pairwise target velocity with mean squared error.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397A0-DC21-4A4D-B1E7-2176D353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720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Completed 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7AD8C-0FCF-4CCA-9643-3D193C3D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53025"/>
            <a:ext cx="509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1,500 epochs, 492k updates, 539.7 minutes on RTX A6000. Validation selects epoch 1,450 (update 475,600, loss 0.0633644).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42C9A-2DE5-409E-9A64-AEE053F2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1027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GC is affine in relaxed base probabilities. CpG is quadratic. Their bands and clipping also differ, so curvature alone is not an established explanation.</a:t>
            </a:r>
          </a:p>
        </p:txBody>
      </p:sp>
    </p:spTree>
    <p:extLst>
      <p:ext uri="{BB962C8B-B14F-4D97-AF65-F5344CB8AC3E}">
        <p14:creationId xmlns:p14="http://schemas.microsoft.com/office/powerpoint/2010/main" val="186151496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AEC66-CFDD-4C49-A37E-1688838F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A6 · SIMPLEX FM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F7A1E-5360-4BC0-ABC7-59E937C5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DNA properties, targets and bands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DA25A-FCAA-4970-944C-C541F48E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5E5F3-F15A-4336-BE20-3CD8819F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E8588-D037-463C-907B-26FF2A4E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DNA protocol · paper v9 Appendix: Sequence Transfer and Failure Diagnostics · results/m2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8B725-F4C4-4D57-B368-CE3CC700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GC(p) = Σⱼ(pⱼ,C + pⱼ,G) / 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88274-69FC-4CB4-871F-05C8D203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669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CpG(p) = Σⱼ pⱼ,C pⱼ₊₁,G / (L − 1)       L = 500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8342E-A641-4AFD-9774-A4679377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24175"/>
            <a:ext cx="1057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soft score guides an extrapolated endpoint. The final score counts C/G bases or adjacent C–G pairs after argmax. The two scores need not agree.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809625" y="3819525"/>
          <a:ext xmlns:a="http://schemas.openxmlformats.org/drawingml/2006/main" cx="10572750" cy="14001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2190750"/>
                <a:gridCol w="2381250"/>
                <a:gridCol w="2190750"/>
                <a:gridCol w="20955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Property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q50 target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Calibration SD s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Half-width δ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δ / s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GC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0.454000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0.055206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0.008833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0.160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CpG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0.046092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0.014748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0.008818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0.598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97E2B-6CAE-4AEA-AC16-C002EE84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67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δ = max(0.16s, 4.4q), with count quantum q = 1/500 for GC and 1/499 for CpG. The quantum floor sets the wider relative CpG band.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FDCDE-647B-4C4A-A25B-157E1C8B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8172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Compare arms within each property. Composition and diversity metrics do not establish biological enhancer function.</a:t>
            </a:r>
          </a:p>
        </p:txBody>
      </p:sp>
    </p:spTree>
    <p:extLst>
      <p:ext uri="{BB962C8B-B14F-4D97-AF65-F5344CB8AC3E}">
        <p14:creationId xmlns:p14="http://schemas.microsoft.com/office/powerpoint/2010/main" val="21901017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91EAE-F57B-4A63-9673-8AD9B189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A7 · MOLECULAR DECODING 1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47B4B-E361-4F50-9777-A3761285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From atom cloud to molecule: types and bonds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B790E-0969-437C-8D60-EBDA6417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BE79F-C7A2-455D-89AD-6072D143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5DCD2-A09E-48AB-B407-21ACFA20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evaluation.py:73–95 · [2] Hoogeboom et al. 2022 (EDM bond-length tables, picometres)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100AE-BD58-4BED-8B45-657138DC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1. The generator outputs a point cloud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256C7-34C0-414A-BB9E-84F70853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14525"/>
            <a:ext cx="5095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Each real atom slot contains (x, y, z) and five continuous type numbers. There are no bonds yet. Intermediate states are noisy point clouds.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E22CC-41AF-43B2-8ED9-FA9E7D0C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335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2. Argmax decides the element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A4BEF-02FD-4379-9005-2678F3DF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14525"/>
            <a:ext cx="5095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H / C / N / O / F channels: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[0.02, 0.97, 0.01, 0.00, 0.03] becomes C.</a:t>
            </a:r>
          </a:p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Only real slots participate. Ignore padding.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6E87F-D466-4BB8-BCF6-E2AD7B5D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432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3. Infer bond orders from pairwise distances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1C4A8-60DF-4DC3-8E16-51C1E179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29025"/>
            <a:ext cx="10572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Convert Å to pm (×100). Compare each element pair with EDM’s single/double/triple reference lengths, using margins of 10/5/3 pm.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809625" y="4429125"/>
          <a:ext xmlns:a="http://schemas.openxmlformats.org/drawingml/2006/main" cx="10572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3143250"/>
                <a:gridCol w="42862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C–C example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Reference length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Threshold in this decoder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Single bond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154 pm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139 ≤ d &lt; 164 pm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Double bond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134 pm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123 ≤ d &lt; 139 pm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Triple bond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120 pm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 &lt; 123 pm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No bond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—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 ≥ 164 pm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49345-A164-47C1-9824-F959594F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1982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Geometric decoding uses strict upper thresholds. It does not calculate molecular energy.</a:t>
            </a:r>
          </a:p>
        </p:txBody>
      </p:sp>
    </p:spTree>
    <p:extLst>
      <p:ext uri="{BB962C8B-B14F-4D97-AF65-F5344CB8AC3E}">
        <p14:creationId xmlns:p14="http://schemas.microsoft.com/office/powerpoint/2010/main" val="37363121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65A26-57D3-49A6-BB5C-4FDAD38A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A7 · MOLECULAR DECODING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BAE4C-3143-466F-8D4A-E00B6546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Chemical validity and property scoring are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CCECF-514A-4E7F-A468-4B7AE618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A618B-C5A7-4F9F-9E24-FAE5BBF0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65561-F66B-4026-AC20-C30F283E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evaluation.py: atom stability, to_smiles and evaluate_molecules · [2] Hoogeboom et al. 2022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A8FE2-B4BB-4BB5-A737-50A65F9B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6210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4. Check atom and molecule stability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548E6-4C7E-4149-B69D-2921921B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43100"/>
            <a:ext cx="509587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Add bond orders at each atom. The implemented allowed valences are H:1, C:4, N:3, O:2, F:1. An atom is stable if its total matches. A molecule is stable only if every real atom passes.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EF612-A729-467F-9A56-B2747E1A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5. Build and sanitize with RDKit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5873C-1694-4AD0-AA87-8A1FC3DE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509587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Create atoms and inferred bonds, sanitize, then form canonical SMILES. Validity is the fraction that succeeds. Uniqueness counts distinct valid SMILES. DV divides that count by all attempts.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4B535-719E-4227-B7B1-A25A976A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195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6. Evaluate the decoded property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1131D-B968-4E70-AE79-270EDC06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00525"/>
            <a:ext cx="50958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f_B receives the final coordinates and argmax one-hot types. It predicts μ, α or gap. Check whether the value lies in y ± δ. The property network does not read the inferred bond graph.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C18DB-80BA-4B46-842D-DB39217B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95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6202C"/>
                </a:solidFill>
                <a:latin typeface="IBM Plex Sans"/>
                <a:ea typeface="IBM Plex Sans"/>
                <a:cs typeface="IBM Plex Sans"/>
              </a:rPr>
              <a:t>Why report multiple metrics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3C22B-4CBE-4576-B3C9-550AA666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00525"/>
            <a:ext cx="50958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The in-band calculation includes invalid molecules. Stability, validity and diversity therefore accompany coverage. Current aggregate results do not give the joint fraction that is both in-band and stable.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22862-5527-4AEB-9E72-DE117A58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1027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f_B is an independent learned proxy for physical properties. Its error remains part of the molecular result.</a:t>
            </a:r>
          </a:p>
        </p:txBody>
      </p:sp>
    </p:spTree>
    <p:extLst>
      <p:ext uri="{BB962C8B-B14F-4D97-AF65-F5344CB8AC3E}">
        <p14:creationId xmlns:p14="http://schemas.microsoft.com/office/powerpoint/2010/main" val="197345225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92FF22-0D21-4C03-9AC6-66BAD8ED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A8 · FULL MOLECULAR ABLATIONS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2C2AE-A39F-4BAD-AA37-742C8C47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Our FM: complete gain × setpoint coverage grid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49177-493F-4851-A03C-3B9CA5D3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97628-B236-4C03-87A4-E7098463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863B5-BC00-47BA-8397-7DB5E50F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306-cell fm ablation grid · all values decoded · paper v9 appendix tables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FDBC0-F5CE-4C58-8E2C-A8726206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668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ΔIB in percentage points versus η = 0 at the same w. Each cell: mean across 3 seeds × 2,000.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1384C-0561-4659-8125-803ED90A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05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μ  ·  w = 1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809625" y="2257425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-0.6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-1.5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+0.5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-1.2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-1.2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-2.1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+0.6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-0.8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-2.4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+1.3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-2.0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-3.0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DC18D-F2F1-4B80-9F3F-076D3E44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05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α  ·  w = 1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4429125" y="2257425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+0.4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-0.1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-0.4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+0.9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-0.4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-1.0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+1.4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+0.3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-1.4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98760-2757-4DE7-9ED6-FB569FE9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05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gap  ·  w = 1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8048625" y="2257425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+0.6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-0.5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-1.5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-1.4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-2.3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+1.5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-0.6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-2.1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-3.6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+2.2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-2.4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-4.5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CF06E-19DD-4D31-9C56-13056277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052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μ  ·  w = 4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809625" y="4457700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-0.5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-2.4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-3.7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-1.0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-2.9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-3.7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-5.3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+0.4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-2.5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-4.2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-5.5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-0.5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-2.7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-4.4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-6.4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79210-E39B-4F15-B193-71B00EB9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052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α  ·  w = 4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4429125" y="4457700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-0.5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-1.2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-1.4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-2.1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-0.1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-2.8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+0.5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-1.1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-2.0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-3.3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E45E1-B202-4EF3-A7C6-070A677D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052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gap  ·  w = 4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048625" y="4457700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+0.5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-1.0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-2.5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-3.2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+0.4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-2.2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-3.8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-6.0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+0.7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-2.6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-5.2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-8.0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+0.8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-2.1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-5.2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-9.1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992932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6A241E-A0AE-4C77-A157-0428383F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A8 · FULL MOLECULAR ABLATIONS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968B3-5F9C-440C-81A7-959E251C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EquiFM: complete gain × setpoint coverage grid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4FC89-C680-4E00-A2AE-6C41EC80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64769-BB82-45E6-AB8F-304AE818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850DD-599E-451A-B5E8-A4AF60F5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306-cell equifm ablation grid · all values decoded · paper v9 appendix tables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ED906-CF7B-4076-9CB3-94319DC7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668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ΔIB in percentage points versus η = 0 at the same w. Each cell: mean across 3 seeds × 2,000.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692C2-3DAA-4202-A114-3FEC96D1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05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μ  ·  w = 1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809625" y="2257425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+0.2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-0.4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+0.5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-2.0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-0.6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-2.0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-2.9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-2.4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-3.0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7ECA1-8A07-4A36-BDA4-458333C7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05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α  ·  w = 1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4429125" y="2257425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+0.3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-0.1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+0.3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-0.4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+0.5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-0.1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-0.5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2B9CC-C8F2-45E4-98F5-F2DB9C02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05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gap  ·  w = 1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8048625" y="2257425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+0.3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-0.2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-0.6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-0.8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+0.7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-0.2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-1.0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+0.8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+1.6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-2.1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F7D11-2861-462F-A87A-ECEFA3C6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052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μ  ·  w = 4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809625" y="4457700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-0.4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-1.5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-2.1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-2.8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-2.3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-3.4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-4.5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-2.2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-4.5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-5.5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-2.4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-5.0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-6.2</a:t>
                      </a:r>
                    </a:p>
                  </a:txBody>
                  <a:tcPr marL="85725" marR="85725" marT="38100" marB="38100" anchor="ctr">
                    <a:solidFill>
                      <a:srgbClr val="AA3D36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6AB83-573F-42F4-A77A-98276675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052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α  ·  w = 4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4429125" y="4457700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+0.0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-0.1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+0.1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-0.4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-1.1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+0.3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-0.8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-1.2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9F010-25B3-47EA-9864-B321F0C5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052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gap  ·  w = 4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048625" y="4457700"/>
          <a:ext xmlns:a="http://schemas.openxmlformats.org/drawingml/2006/main" cx="3333750" cy="1666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"/>
                <a:gridCol w="666750"/>
                <a:gridCol w="666750"/>
                <a:gridCol w="666750"/>
                <a:gridCol w="666750"/>
              </a:tblGrid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η∖τₘ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+0.3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-0.4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-1.3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+0.8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-0.6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-1.5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-2.4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+0.7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-1.9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-3.3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+1.3</a:t>
                      </a:r>
                    </a:p>
                  </a:txBody>
                  <a:tcPr marL="85725" marR="85725" marT="38100" marB="38100" anchor="ctr">
                    <a:solidFill>
                      <a:srgbClr val="E0ED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-0.7</a:t>
                      </a:r>
                    </a:p>
                  </a:txBody>
                  <a:tcPr marL="85725" marR="85725" marT="38100" marB="38100" anchor="ctr">
                    <a:solidFill>
                      <a:srgbClr val="F9ED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-2.5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-3.9</a:t>
                      </a:r>
                    </a:p>
                  </a:txBody>
                  <a:tcPr marL="85725" marR="85725" marT="38100" marB="38100" anchor="ctr">
                    <a:solidFill>
                      <a:srgbClr val="EDBFB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10727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951D9-594A-4E71-8A41-E9822CD1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A9 · FULL W = 1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C9AB6-4BCF-4517-8239-E5B0B0C4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DNA transfer at the lower strength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5B421-7DF7-4BF8-916F-8EE09A40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548D1-B37F-4755-B19D-598D65E4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52261-61DD-4963-81E7-DE4BB7E7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All four guidance adaptations on our DNA backbone · same evaluator and decoding as the w = 4 main 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C15B0-6309-44DF-9EC6-144877BD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04950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w = 1, t ≥ 0.5. Hamming and JSD shown for both properties.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09625" y="2028825"/>
          <a:ext xmlns:a="http://schemas.openxmlformats.org/drawingml/2006/main" cx="10572750" cy="3276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1409700"/>
                <a:gridCol w="1409700"/>
                <a:gridCol w="1657350"/>
                <a:gridCol w="2095500"/>
                <a:gridCol w="1524000"/>
              </a:tblGrid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Method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GC IB % ↑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CpG IB % ↑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JSD GC/CpG ↓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Hamming GC/CpG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s/seq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Unguided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14.0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50.2 ± 1.6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4.53 / 4.53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0.036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DPS-style plug-in [12]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14.0 ± 0.9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50.5 ± 1.8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4.53 / 4.53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0.074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TMPD-inspired [22]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14.0 ± 0.9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50.5 ± 1.8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4.53 / 4.53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0.120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LGD-MC [23]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14.0 ± 0.9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50.5 ± 1.8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4.53 / 4.53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0.102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TFG-MC [15]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14.1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50.4 ± 1.7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4.53 / 4.54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0.089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BDG, τₘ = 0.5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14.5 ± 1.0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55.3 ± 0.8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4.95 / 5.26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0.073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BDG, τₘ = 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14.0 ± 1.0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50.2 ± 1.6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4.53 / 4.53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0.061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D5D12-44E8-47D0-B5AC-EB2A9E4B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6735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GC and CpG IB agree exactly for plug-in, TMPD and LGD-MC at both w = 1 and 4 in these runs. Other decoded metrics differ by at most 4.22 × 10⁻⁶ (GC) and 3.40 × 10⁻⁶ (CpG) in unscaled units.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7688A-4C51-435F-9C48-F04AB05E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8172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IB: mean ± seed SD. JSD ×10⁻⁴. Hamming: first 256 sequences. Time: CpG cells.</a:t>
            </a:r>
          </a:p>
        </p:txBody>
      </p:sp>
    </p:spTree>
    <p:extLst>
      <p:ext uri="{BB962C8B-B14F-4D97-AF65-F5344CB8AC3E}">
        <p14:creationId xmlns:p14="http://schemas.microsoft.com/office/powerpoint/2010/main" val="130673266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5E52C-5A6C-4D36-812F-16C03252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A9 · NEW GC WINDOW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5E24E-590F-4CAF-95DB-BFCDBE99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Why the DNA guidance window changed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083F3-E8AB-4EEA-8A24-45DEC96A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B28B8-6E45-4B33-B295-DCE30F50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BB05E-899B-4DA7-BBAC-93F8E317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cfc5d64 / f568f68, 28 Sep 22:47 · results/m2/m2win/n2000 · earlier window diagnosed before follow-up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F7B70-DFB1-409D-BE5C-2FB82AD2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049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GC, w = 4. Original t ≥ 0.5 versus new t ≥ 0.3; 3 seeds × 2,000 per setting.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09625" y="2047875"/>
          <a:ext xmlns:a="http://schemas.openxmlformats.org/drawingml/2006/main" cx="10572750" cy="3000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1619250"/>
                <a:gridCol w="1619250"/>
                <a:gridCol w="1762125"/>
                <a:gridCol w="1619250"/>
                <a:gridCol w="1571625"/>
              </a:tblGrid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Method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IB % at t ≥ .5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IB % at t ≥ .3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JSD ×10⁻⁴ (.3)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Hamming (.3)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Clip % (.3)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plug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14.1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30.3 ± 2.0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3.64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tmpd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14.1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29.2 ± 2.1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3.66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lgd_mc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14.1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30.0 ± 1.3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3.61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15.1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tfg_mc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14.1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29.8 ± 1.8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3.57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0.7455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15.2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 τₘ = 0.5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16.4 ± 1.2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37.3 ± 6.5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4.24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20.8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 η = 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14.1 ± 1.0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30.3 ± 2.0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3.63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14.9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87DCC-1EAF-4E0C-95A9-9C83CAF5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86375"/>
            <a:ext cx="1057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At t ≥ 0.3, all four baseline means differ. BDG gains +7.08 ± 4.53 pp (paired seed SD). η = 0 matches IB; continuous rerun checks use 10⁻⁵ tolerance.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8AB94-77B6-4F9A-A1BF-0AC1C43C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245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Only GC received this three-seed follow-up. Four t ≥ 0.2 probes have one seed; no CpG ≥0.3 or GC τₘ = 1 cell is inferred.</a:t>
            </a:r>
          </a:p>
        </p:txBody>
      </p:sp>
    </p:spTree>
    <p:extLst>
      <p:ext uri="{BB962C8B-B14F-4D97-AF65-F5344CB8AC3E}">
        <p14:creationId xmlns:p14="http://schemas.microsoft.com/office/powerpoint/2010/main" val="118170278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94D89-2756-4091-9B89-17FAD1A0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1">
                <a:solidFill>
                  <a:srgbClr val="215FA9"/>
                </a:solidFill>
                <a:latin typeface="IBM Plex Sans"/>
                <a:ea typeface="IBM Plex Sans"/>
                <a:cs typeface="IBM Plex Sans"/>
              </a:rPr>
              <a:t>APPENDIX A9 · RETAINED ORIGINAL W = 4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088D8-EA9A-4F47-A7B8-3EBDFA9C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286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75" b="1">
                <a:solidFill>
                  <a:srgbClr val="16202C"/>
                </a:solidFill>
                <a:latin typeface="Source Serif 4"/>
                <a:ea typeface="Source Serif 4"/>
                <a:cs typeface="Source Serif 4"/>
              </a:rPr>
              <a:t>DNA: original matched-window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B3156-8796-49B2-A9DC-D6F81D2E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3375"/>
            <a:ext cx="11144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95B7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A9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A467E-109C-4147-97A5-4F08C366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309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900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CIS 6270 · Group 2 · Appendix 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4038D-F967-4A07-A6A0-6A356C5D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defRPr>
            </a:pPr>
            <a:r>
              <a:rPr sz="788" b="0">
                <a:solidFill>
                  <a:srgbClr val="5F6A77"/>
                </a:solidFill>
                <a:latin typeface="IBM Plex Sans"/>
                <a:ea typeface="IBM Plex Sans"/>
                <a:cs typeface="IBM Plex Sans"/>
              </a:rPr>
              <a:t>Original m2 cells · both GC and CpG use t ≥ 0.5; separate from m2win follow-up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A38BB-5AFF-4D7A-92D6-474F84C9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85900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3A4553"/>
                </a:solidFill>
                <a:latin typeface="IBM Plex Sans"/>
                <a:ea typeface="IBM Plex Sans"/>
                <a:cs typeface="IBM Plex Sans"/>
              </a:rPr>
              <a:t>w = 4, both properties t ≥ 0.5. Compare with the window-specific main table.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809625" y="2000250"/>
          <a:ext xmlns:a="http://schemas.openxmlformats.org/drawingml/2006/main" cx="10572750" cy="3276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1409700"/>
                <a:gridCol w="1409700"/>
                <a:gridCol w="1657350"/>
                <a:gridCol w="2095500"/>
                <a:gridCol w="1524000"/>
              </a:tblGrid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Method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GC IB % ↑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CpG IB % ↑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JSD GC/CpG ↓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Hamming GC/CpG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6202C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s/seq</a:t>
                      </a:r>
                    </a:p>
                  </a:txBody>
                  <a:tcPr marL="85725" marR="85725" marT="38100" marB="38100" anchor="ctr">
                    <a:solidFill>
                      <a:srgbClr val="EBE9E1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Unguided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14.0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50.2 ± 1.6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4.53 / 4.53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0.049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DPS-style plug-in [12]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14.1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51.6 ± 1.4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4.61 / 4.63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0.096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TMPD-inspired [22]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14.1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51.6 ± 1.4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4.61 / 4.63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0.124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LGD-MC [23]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14.1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51.6 ± 1.4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4.61 / 4.63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0.102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TFG-MC [15]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14.1 ± 1.0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51.1 ± 1.7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4.59 / 4.58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0.084</a:t>
                      </a:r>
                    </a:p>
                  </a:txBody>
                  <a:tcPr marL="85725" marR="85725" marT="38100" marB="38100" anchor="ctr">
                    <a:solidFill>
                      <a:srgbClr val="F7F6F2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BDG, τₘ = 0.5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16.4 ± 1.2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68.5 ± 1.2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5.93 / 7.73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0.7457 / 0.7457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0.076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BDG, τₘ = 1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14.1 ± 1.0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50.3 ± 1.5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4.54 / 4.52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0.7456 / 0.7456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3A455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0.076</a:t>
                      </a:r>
                    </a:p>
                  </a:txBody>
                  <a:tcPr marL="85725" marR="85725" marT="38100" marB="38100" anchor="ctr">
                    <a:solidFill>
                      <a:srgbClr val="F0EBF9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70E11-69BE-4A81-B3B1-EE52C2FD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5D3CA6"/>
                </a:solidFill>
                <a:latin typeface="IBM Plex Sans"/>
                <a:ea typeface="IBM Plex Sans"/>
                <a:cs typeface="IBM Plex Sans"/>
              </a:rPr>
              <a:t>Plug-in / TMPD / LGD-MC coincide numerically here, on both properties. TFG-MC differs. Earlier GC guidance removes this overlap.</a:t>
            </a:r>
          </a:p>
        </p:txBody>
      </p:sp>
    </p:spTree>
    <p:extLst>
      <p:ext uri="{BB962C8B-B14F-4D97-AF65-F5344CB8AC3E}">
        <p14:creationId xmlns:p14="http://schemas.microsoft.com/office/powerpoint/2010/main" val="24355330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2026-09-29T22:47:01.4060000Z</dcterms:created>
  <dcterms:modified xsi:type="dcterms:W3CDTF">2026-09-29T22:47:01.4060000Z</dcterms:modified>
</coreProperties>
</file>